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1047750" y="952500"/>
            <a:ext cx="10063906" cy="315191"/>
          </a:xfrm>
          <a:prstGeom prst="rect">
            <a:avLst/>
          </a:prstGeom>
          <a:noFill/>
          <a:ln/>
        </p:spPr>
        <p:txBody>
          <a:bodyPr wrap="square" lIns="25400" tIns="25400" rIns="25400" bIns="25400" rtlCol="0" anchor="t">
            <a:normAutofit/>
          </a:bodyPr>
          <a:lstStyle/>
          <a:p>
            <a:pPr algn="l" indent="0" marL="0">
              <a:buNone/>
            </a:pPr>
            <a:r>
              <a:rPr lang="en-US" sz="1650" spc="231" kern="0" dirty="0">
                <a:solidFill>
                  <a:srgbClr val="892218"/>
                </a:solidFill>
                <a:latin typeface="JetBrains Mono" pitchFamily="34" charset="0"/>
                <a:ea typeface="JetBrains Mono" pitchFamily="34" charset="-122"/>
                <a:cs typeface="JetBrains Mono" pitchFamily="34" charset="-120"/>
              </a:rPr>
              <a:t>PARLIAMENT · ONTARIO MUNICIPAL ELECTIONS · OCTOBER 26, 2026</a:t>
            </a:r>
            <a:endParaRPr lang="en-US" sz="1650" dirty="0"/>
          </a:p>
        </p:txBody>
      </p:sp>
      <p:sp>
        <p:nvSpPr>
          <p:cNvPr id="3" name="Text 1"/>
          <p:cNvSpPr/>
          <p:nvPr/>
        </p:nvSpPr>
        <p:spPr>
          <a:xfrm>
            <a:off x="1047750" y="1420091"/>
            <a:ext cx="9423476" cy="1330334"/>
          </a:xfrm>
          <a:prstGeom prst="rect">
            <a:avLst/>
          </a:prstGeom>
          <a:noFill/>
          <a:ln/>
        </p:spPr>
        <p:txBody>
          <a:bodyPr wrap="square" lIns="25400" tIns="25400" rIns="25400" bIns="25400" rtlCol="0" anchor="t">
            <a:normAutofit/>
          </a:bodyPr>
          <a:lstStyle/>
          <a:p>
            <a:pPr algn="l" indent="0" marL="0">
              <a:lnSpc>
                <a:spcPct val="93280"/>
              </a:lnSpc>
              <a:buNone/>
            </a:pPr>
            <a:r>
              <a:rPr lang="en-US" sz="4800" spc="-72" kern="0" dirty="0">
                <a:solidFill>
                  <a:srgbClr val="1A1714"/>
                </a:solidFill>
                <a:latin typeface="Georgia" pitchFamily="34" charset="0"/>
                <a:ea typeface="Georgia" pitchFamily="34" charset="-122"/>
                <a:cs typeface="Georgia" pitchFamily="34" charset="-120"/>
              </a:rPr>
              <a:t>How your profile appears to voters</a:t>
            </a:r>
            <a:endParaRPr lang="en-US" sz="4800" dirty="0"/>
          </a:p>
        </p:txBody>
      </p:sp>
      <p:sp>
        <p:nvSpPr>
          <p:cNvPr id="4" name="Text 2"/>
          <p:cNvSpPr/>
          <p:nvPr/>
        </p:nvSpPr>
        <p:spPr>
          <a:xfrm>
            <a:off x="1047750" y="2940911"/>
            <a:ext cx="4456714" cy="2038147"/>
          </a:xfrm>
          <a:prstGeom prst="rect">
            <a:avLst/>
          </a:prstGeom>
          <a:noFill/>
          <a:ln/>
        </p:spPr>
        <p:txBody>
          <a:bodyPr wrap="square" lIns="25400" tIns="25400" rIns="25400" bIns="25400" rtlCol="0" anchor="t">
            <a:normAutofit/>
          </a:bodyPr>
          <a:lstStyle/>
          <a:p>
            <a:pPr algn="l" indent="0" marL="0">
              <a:lnSpc>
                <a:spcPct val="118462"/>
              </a:lnSpc>
              <a:buNone/>
            </a:pPr>
            <a:r>
              <a:rPr lang="en-US" sz="2100" dirty="0">
                <a:solidFill>
                  <a:srgbClr val="4D4640"/>
                </a:solidFill>
                <a:latin typeface="Be Vietnam Pro" pitchFamily="34" charset="0"/>
                <a:ea typeface="Be Vietnam Pro" pitchFamily="34" charset="-122"/>
                <a:cs typeface="Be Vietnam Pro" pitchFamily="34" charset="-120"/>
              </a:rPr>
              <a:t>A voter enters their postal code, finds their ward, and swipes through the candidates on their ballot — one at a time, full screen.</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1047750" y="952500"/>
            <a:ext cx="6264920" cy="315191"/>
          </a:xfrm>
          <a:prstGeom prst="rect">
            <a:avLst/>
          </a:prstGeom>
          <a:noFill/>
          <a:ln/>
        </p:spPr>
        <p:txBody>
          <a:bodyPr wrap="square" lIns="25400" tIns="25400" rIns="25400" bIns="25400" rtlCol="0" anchor="t">
            <a:normAutofit/>
          </a:bodyPr>
          <a:lstStyle/>
          <a:p>
            <a:pPr algn="l" indent="0" marL="0">
              <a:buNone/>
            </a:pPr>
            <a:r>
              <a:rPr lang="en-US" sz="1650" spc="231" kern="0" dirty="0">
                <a:solidFill>
                  <a:srgbClr val="892218"/>
                </a:solidFill>
                <a:latin typeface="JetBrains Mono" pitchFamily="34" charset="0"/>
                <a:ea typeface="JetBrains Mono" pitchFamily="34" charset="-122"/>
                <a:cs typeface="JetBrains Mono" pitchFamily="34" charset="-120"/>
              </a:rPr>
              <a:t>WHAT YOU SUBMIT</a:t>
            </a:r>
            <a:endParaRPr lang="en-US" sz="1650" dirty="0"/>
          </a:p>
        </p:txBody>
      </p:sp>
      <p:sp>
        <p:nvSpPr>
          <p:cNvPr id="3" name="Text 1"/>
          <p:cNvSpPr/>
          <p:nvPr/>
        </p:nvSpPr>
        <p:spPr>
          <a:xfrm>
            <a:off x="1047750" y="1420091"/>
            <a:ext cx="6264920" cy="563125"/>
          </a:xfrm>
          <a:prstGeom prst="rect">
            <a:avLst/>
          </a:prstGeom>
          <a:noFill/>
          <a:ln/>
        </p:spPr>
        <p:txBody>
          <a:bodyPr wrap="square" lIns="25400" tIns="25400" rIns="25400" bIns="25400" rtlCol="0" anchor="t">
            <a:normAutofit/>
          </a:bodyPr>
          <a:lstStyle/>
          <a:p>
            <a:pPr algn="l" indent="0" marL="0">
              <a:lnSpc>
                <a:spcPct val="93280"/>
              </a:lnSpc>
              <a:buNone/>
            </a:pPr>
            <a:r>
              <a:rPr lang="en-US" sz="3900" spc="-58" kern="0" dirty="0">
                <a:solidFill>
                  <a:srgbClr val="1A1714"/>
                </a:solidFill>
                <a:latin typeface="Georgia" pitchFamily="34" charset="0"/>
                <a:ea typeface="Georgia" pitchFamily="34" charset="-122"/>
                <a:cs typeface="Georgia" pitchFamily="34" charset="-120"/>
              </a:rPr>
              <a:t>Three things. Nothing else.</a:t>
            </a:r>
            <a:endParaRPr lang="en-US" sz="3900" dirty="0"/>
          </a:p>
        </p:txBody>
      </p:sp>
      <p:sp>
        <p:nvSpPr>
          <p:cNvPr id="4" name="Text 2"/>
          <p:cNvSpPr/>
          <p:nvPr/>
        </p:nvSpPr>
        <p:spPr>
          <a:xfrm>
            <a:off x="1047750" y="3238500"/>
            <a:ext cx="4191000" cy="289214"/>
          </a:xfrm>
          <a:prstGeom prst="rect">
            <a:avLst/>
          </a:prstGeom>
          <a:noFill/>
          <a:ln/>
        </p:spPr>
        <p:txBody>
          <a:bodyPr wrap="square" lIns="25400" tIns="25400" rIns="25400" bIns="25400" rtlCol="0" anchor="t">
            <a:normAutofit/>
          </a:bodyPr>
          <a:lstStyle/>
          <a:p>
            <a:pPr algn="l" indent="0" marL="0">
              <a:buNone/>
            </a:pPr>
            <a:r>
              <a:rPr lang="en-US" sz="1500" spc="180" kern="0" dirty="0">
                <a:solidFill>
                  <a:srgbClr val="7A716A"/>
                </a:solidFill>
                <a:latin typeface="JetBrains Mono" pitchFamily="34" charset="0"/>
                <a:ea typeface="JetBrains Mono" pitchFamily="34" charset="-122"/>
                <a:cs typeface="JetBrains Mono" pitchFamily="34" charset="-120"/>
              </a:rPr>
              <a:t>01</a:t>
            </a:r>
            <a:endParaRPr lang="en-US" sz="1500" dirty="0"/>
          </a:p>
        </p:txBody>
      </p:sp>
      <p:sp>
        <p:nvSpPr>
          <p:cNvPr id="5" name="Text 3"/>
          <p:cNvSpPr/>
          <p:nvPr/>
        </p:nvSpPr>
        <p:spPr>
          <a:xfrm>
            <a:off x="1047750" y="3622950"/>
            <a:ext cx="4191000" cy="410509"/>
          </a:xfrm>
          <a:prstGeom prst="rect">
            <a:avLst/>
          </a:prstGeom>
          <a:noFill/>
          <a:ln/>
        </p:spPr>
        <p:txBody>
          <a:bodyPr wrap="square" lIns="25400" tIns="25400" rIns="25400" bIns="25400" rtlCol="0" anchor="t">
            <a:normAutofit/>
          </a:bodyPr>
          <a:lstStyle/>
          <a:p>
            <a:pPr algn="l" indent="0" marL="0">
              <a:lnSpc>
                <a:spcPct val="101200"/>
              </a:lnSpc>
              <a:buNone/>
            </a:pPr>
            <a:r>
              <a:rPr lang="en-US" sz="2550" spc="-31" kern="0" dirty="0">
                <a:solidFill>
                  <a:srgbClr val="1A1714"/>
                </a:solidFill>
                <a:latin typeface="Georgia" pitchFamily="34" charset="0"/>
                <a:ea typeface="Georgia" pitchFamily="34" charset="-122"/>
                <a:cs typeface="Georgia" pitchFamily="34" charset="-120"/>
              </a:rPr>
              <a:t>Your name</a:t>
            </a:r>
            <a:endParaRPr lang="en-US" sz="2550" dirty="0"/>
          </a:p>
        </p:txBody>
      </p:sp>
      <p:sp>
        <p:nvSpPr>
          <p:cNvPr id="6" name="Text 4"/>
          <p:cNvSpPr/>
          <p:nvPr/>
        </p:nvSpPr>
        <p:spPr>
          <a:xfrm>
            <a:off x="1047750" y="4109618"/>
            <a:ext cx="3924300" cy="609600"/>
          </a:xfrm>
          <a:prstGeom prst="rect">
            <a:avLst/>
          </a:prstGeom>
          <a:noFill/>
          <a:ln/>
        </p:spPr>
        <p:txBody>
          <a:bodyPr wrap="square" lIns="25400" tIns="25400" rIns="25400" bIns="25400" rtlCol="0" anchor="t">
            <a:normAutofit/>
          </a:bodyPr>
          <a:lstStyle/>
          <a:p>
            <a:pPr algn="l" indent="0" marL="0">
              <a:lnSpc>
                <a:spcPct val="117857"/>
              </a:lnSpc>
              <a:buNone/>
            </a:pPr>
            <a:r>
              <a:rPr lang="en-US" sz="1500" dirty="0">
                <a:solidFill>
                  <a:srgbClr val="4D4640"/>
                </a:solidFill>
                <a:latin typeface="Be Vietnam Pro" pitchFamily="34" charset="0"/>
                <a:ea typeface="Be Vietnam Pro" pitchFamily="34" charset="-122"/>
                <a:cs typeface="Be Vietnam Pro" pitchFamily="34" charset="-120"/>
              </a:rPr>
              <a:t>As it appears on the ballot — taken from your municipality's official candidate list.</a:t>
            </a:r>
            <a:endParaRPr lang="en-US" sz="1500" dirty="0"/>
          </a:p>
        </p:txBody>
      </p:sp>
      <p:sp>
        <p:nvSpPr>
          <p:cNvPr id="7" name="Text 5"/>
          <p:cNvSpPr/>
          <p:nvPr/>
        </p:nvSpPr>
        <p:spPr>
          <a:xfrm>
            <a:off x="5391096" y="3238500"/>
            <a:ext cx="4191000" cy="289214"/>
          </a:xfrm>
          <a:prstGeom prst="rect">
            <a:avLst/>
          </a:prstGeom>
          <a:noFill/>
          <a:ln/>
        </p:spPr>
        <p:txBody>
          <a:bodyPr wrap="square" lIns="25400" tIns="25400" rIns="25400" bIns="25400" rtlCol="0" anchor="t">
            <a:normAutofit/>
          </a:bodyPr>
          <a:lstStyle/>
          <a:p>
            <a:pPr algn="l" indent="0" marL="0">
              <a:buNone/>
            </a:pPr>
            <a:r>
              <a:rPr lang="en-US" sz="1500" spc="180" kern="0" dirty="0">
                <a:solidFill>
                  <a:srgbClr val="7A716A"/>
                </a:solidFill>
                <a:latin typeface="JetBrains Mono" pitchFamily="34" charset="0"/>
                <a:ea typeface="JetBrains Mono" pitchFamily="34" charset="-122"/>
                <a:cs typeface="JetBrains Mono" pitchFamily="34" charset="-120"/>
              </a:rPr>
              <a:t>02</a:t>
            </a:r>
            <a:endParaRPr lang="en-US" sz="1500" dirty="0"/>
          </a:p>
        </p:txBody>
      </p:sp>
      <p:sp>
        <p:nvSpPr>
          <p:cNvPr id="8" name="Text 6"/>
          <p:cNvSpPr/>
          <p:nvPr/>
        </p:nvSpPr>
        <p:spPr>
          <a:xfrm>
            <a:off x="5391096" y="3622950"/>
            <a:ext cx="4191000" cy="410509"/>
          </a:xfrm>
          <a:prstGeom prst="rect">
            <a:avLst/>
          </a:prstGeom>
          <a:noFill/>
          <a:ln/>
        </p:spPr>
        <p:txBody>
          <a:bodyPr wrap="square" lIns="25400" tIns="25400" rIns="25400" bIns="25400" rtlCol="0" anchor="t">
            <a:normAutofit/>
          </a:bodyPr>
          <a:lstStyle/>
          <a:p>
            <a:pPr algn="l" indent="0" marL="0">
              <a:lnSpc>
                <a:spcPct val="101200"/>
              </a:lnSpc>
              <a:buNone/>
            </a:pPr>
            <a:r>
              <a:rPr lang="en-US" sz="2550" spc="-31" kern="0" dirty="0">
                <a:solidFill>
                  <a:srgbClr val="1A1714"/>
                </a:solidFill>
                <a:latin typeface="Georgia" pitchFamily="34" charset="0"/>
                <a:ea typeface="Georgia" pitchFamily="34" charset="-122"/>
                <a:cs typeface="Georgia" pitchFamily="34" charset="-120"/>
              </a:rPr>
              <a:t>A link to your website</a:t>
            </a:r>
            <a:endParaRPr lang="en-US" sz="2550" dirty="0"/>
          </a:p>
        </p:txBody>
      </p:sp>
      <p:sp>
        <p:nvSpPr>
          <p:cNvPr id="9" name="Text 7"/>
          <p:cNvSpPr/>
          <p:nvPr/>
        </p:nvSpPr>
        <p:spPr>
          <a:xfrm>
            <a:off x="5391096" y="4109618"/>
            <a:ext cx="3924300" cy="609600"/>
          </a:xfrm>
          <a:prstGeom prst="rect">
            <a:avLst/>
          </a:prstGeom>
          <a:noFill/>
          <a:ln/>
        </p:spPr>
        <p:txBody>
          <a:bodyPr wrap="square" lIns="25400" tIns="25400" rIns="25400" bIns="25400" rtlCol="0" anchor="t">
            <a:normAutofit/>
          </a:bodyPr>
          <a:lstStyle/>
          <a:p>
            <a:pPr algn="l" indent="0" marL="0">
              <a:lnSpc>
                <a:spcPct val="117857"/>
              </a:lnSpc>
              <a:buNone/>
            </a:pPr>
            <a:r>
              <a:rPr lang="en-US" sz="1500" dirty="0">
                <a:solidFill>
                  <a:srgbClr val="4D4640"/>
                </a:solidFill>
                <a:latin typeface="Be Vietnam Pro" pitchFamily="34" charset="0"/>
                <a:ea typeface="Be Vietnam Pro" pitchFamily="34" charset="-122"/>
                <a:cs typeface="Be Vietnam Pro" pitchFamily="34" charset="-120"/>
              </a:rPr>
              <a:t>One link. Voters tap it to read your platform in your own words.</a:t>
            </a:r>
            <a:endParaRPr lang="en-US" sz="1500" dirty="0"/>
          </a:p>
        </p:txBody>
      </p:sp>
      <p:sp>
        <p:nvSpPr>
          <p:cNvPr id="10" name="Text 8"/>
          <p:cNvSpPr/>
          <p:nvPr/>
        </p:nvSpPr>
        <p:spPr>
          <a:xfrm>
            <a:off x="9734441" y="3238500"/>
            <a:ext cx="4191000" cy="289214"/>
          </a:xfrm>
          <a:prstGeom prst="rect">
            <a:avLst/>
          </a:prstGeom>
          <a:noFill/>
          <a:ln/>
        </p:spPr>
        <p:txBody>
          <a:bodyPr wrap="square" lIns="25400" tIns="25400" rIns="25400" bIns="25400" rtlCol="0" anchor="t">
            <a:normAutofit/>
          </a:bodyPr>
          <a:lstStyle/>
          <a:p>
            <a:pPr algn="l" indent="0" marL="0">
              <a:buNone/>
            </a:pPr>
            <a:r>
              <a:rPr lang="en-US" sz="1500" spc="180" kern="0" dirty="0">
                <a:solidFill>
                  <a:srgbClr val="7A716A"/>
                </a:solidFill>
                <a:latin typeface="JetBrains Mono" pitchFamily="34" charset="0"/>
                <a:ea typeface="JetBrains Mono" pitchFamily="34" charset="-122"/>
                <a:cs typeface="JetBrains Mono" pitchFamily="34" charset="-120"/>
              </a:rPr>
              <a:t>03</a:t>
            </a:r>
            <a:endParaRPr lang="en-US" sz="1500" dirty="0"/>
          </a:p>
        </p:txBody>
      </p:sp>
      <p:sp>
        <p:nvSpPr>
          <p:cNvPr id="11" name="Text 9"/>
          <p:cNvSpPr/>
          <p:nvPr/>
        </p:nvSpPr>
        <p:spPr>
          <a:xfrm>
            <a:off x="9734441" y="3622950"/>
            <a:ext cx="3924300" cy="782917"/>
          </a:xfrm>
          <a:prstGeom prst="rect">
            <a:avLst/>
          </a:prstGeom>
          <a:noFill/>
          <a:ln/>
        </p:spPr>
        <p:txBody>
          <a:bodyPr wrap="square" lIns="25400" tIns="25400" rIns="25400" bIns="25400" rtlCol="0" anchor="t">
            <a:normAutofit/>
          </a:bodyPr>
          <a:lstStyle/>
          <a:p>
            <a:pPr algn="l" indent="0" marL="0">
              <a:lnSpc>
                <a:spcPct val="101200"/>
              </a:lnSpc>
              <a:buNone/>
            </a:pPr>
            <a:r>
              <a:rPr lang="en-US" sz="2550" spc="-31" kern="0" dirty="0">
                <a:solidFill>
                  <a:srgbClr val="1A1714"/>
                </a:solidFill>
                <a:latin typeface="Georgia" pitchFamily="34" charset="0"/>
                <a:ea typeface="Georgia" pitchFamily="34" charset="-122"/>
                <a:cs typeface="Georgia" pitchFamily="34" charset="-120"/>
              </a:rPr>
              <a:t>A pitch video, up to 60 seconds</a:t>
            </a:r>
            <a:endParaRPr lang="en-US" sz="2550" dirty="0"/>
          </a:p>
        </p:txBody>
      </p:sp>
      <p:sp>
        <p:nvSpPr>
          <p:cNvPr id="12" name="Text 10"/>
          <p:cNvSpPr/>
          <p:nvPr/>
        </p:nvSpPr>
        <p:spPr>
          <a:xfrm>
            <a:off x="9734441" y="4482026"/>
            <a:ext cx="3924300" cy="895350"/>
          </a:xfrm>
          <a:prstGeom prst="rect">
            <a:avLst/>
          </a:prstGeom>
          <a:noFill/>
          <a:ln/>
        </p:spPr>
        <p:txBody>
          <a:bodyPr wrap="square" lIns="25400" tIns="25400" rIns="25400" bIns="25400" rtlCol="0" anchor="t">
            <a:normAutofit/>
          </a:bodyPr>
          <a:lstStyle/>
          <a:p>
            <a:pPr algn="l" indent="0" marL="0">
              <a:lnSpc>
                <a:spcPct val="117857"/>
              </a:lnSpc>
              <a:buNone/>
            </a:pPr>
            <a:r>
              <a:rPr lang="en-US" sz="1500" dirty="0">
                <a:solidFill>
                  <a:srgbClr val="4D4640"/>
                </a:solidFill>
                <a:latin typeface="Be Vietnam Pro" pitchFamily="34" charset="0"/>
                <a:ea typeface="Be Vietnam Pro" pitchFamily="34" charset="-122"/>
                <a:cs typeface="Be Vietnam Pro" pitchFamily="34" charset="-120"/>
              </a:rPr>
              <a:t>Self-recorded, filmed however you like. No party logos, photos, or bios are shown — just you.</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1047750" y="952500"/>
            <a:ext cx="2729210" cy="315191"/>
          </a:xfrm>
          <a:prstGeom prst="rect">
            <a:avLst/>
          </a:prstGeom>
          <a:noFill/>
          <a:ln/>
        </p:spPr>
        <p:txBody>
          <a:bodyPr wrap="square" lIns="25400" tIns="25400" rIns="25400" bIns="25400" rtlCol="0" anchor="t">
            <a:normAutofit/>
          </a:bodyPr>
          <a:lstStyle/>
          <a:p>
            <a:pPr algn="l" indent="0" marL="0">
              <a:buNone/>
            </a:pPr>
            <a:r>
              <a:rPr lang="en-US" sz="1650" spc="231" kern="0" dirty="0">
                <a:solidFill>
                  <a:srgbClr val="7A716A"/>
                </a:solidFill>
                <a:latin typeface="JetBrains Mono" pitchFamily="34" charset="0"/>
                <a:ea typeface="JetBrains Mono" pitchFamily="34" charset="-122"/>
                <a:cs typeface="JetBrains Mono" pitchFamily="34" charset="-120"/>
              </a:rPr>
              <a:t>01 · ENTRY POINT</a:t>
            </a:r>
            <a:endParaRPr lang="en-US" sz="1650" dirty="0"/>
          </a:p>
        </p:txBody>
      </p:sp>
      <p:sp>
        <p:nvSpPr>
          <p:cNvPr id="3" name="Text 1"/>
          <p:cNvSpPr/>
          <p:nvPr/>
        </p:nvSpPr>
        <p:spPr>
          <a:xfrm>
            <a:off x="1047750" y="1619250"/>
            <a:ext cx="5494020" cy="960023"/>
          </a:xfrm>
          <a:prstGeom prst="rect">
            <a:avLst/>
          </a:prstGeom>
          <a:noFill/>
          <a:ln/>
        </p:spPr>
        <p:txBody>
          <a:bodyPr wrap="square" lIns="25400" tIns="25400" rIns="25400" bIns="25400" rtlCol="0" anchor="t">
            <a:normAutofit/>
          </a:bodyPr>
          <a:lstStyle/>
          <a:p>
            <a:pPr algn="l" indent="0" marL="0">
              <a:lnSpc>
                <a:spcPct val="96800"/>
              </a:lnSpc>
              <a:buNone/>
            </a:pPr>
            <a:r>
              <a:rPr lang="en-US" sz="3300" spc="-49" kern="0" dirty="0">
                <a:solidFill>
                  <a:srgbClr val="1A1714"/>
                </a:solidFill>
                <a:latin typeface="Georgia" pitchFamily="34" charset="0"/>
                <a:ea typeface="Georgia" pitchFamily="34" charset="-122"/>
                <a:cs typeface="Georgia" pitchFamily="34" charset="-120"/>
              </a:rPr>
              <a:t>Voters find you where they already look</a:t>
            </a:r>
            <a:endParaRPr lang="en-US" sz="3300" dirty="0"/>
          </a:p>
        </p:txBody>
      </p:sp>
      <p:sp>
        <p:nvSpPr>
          <p:cNvPr id="4" name="Text 2"/>
          <p:cNvSpPr/>
          <p:nvPr/>
        </p:nvSpPr>
        <p:spPr>
          <a:xfrm>
            <a:off x="1047750" y="3810000"/>
            <a:ext cx="5101590" cy="1691445"/>
          </a:xfrm>
          <a:prstGeom prst="rect">
            <a:avLst/>
          </a:prstGeom>
          <a:noFill/>
          <a:ln/>
        </p:spPr>
        <p:txBody>
          <a:bodyPr wrap="square" lIns="25400" tIns="25400" rIns="25400" bIns="25400" rtlCol="0" anchor="t">
            <a:normAutofit/>
          </a:bodyPr>
          <a:lstStyle/>
          <a:p>
            <a:pPr algn="l" indent="0" marL="0">
              <a:lnSpc>
                <a:spcPct val="122410"/>
              </a:lnSpc>
              <a:buNone/>
            </a:pPr>
            <a:r>
              <a:rPr lang="en-US" sz="2100" dirty="0">
                <a:solidFill>
                  <a:srgbClr val="4D4640"/>
                </a:solidFill>
                <a:latin typeface="Be Vietnam Pro" pitchFamily="34" charset="0"/>
                <a:ea typeface="Be Vietnam Pro" pitchFamily="34" charset="-122"/>
                <a:cs typeface="Be Vietnam Pro" pitchFamily="34" charset="-120"/>
              </a:rPr>
              <a:t>The candidate stack hangs off the existing postal-code lookup, kept clearly separate from the officials currently holding the seat.</a:t>
            </a:r>
            <a:endParaRPr lang="en-US" sz="2100" dirty="0"/>
          </a:p>
        </p:txBody>
      </p:sp>
      <p:sp>
        <p:nvSpPr>
          <p:cNvPr id="5" name="Shape 3"/>
          <p:cNvSpPr/>
          <p:nvPr/>
        </p:nvSpPr>
        <p:spPr>
          <a:xfrm>
            <a:off x="11430000" y="1238250"/>
            <a:ext cx="3714750" cy="7810500"/>
          </a:xfrm>
          <a:prstGeom prst="roundRect">
            <a:avLst>
              <a:gd name="adj" fmla="val 11282"/>
            </a:avLst>
          </a:prstGeom>
          <a:solidFill>
            <a:srgbClr val="FBF7EE"/>
          </a:solidFill>
          <a:ln/>
          <a:effectLst>
            <a:outerShdw sx="100000" sy="100000" kx="0" ky="0" algn="bl" rotWithShape="0" blurRad="171450" dist="38100" dir="5400000">
              <a:srgbClr val="1A1714">
                <a:alpha val="8000"/>
              </a:srgbClr>
            </a:outerShdw>
          </a:effectLst>
        </p:spPr>
      </p:sp>
      <p:sp>
        <p:nvSpPr>
          <p:cNvPr id="6" name="Shape 4"/>
          <p:cNvSpPr/>
          <p:nvPr/>
        </p:nvSpPr>
        <p:spPr>
          <a:xfrm>
            <a:off x="12715875" y="1333500"/>
            <a:ext cx="1143000" cy="266673"/>
          </a:xfrm>
          <a:prstGeom prst="roundRect">
            <a:avLst>
              <a:gd name="adj" fmla="val 50000"/>
            </a:avLst>
          </a:prstGeom>
          <a:solidFill>
            <a:srgbClr val="1A1714"/>
          </a:solidFill>
          <a:ln/>
        </p:spPr>
      </p:sp>
      <p:sp>
        <p:nvSpPr>
          <p:cNvPr id="7" name="Text 5"/>
          <p:cNvSpPr/>
          <p:nvPr/>
        </p:nvSpPr>
        <p:spPr>
          <a:xfrm>
            <a:off x="11696672" y="1430035"/>
            <a:ext cx="362018" cy="206952"/>
          </a:xfrm>
          <a:prstGeom prst="rect">
            <a:avLst/>
          </a:prstGeom>
          <a:noFill/>
          <a:ln/>
        </p:spPr>
        <p:txBody>
          <a:bodyPr wrap="square" lIns="25400" tIns="25400" rIns="25400" bIns="25400" rtlCol="0" anchor="t">
            <a:normAutofit/>
          </a:bodyPr>
          <a:lstStyle/>
          <a:p>
            <a:pPr algn="l" indent="0" marL="0">
              <a:buNone/>
            </a:pPr>
            <a:r>
              <a:rPr lang="en-US" sz="1050" b="1" dirty="0">
                <a:solidFill>
                  <a:srgbClr val="1A1714"/>
                </a:solidFill>
                <a:latin typeface="Be Vietnam Pro" pitchFamily="34" charset="0"/>
                <a:ea typeface="Be Vietnam Pro" pitchFamily="34" charset="-122"/>
                <a:cs typeface="Be Vietnam Pro" pitchFamily="34" charset="-120"/>
              </a:rPr>
              <a:t>9:41</a:t>
            </a:r>
            <a:endParaRPr lang="en-US" sz="1050" dirty="0"/>
          </a:p>
        </p:txBody>
      </p:sp>
      <p:sp>
        <p:nvSpPr>
          <p:cNvPr id="8" name="Text 6"/>
          <p:cNvSpPr/>
          <p:nvPr/>
        </p:nvSpPr>
        <p:spPr>
          <a:xfrm>
            <a:off x="14619048" y="1443024"/>
            <a:ext cx="335229" cy="180975"/>
          </a:xfrm>
          <a:prstGeom prst="rect">
            <a:avLst/>
          </a:prstGeom>
          <a:noFill/>
          <a:ln/>
        </p:spPr>
        <p:txBody>
          <a:bodyPr wrap="square" lIns="25400" tIns="25400" rIns="25400" bIns="25400" rtlCol="0" anchor="ctr">
            <a:normAutofit/>
          </a:bodyPr>
          <a:lstStyle/>
          <a:p>
            <a:pPr algn="l" indent="0" marL="0">
              <a:buNone/>
            </a:pPr>
            <a:r>
              <a:rPr lang="en-US" sz="900" b="1" dirty="0">
                <a:solidFill>
                  <a:srgbClr val="1A1714"/>
                </a:solidFill>
                <a:latin typeface="Be Vietnam Pro" pitchFamily="34" charset="0"/>
                <a:ea typeface="Be Vietnam Pro" pitchFamily="34" charset="-122"/>
                <a:cs typeface="Be Vietnam Pro" pitchFamily="34" charset="-120"/>
              </a:rPr>
              <a:t>◍ ◗ ▮</a:t>
            </a:r>
            <a:endParaRPr lang="en-US" sz="900" dirty="0"/>
          </a:p>
        </p:txBody>
      </p:sp>
      <p:sp>
        <p:nvSpPr>
          <p:cNvPr id="9" name="Shape 7"/>
          <p:cNvSpPr/>
          <p:nvPr/>
        </p:nvSpPr>
        <p:spPr>
          <a:xfrm>
            <a:off x="11430000" y="1657336"/>
            <a:ext cx="3714750" cy="366185"/>
          </a:xfrm>
          <a:prstGeom prst="rect">
            <a:avLst/>
          </a:prstGeom>
          <a:gradFill rotWithShape="1">
            <a:gsLst>
              <a:gs pos="80000">
                <a:srgbClr val="FBF7EE">
                  <a:alpha val="100000"/>
                </a:srgbClr>
              </a:gs>
              <a:gs pos="100000">
                <a:srgbClr val="FBF7EE">
                  <a:alpha val="0"/>
                </a:srgbClr>
              </a:gs>
            </a:gsLst>
            <a:lin ang="5400000" scaled="0"/>
          </a:gradFill>
          <a:ln/>
        </p:spPr>
      </p:sp>
      <p:sp>
        <p:nvSpPr>
          <p:cNvPr id="10" name="Shape 8"/>
          <p:cNvSpPr/>
          <p:nvPr/>
        </p:nvSpPr>
        <p:spPr>
          <a:xfrm>
            <a:off x="11639509" y="1778496"/>
            <a:ext cx="66634" cy="66634"/>
          </a:xfrm>
          <a:prstGeom prst="ellipse">
            <a:avLst/>
          </a:prstGeom>
          <a:solidFill>
            <a:srgbClr val="C83B2C"/>
          </a:solidFill>
          <a:ln/>
        </p:spPr>
      </p:sp>
      <p:sp>
        <p:nvSpPr>
          <p:cNvPr id="11" name="Text 9"/>
          <p:cNvSpPr/>
          <p:nvPr/>
        </p:nvSpPr>
        <p:spPr>
          <a:xfrm>
            <a:off x="11763239" y="1714432"/>
            <a:ext cx="900370" cy="232930"/>
          </a:xfrm>
          <a:prstGeom prst="rect">
            <a:avLst/>
          </a:prstGeom>
          <a:noFill/>
          <a:ln/>
        </p:spPr>
        <p:txBody>
          <a:bodyPr wrap="square" lIns="25400" tIns="25400" rIns="25400" bIns="25400" rtlCol="0" anchor="t">
            <a:normAutofit/>
          </a:bodyPr>
          <a:lstStyle/>
          <a:p>
            <a:pPr algn="l" indent="0" marL="0">
              <a:buNone/>
            </a:pPr>
            <a:r>
              <a:rPr lang="en-US" sz="1350" spc="-13" kern="0" dirty="0">
                <a:solidFill>
                  <a:srgbClr val="1A1714"/>
                </a:solidFill>
                <a:latin typeface="Georgia" pitchFamily="34" charset="0"/>
                <a:ea typeface="Georgia" pitchFamily="34" charset="-122"/>
                <a:cs typeface="Georgia" pitchFamily="34" charset="-120"/>
              </a:rPr>
              <a:t>Parliament</a:t>
            </a:r>
            <a:endParaRPr lang="en-US" sz="1350" dirty="0"/>
          </a:p>
        </p:txBody>
      </p:sp>
      <p:sp>
        <p:nvSpPr>
          <p:cNvPr id="12" name="Text 10"/>
          <p:cNvSpPr/>
          <p:nvPr/>
        </p:nvSpPr>
        <p:spPr>
          <a:xfrm>
            <a:off x="14431119" y="1731818"/>
            <a:ext cx="580321" cy="198158"/>
          </a:xfrm>
          <a:prstGeom prst="rect">
            <a:avLst/>
          </a:prstGeom>
          <a:noFill/>
          <a:ln/>
        </p:spPr>
        <p:txBody>
          <a:bodyPr wrap="square" lIns="25400" tIns="25400" rIns="25400" bIns="25400" rtlCol="0" anchor="t">
            <a:normAutofit/>
          </a:bodyPr>
          <a:lstStyle/>
          <a:p>
            <a:pPr algn="l" indent="0" marL="0">
              <a:lnSpc>
                <a:spcPct val="105600"/>
              </a:lnSpc>
              <a:buNone/>
            </a:pPr>
            <a:r>
              <a:rPr lang="en-US" sz="900" spc="27" kern="0" dirty="0">
                <a:solidFill>
                  <a:srgbClr val="7A716A"/>
                </a:solidFill>
                <a:latin typeface="JetBrains Mono" pitchFamily="34" charset="0"/>
                <a:ea typeface="JetBrains Mono" pitchFamily="34" charset="-122"/>
                <a:cs typeface="JetBrains Mono" pitchFamily="34" charset="-120"/>
              </a:rPr>
              <a:t>M5V 3A8</a:t>
            </a:r>
            <a:endParaRPr lang="en-US" sz="900" dirty="0"/>
          </a:p>
        </p:txBody>
      </p:sp>
      <p:sp>
        <p:nvSpPr>
          <p:cNvPr id="13" name="Text 11"/>
          <p:cNvSpPr/>
          <p:nvPr/>
        </p:nvSpPr>
        <p:spPr>
          <a:xfrm>
            <a:off x="11639509" y="2042531"/>
            <a:ext cx="3625304" cy="176645"/>
          </a:xfrm>
          <a:prstGeom prst="rect">
            <a:avLst/>
          </a:prstGeom>
          <a:noFill/>
          <a:ln/>
        </p:spPr>
        <p:txBody>
          <a:bodyPr wrap="square" lIns="25400" tIns="25400" rIns="25400" bIns="25400" rtlCol="0" anchor="t">
            <a:normAutofit/>
          </a:bodyPr>
          <a:lstStyle/>
          <a:p>
            <a:pPr algn="l" indent="0" marL="0">
              <a:buNone/>
            </a:pPr>
            <a:r>
              <a:rPr lang="en-US" sz="825" spc="99" kern="0" dirty="0">
                <a:solidFill>
                  <a:srgbClr val="7A716A"/>
                </a:solidFill>
                <a:latin typeface="JetBrains Mono" pitchFamily="34" charset="0"/>
                <a:ea typeface="JetBrains Mono" pitchFamily="34" charset="-122"/>
                <a:cs typeface="JetBrains Mono" pitchFamily="34" charset="-120"/>
              </a:rPr>
              <a:t>YOUR WARD</a:t>
            </a:r>
            <a:endParaRPr lang="en-US" sz="825" dirty="0"/>
          </a:p>
        </p:txBody>
      </p:sp>
      <p:sp>
        <p:nvSpPr>
          <p:cNvPr id="14" name="Text 12"/>
          <p:cNvSpPr/>
          <p:nvPr/>
        </p:nvSpPr>
        <p:spPr>
          <a:xfrm>
            <a:off x="11639509" y="2257249"/>
            <a:ext cx="3625304" cy="368363"/>
          </a:xfrm>
          <a:prstGeom prst="rect">
            <a:avLst/>
          </a:prstGeom>
          <a:noFill/>
          <a:ln/>
        </p:spPr>
        <p:txBody>
          <a:bodyPr wrap="square" lIns="25400" tIns="25400" rIns="25400" bIns="25400" rtlCol="0" anchor="t">
            <a:normAutofit/>
          </a:bodyPr>
          <a:lstStyle/>
          <a:p>
            <a:pPr algn="l" indent="0" marL="0">
              <a:lnSpc>
                <a:spcPct val="89760"/>
              </a:lnSpc>
              <a:buNone/>
            </a:pPr>
            <a:r>
              <a:rPr lang="en-US" sz="2550" spc="-56" kern="0" dirty="0">
                <a:solidFill>
                  <a:srgbClr val="1A1714"/>
                </a:solidFill>
                <a:latin typeface="Georgia" pitchFamily="34" charset="0"/>
                <a:ea typeface="Georgia" pitchFamily="34" charset="-122"/>
                <a:cs typeface="Georgia" pitchFamily="34" charset="-120"/>
              </a:rPr>
              <a:t>Ward 4 — Guelph</a:t>
            </a:r>
            <a:endParaRPr lang="en-US" sz="2550" dirty="0"/>
          </a:p>
        </p:txBody>
      </p:sp>
      <p:sp>
        <p:nvSpPr>
          <p:cNvPr id="15" name="Shape 13"/>
          <p:cNvSpPr/>
          <p:nvPr/>
        </p:nvSpPr>
        <p:spPr>
          <a:xfrm>
            <a:off x="11639509" y="2739858"/>
            <a:ext cx="3295731" cy="2324492"/>
          </a:xfrm>
          <a:prstGeom prst="roundRect">
            <a:avLst>
              <a:gd name="adj" fmla="val 8195"/>
            </a:avLst>
          </a:prstGeom>
          <a:solidFill>
            <a:srgbClr val="1A1714"/>
          </a:solidFill>
          <a:ln/>
        </p:spPr>
      </p:sp>
      <p:sp>
        <p:nvSpPr>
          <p:cNvPr id="16" name="Text 14"/>
          <p:cNvSpPr/>
          <p:nvPr/>
        </p:nvSpPr>
        <p:spPr>
          <a:xfrm>
            <a:off x="11830009" y="2947676"/>
            <a:ext cx="247691" cy="211282"/>
          </a:xfrm>
          <a:prstGeom prst="rect">
            <a:avLst/>
          </a:prstGeom>
          <a:noFill/>
          <a:ln/>
        </p:spPr>
        <p:txBody>
          <a:bodyPr wrap="square" lIns="25400" tIns="25400" rIns="25400" bIns="25400" rtlCol="0" anchor="t">
            <a:normAutofit/>
          </a:bodyPr>
          <a:lstStyle/>
          <a:p>
            <a:pPr algn="l" indent="0" marL="0">
              <a:buNone/>
            </a:pPr>
            <a:r>
              <a:rPr lang="en-US" sz="1050" b="1" spc="45" kern="0" dirty="0">
                <a:solidFill>
                  <a:srgbClr val="FDFAF3">
                    <a:alpha val="72000"/>
                  </a:srgbClr>
                </a:solidFill>
                <a:latin typeface="JetBrains Mono" pitchFamily="34" charset="0"/>
                <a:ea typeface="JetBrains Mono" pitchFamily="34" charset="-122"/>
                <a:cs typeface="JetBrains Mono" pitchFamily="34" charset="-120"/>
              </a:rPr>
              <a:t>76</a:t>
            </a:r>
            <a:endParaRPr lang="en-US" sz="1050" dirty="0"/>
          </a:p>
        </p:txBody>
      </p:sp>
      <p:sp>
        <p:nvSpPr>
          <p:cNvPr id="17" name="Text 15"/>
          <p:cNvSpPr/>
          <p:nvPr/>
        </p:nvSpPr>
        <p:spPr>
          <a:xfrm>
            <a:off x="12039586" y="2964994"/>
            <a:ext cx="1562114" cy="189634"/>
          </a:xfrm>
          <a:prstGeom prst="rect">
            <a:avLst/>
          </a:prstGeom>
          <a:noFill/>
          <a:ln/>
        </p:spPr>
        <p:txBody>
          <a:bodyPr wrap="square" lIns="0" tIns="0" rIns="0" bIns="0" rtlCol="0" anchor="t">
            <a:normAutofit/>
          </a:bodyPr>
          <a:lstStyle/>
          <a:p>
            <a:pPr algn="l" indent="0" marL="0">
              <a:buNone/>
            </a:pPr>
            <a:r>
              <a:rPr lang="en-US" sz="900" spc="45" kern="0" dirty="0">
                <a:solidFill>
                  <a:srgbClr val="FDFAF3">
                    <a:alpha val="72000"/>
                  </a:srgbClr>
                </a:solidFill>
                <a:latin typeface="JetBrains Mono" pitchFamily="34" charset="0"/>
                <a:ea typeface="JetBrains Mono" pitchFamily="34" charset="-122"/>
                <a:cs typeface="JetBrains Mono" pitchFamily="34" charset="-120"/>
              </a:rPr>
              <a:t>days to Election Day</a:t>
            </a:r>
            <a:endParaRPr lang="en-US" sz="900" dirty="0"/>
          </a:p>
        </p:txBody>
      </p:sp>
      <p:sp>
        <p:nvSpPr>
          <p:cNvPr id="18" name="Text 16"/>
          <p:cNvSpPr/>
          <p:nvPr/>
        </p:nvSpPr>
        <p:spPr>
          <a:xfrm>
            <a:off x="11830009" y="3235117"/>
            <a:ext cx="3206204" cy="284952"/>
          </a:xfrm>
          <a:prstGeom prst="rect">
            <a:avLst/>
          </a:prstGeom>
          <a:noFill/>
          <a:ln/>
        </p:spPr>
        <p:txBody>
          <a:bodyPr wrap="square" lIns="25400" tIns="25400" rIns="25400" bIns="25400" rtlCol="0" anchor="t">
            <a:normAutofit/>
          </a:bodyPr>
          <a:lstStyle/>
          <a:p>
            <a:pPr algn="l" indent="0" marL="0">
              <a:lnSpc>
                <a:spcPct val="95040"/>
              </a:lnSpc>
              <a:buNone/>
            </a:pPr>
            <a:r>
              <a:rPr lang="en-US" sz="1800" spc="-32" kern="0" dirty="0">
                <a:solidFill>
                  <a:srgbClr val="FDFAF3"/>
                </a:solidFill>
                <a:latin typeface="Georgia" pitchFamily="34" charset="0"/>
                <a:ea typeface="Georgia" pitchFamily="34" charset="-122"/>
                <a:cs typeface="Georgia" pitchFamily="34" charset="-120"/>
              </a:rPr>
              <a:t>See who's running in Ward 4</a:t>
            </a:r>
            <a:endParaRPr lang="en-US" sz="1800" dirty="0"/>
          </a:p>
        </p:txBody>
      </p:sp>
      <p:sp>
        <p:nvSpPr>
          <p:cNvPr id="19" name="Text 17"/>
          <p:cNvSpPr/>
          <p:nvPr/>
        </p:nvSpPr>
        <p:spPr>
          <a:xfrm>
            <a:off x="11830009" y="3548603"/>
            <a:ext cx="3002173" cy="410982"/>
          </a:xfrm>
          <a:prstGeom prst="rect">
            <a:avLst/>
          </a:prstGeom>
          <a:noFill/>
          <a:ln/>
        </p:spPr>
        <p:txBody>
          <a:bodyPr wrap="square" lIns="25400" tIns="25400" rIns="25400" bIns="25400" rtlCol="0" anchor="t">
            <a:normAutofit/>
          </a:bodyPr>
          <a:lstStyle/>
          <a:p>
            <a:pPr algn="l" indent="0" marL="0">
              <a:lnSpc>
                <a:spcPct val="113329"/>
              </a:lnSpc>
              <a:buNone/>
            </a:pPr>
            <a:r>
              <a:rPr lang="en-US" sz="1013" dirty="0">
                <a:solidFill>
                  <a:srgbClr val="FDFAF3">
                    <a:alpha val="70000"/>
                  </a:srgbClr>
                </a:solidFill>
                <a:latin typeface="Be Vietnam Pro" pitchFamily="34" charset="0"/>
                <a:ea typeface="Be Vietnam Pro" pitchFamily="34" charset="-122"/>
                <a:cs typeface="Be Vietnam Pro" pitchFamily="34" charset="-120"/>
              </a:rPr>
              <a:t>Nine candidates are on your ballot. Hear from them in their own words, one minute each.</a:t>
            </a:r>
            <a:endParaRPr lang="en-US" sz="1013" dirty="0"/>
          </a:p>
        </p:txBody>
      </p:sp>
      <p:sp>
        <p:nvSpPr>
          <p:cNvPr id="20" name="Shape 18"/>
          <p:cNvSpPr/>
          <p:nvPr/>
        </p:nvSpPr>
        <p:spPr>
          <a:xfrm>
            <a:off x="11830009" y="4092909"/>
            <a:ext cx="361923" cy="361923"/>
          </a:xfrm>
          <a:prstGeom prst="roundRect">
            <a:avLst>
              <a:gd name="adj" fmla="val 26318"/>
            </a:avLst>
          </a:prstGeom>
          <a:solidFill>
            <a:srgbClr val="ECE4CF"/>
          </a:solidFill>
          <a:ln w="17318">
            <a:solidFill>
              <a:srgbClr val="1A1714"/>
            </a:solidFill>
            <a:prstDash val="solid"/>
          </a:ln>
        </p:spPr>
      </p:sp>
      <p:sp>
        <p:nvSpPr>
          <p:cNvPr id="21" name="Text 19"/>
          <p:cNvSpPr/>
          <p:nvPr/>
        </p:nvSpPr>
        <p:spPr>
          <a:xfrm>
            <a:off x="11809227" y="4110227"/>
            <a:ext cx="403487" cy="365387"/>
          </a:xfrm>
          <a:prstGeom prst="rect">
            <a:avLst/>
          </a:prstGeom>
          <a:noFill/>
          <a:ln/>
        </p:spPr>
        <p:txBody>
          <a:bodyPr wrap="square" lIns="25400" tIns="25400" rIns="25400" bIns="25400" rtlCol="0" anchor="ctr">
            <a:normAutofit/>
          </a:bodyPr>
          <a:lstStyle/>
          <a:p>
            <a:pPr algn="ctr" indent="0" marL="0">
              <a:buNone/>
            </a:pPr>
            <a:r>
              <a:rPr lang="en-US" sz="1050" dirty="0">
                <a:solidFill>
                  <a:srgbClr val="4D4640"/>
                </a:solidFill>
                <a:latin typeface="Georgia" pitchFamily="34" charset="0"/>
                <a:ea typeface="Georgia" pitchFamily="34" charset="-122"/>
                <a:cs typeface="Georgia" pitchFamily="34" charset="-120"/>
              </a:rPr>
              <a:t>AB</a:t>
            </a:r>
            <a:endParaRPr lang="en-US" sz="1050" dirty="0"/>
          </a:p>
        </p:txBody>
      </p:sp>
      <p:sp>
        <p:nvSpPr>
          <p:cNvPr id="22" name="Shape 20"/>
          <p:cNvSpPr/>
          <p:nvPr/>
        </p:nvSpPr>
        <p:spPr>
          <a:xfrm>
            <a:off x="12106220" y="4092909"/>
            <a:ext cx="361923" cy="361923"/>
          </a:xfrm>
          <a:prstGeom prst="roundRect">
            <a:avLst>
              <a:gd name="adj" fmla="val 26318"/>
            </a:avLst>
          </a:prstGeom>
          <a:solidFill>
            <a:srgbClr val="ECE4CF"/>
          </a:solidFill>
          <a:ln w="17318">
            <a:solidFill>
              <a:srgbClr val="1A1714"/>
            </a:solidFill>
            <a:prstDash val="solid"/>
          </a:ln>
        </p:spPr>
      </p:sp>
      <p:sp>
        <p:nvSpPr>
          <p:cNvPr id="23" name="Text 21"/>
          <p:cNvSpPr/>
          <p:nvPr/>
        </p:nvSpPr>
        <p:spPr>
          <a:xfrm>
            <a:off x="12085439" y="4110227"/>
            <a:ext cx="403487" cy="365387"/>
          </a:xfrm>
          <a:prstGeom prst="rect">
            <a:avLst/>
          </a:prstGeom>
          <a:noFill/>
          <a:ln/>
        </p:spPr>
        <p:txBody>
          <a:bodyPr wrap="square" lIns="25400" tIns="25400" rIns="25400" bIns="25400" rtlCol="0" anchor="ctr">
            <a:normAutofit/>
          </a:bodyPr>
          <a:lstStyle/>
          <a:p>
            <a:pPr algn="ctr" indent="0" marL="0">
              <a:buNone/>
            </a:pPr>
            <a:r>
              <a:rPr lang="en-US" sz="1050" dirty="0">
                <a:solidFill>
                  <a:srgbClr val="4D4640"/>
                </a:solidFill>
                <a:latin typeface="Georgia" pitchFamily="34" charset="0"/>
                <a:ea typeface="Georgia" pitchFamily="34" charset="-122"/>
                <a:cs typeface="Georgia" pitchFamily="34" charset="-120"/>
              </a:rPr>
              <a:t>DC</a:t>
            </a:r>
            <a:endParaRPr lang="en-US" sz="1050" dirty="0"/>
          </a:p>
        </p:txBody>
      </p:sp>
      <p:sp>
        <p:nvSpPr>
          <p:cNvPr id="24" name="Shape 22"/>
          <p:cNvSpPr/>
          <p:nvPr/>
        </p:nvSpPr>
        <p:spPr>
          <a:xfrm>
            <a:off x="12382431" y="4092909"/>
            <a:ext cx="361923" cy="361923"/>
          </a:xfrm>
          <a:prstGeom prst="roundRect">
            <a:avLst>
              <a:gd name="adj" fmla="val 26318"/>
            </a:avLst>
          </a:prstGeom>
          <a:solidFill>
            <a:srgbClr val="ECE4CF"/>
          </a:solidFill>
          <a:ln w="17318">
            <a:solidFill>
              <a:srgbClr val="1A1714"/>
            </a:solidFill>
            <a:prstDash val="solid"/>
          </a:ln>
        </p:spPr>
      </p:sp>
      <p:sp>
        <p:nvSpPr>
          <p:cNvPr id="25" name="Text 23"/>
          <p:cNvSpPr/>
          <p:nvPr/>
        </p:nvSpPr>
        <p:spPr>
          <a:xfrm>
            <a:off x="12361650" y="4110227"/>
            <a:ext cx="403487" cy="365387"/>
          </a:xfrm>
          <a:prstGeom prst="rect">
            <a:avLst/>
          </a:prstGeom>
          <a:noFill/>
          <a:ln/>
        </p:spPr>
        <p:txBody>
          <a:bodyPr wrap="square" lIns="25400" tIns="25400" rIns="25400" bIns="25400" rtlCol="0" anchor="ctr">
            <a:normAutofit/>
          </a:bodyPr>
          <a:lstStyle/>
          <a:p>
            <a:pPr algn="ctr" indent="0" marL="0">
              <a:buNone/>
            </a:pPr>
            <a:r>
              <a:rPr lang="en-US" sz="1050" dirty="0">
                <a:solidFill>
                  <a:srgbClr val="4D4640"/>
                </a:solidFill>
                <a:latin typeface="Georgia" pitchFamily="34" charset="0"/>
                <a:ea typeface="Georgia" pitchFamily="34" charset="-122"/>
                <a:cs typeface="Georgia" pitchFamily="34" charset="-120"/>
              </a:rPr>
              <a:t>MK</a:t>
            </a:r>
            <a:endParaRPr lang="en-US" sz="1050" dirty="0"/>
          </a:p>
        </p:txBody>
      </p:sp>
      <p:sp>
        <p:nvSpPr>
          <p:cNvPr id="26" name="Shape 24"/>
          <p:cNvSpPr/>
          <p:nvPr/>
        </p:nvSpPr>
        <p:spPr>
          <a:xfrm>
            <a:off x="12658644" y="4092909"/>
            <a:ext cx="361923" cy="361923"/>
          </a:xfrm>
          <a:prstGeom prst="roundRect">
            <a:avLst>
              <a:gd name="adj" fmla="val 26318"/>
            </a:avLst>
          </a:prstGeom>
          <a:solidFill>
            <a:srgbClr val="ECE4CF"/>
          </a:solidFill>
          <a:ln w="17318">
            <a:solidFill>
              <a:srgbClr val="1A1714"/>
            </a:solidFill>
            <a:prstDash val="solid"/>
          </a:ln>
        </p:spPr>
      </p:sp>
      <p:sp>
        <p:nvSpPr>
          <p:cNvPr id="27" name="Text 25"/>
          <p:cNvSpPr/>
          <p:nvPr/>
        </p:nvSpPr>
        <p:spPr>
          <a:xfrm>
            <a:off x="12637862" y="4110227"/>
            <a:ext cx="403487" cy="365387"/>
          </a:xfrm>
          <a:prstGeom prst="rect">
            <a:avLst/>
          </a:prstGeom>
          <a:noFill/>
          <a:ln/>
        </p:spPr>
        <p:txBody>
          <a:bodyPr wrap="square" lIns="25400" tIns="25400" rIns="25400" bIns="25400" rtlCol="0" anchor="ctr">
            <a:normAutofit/>
          </a:bodyPr>
          <a:lstStyle/>
          <a:p>
            <a:pPr algn="ctr" indent="0" marL="0">
              <a:buNone/>
            </a:pPr>
            <a:r>
              <a:rPr lang="en-US" sz="1050" dirty="0">
                <a:solidFill>
                  <a:srgbClr val="4D4640"/>
                </a:solidFill>
                <a:latin typeface="Georgia" pitchFamily="34" charset="0"/>
                <a:ea typeface="Georgia" pitchFamily="34" charset="-122"/>
                <a:cs typeface="Georgia" pitchFamily="34" charset="-120"/>
              </a:rPr>
              <a:t>PN</a:t>
            </a:r>
            <a:endParaRPr lang="en-US" sz="1050" dirty="0"/>
          </a:p>
        </p:txBody>
      </p:sp>
      <p:sp>
        <p:nvSpPr>
          <p:cNvPr id="28" name="Shape 26"/>
          <p:cNvSpPr/>
          <p:nvPr/>
        </p:nvSpPr>
        <p:spPr>
          <a:xfrm>
            <a:off x="12934855" y="4092909"/>
            <a:ext cx="361923" cy="361923"/>
          </a:xfrm>
          <a:prstGeom prst="roundRect">
            <a:avLst>
              <a:gd name="adj" fmla="val 26318"/>
            </a:avLst>
          </a:prstGeom>
          <a:solidFill>
            <a:srgbClr val="FDFAF3">
              <a:alpha val="14000"/>
            </a:srgbClr>
          </a:solidFill>
          <a:ln w="17318">
            <a:solidFill>
              <a:srgbClr val="1A1714"/>
            </a:solidFill>
            <a:prstDash val="solid"/>
          </a:ln>
        </p:spPr>
      </p:sp>
      <p:sp>
        <p:nvSpPr>
          <p:cNvPr id="29" name="Text 27"/>
          <p:cNvSpPr/>
          <p:nvPr/>
        </p:nvSpPr>
        <p:spPr>
          <a:xfrm>
            <a:off x="12914073" y="4110227"/>
            <a:ext cx="403487" cy="365387"/>
          </a:xfrm>
          <a:prstGeom prst="rect">
            <a:avLst/>
          </a:prstGeom>
          <a:noFill/>
          <a:ln/>
        </p:spPr>
        <p:txBody>
          <a:bodyPr wrap="square" lIns="25400" tIns="25400" rIns="25400" bIns="25400" rtlCol="0" anchor="ctr">
            <a:normAutofit/>
          </a:bodyPr>
          <a:lstStyle/>
          <a:p>
            <a:pPr algn="ctr" indent="0" marL="0">
              <a:buNone/>
            </a:pPr>
            <a:r>
              <a:rPr lang="en-US" sz="825" dirty="0">
                <a:solidFill>
                  <a:srgbClr val="FDFAF3">
                    <a:alpha val="80000"/>
                  </a:srgbClr>
                </a:solidFill>
                <a:latin typeface="JetBrains Mono" pitchFamily="34" charset="0"/>
                <a:ea typeface="JetBrains Mono" pitchFamily="34" charset="-122"/>
                <a:cs typeface="JetBrains Mono" pitchFamily="34" charset="-120"/>
              </a:rPr>
              <a:t>+5</a:t>
            </a:r>
            <a:endParaRPr lang="en-US" sz="825" dirty="0"/>
          </a:p>
        </p:txBody>
      </p:sp>
      <p:sp>
        <p:nvSpPr>
          <p:cNvPr id="30" name="Shape 28"/>
          <p:cNvSpPr/>
          <p:nvPr/>
        </p:nvSpPr>
        <p:spPr>
          <a:xfrm>
            <a:off x="11830009" y="4607178"/>
            <a:ext cx="266673" cy="266673"/>
          </a:xfrm>
          <a:prstGeom prst="ellipse">
            <a:avLst/>
          </a:prstGeom>
          <a:solidFill>
            <a:srgbClr val="C83B2C"/>
          </a:solidFill>
          <a:ln/>
        </p:spPr>
      </p:sp>
      <p:sp>
        <p:nvSpPr>
          <p:cNvPr id="31" name="Text 29"/>
          <p:cNvSpPr/>
          <p:nvPr/>
        </p:nvSpPr>
        <p:spPr>
          <a:xfrm>
            <a:off x="11791909" y="4607178"/>
            <a:ext cx="342873" cy="304773"/>
          </a:xfrm>
          <a:prstGeom prst="rect">
            <a:avLst/>
          </a:prstGeom>
          <a:noFill/>
          <a:ln/>
        </p:spPr>
        <p:txBody>
          <a:bodyPr wrap="square" lIns="25400" tIns="25400" rIns="25400" bIns="25400" rtlCol="0" anchor="ctr">
            <a:normAutofit/>
          </a:bodyPr>
          <a:lstStyle/>
          <a:p>
            <a:pPr algn="ctr" indent="0" marL="0">
              <a:buNone/>
            </a:pPr>
            <a:r>
              <a:rPr lang="en-US" sz="1050" dirty="0">
                <a:solidFill>
                  <a:srgbClr val="FDFAF3"/>
                </a:solidFill>
                <a:latin typeface="Be Vietnam Pro" pitchFamily="34" charset="0"/>
                <a:ea typeface="Be Vietnam Pro" pitchFamily="34" charset="-122"/>
                <a:cs typeface="Be Vietnam Pro" pitchFamily="34" charset="-120"/>
              </a:rPr>
              <a:t>→</a:t>
            </a:r>
            <a:endParaRPr lang="en-US" sz="1050" dirty="0"/>
          </a:p>
        </p:txBody>
      </p:sp>
      <p:sp>
        <p:nvSpPr>
          <p:cNvPr id="32" name="Text 30"/>
          <p:cNvSpPr/>
          <p:nvPr/>
        </p:nvSpPr>
        <p:spPr>
          <a:xfrm>
            <a:off x="12191931" y="4653923"/>
            <a:ext cx="1096080" cy="211282"/>
          </a:xfrm>
          <a:prstGeom prst="rect">
            <a:avLst/>
          </a:prstGeom>
          <a:noFill/>
          <a:ln/>
        </p:spPr>
        <p:txBody>
          <a:bodyPr wrap="square" lIns="0" tIns="0" rIns="0" bIns="0" rtlCol="0" anchor="t">
            <a:normAutofit/>
          </a:bodyPr>
          <a:lstStyle/>
          <a:p>
            <a:pPr algn="l" indent="0" marL="0">
              <a:buNone/>
            </a:pPr>
            <a:r>
              <a:rPr lang="en-US" sz="1088" dirty="0">
                <a:solidFill>
                  <a:srgbClr val="FDFAF3"/>
                </a:solidFill>
                <a:latin typeface="Be Vietnam Pro" pitchFamily="34" charset="0"/>
                <a:ea typeface="Be Vietnam Pro" pitchFamily="34" charset="-122"/>
                <a:cs typeface="Be Vietnam Pro" pitchFamily="34" charset="-120"/>
              </a:rPr>
              <a:t>Start watching</a:t>
            </a:r>
            <a:endParaRPr lang="en-US" sz="1088" dirty="0"/>
          </a:p>
        </p:txBody>
      </p:sp>
      <p:sp>
        <p:nvSpPr>
          <p:cNvPr id="33" name="Shape 31"/>
          <p:cNvSpPr/>
          <p:nvPr/>
        </p:nvSpPr>
        <p:spPr>
          <a:xfrm>
            <a:off x="11639509" y="5216696"/>
            <a:ext cx="3295731" cy="9525"/>
          </a:xfrm>
          <a:prstGeom prst="rect">
            <a:avLst/>
          </a:prstGeom>
          <a:solidFill>
            <a:srgbClr val="E6DFC9"/>
          </a:solidFill>
          <a:ln/>
        </p:spPr>
      </p:sp>
      <p:sp>
        <p:nvSpPr>
          <p:cNvPr id="34" name="Text 32"/>
          <p:cNvSpPr/>
          <p:nvPr/>
        </p:nvSpPr>
        <p:spPr>
          <a:xfrm>
            <a:off x="11639509" y="5377701"/>
            <a:ext cx="3625304" cy="176645"/>
          </a:xfrm>
          <a:prstGeom prst="rect">
            <a:avLst/>
          </a:prstGeom>
          <a:noFill/>
          <a:ln/>
        </p:spPr>
        <p:txBody>
          <a:bodyPr wrap="square" lIns="25400" tIns="25400" rIns="25400" bIns="25400" rtlCol="0" anchor="t">
            <a:normAutofit/>
          </a:bodyPr>
          <a:lstStyle/>
          <a:p>
            <a:pPr algn="l" indent="0" marL="0">
              <a:buNone/>
            </a:pPr>
            <a:r>
              <a:rPr lang="en-US" sz="825" spc="99" kern="0" dirty="0">
                <a:solidFill>
                  <a:srgbClr val="7A716A"/>
                </a:solidFill>
                <a:latin typeface="JetBrains Mono" pitchFamily="34" charset="0"/>
                <a:ea typeface="JetBrains Mono" pitchFamily="34" charset="-122"/>
                <a:cs typeface="JetBrains Mono" pitchFamily="34" charset="-120"/>
              </a:rPr>
              <a:t>CURRENTLY IN OFFICE</a:t>
            </a:r>
            <a:endParaRPr lang="en-US" sz="825" dirty="0"/>
          </a:p>
        </p:txBody>
      </p:sp>
      <p:sp>
        <p:nvSpPr>
          <p:cNvPr id="35" name="Shape 33"/>
          <p:cNvSpPr/>
          <p:nvPr/>
        </p:nvSpPr>
        <p:spPr>
          <a:xfrm>
            <a:off x="11639509" y="5790496"/>
            <a:ext cx="361923" cy="361923"/>
          </a:xfrm>
          <a:prstGeom prst="ellipse">
            <a:avLst/>
          </a:prstGeom>
          <a:solidFill>
            <a:srgbClr val="ECE4CF"/>
          </a:solidFill>
          <a:ln w="8659">
            <a:solidFill>
              <a:srgbClr val="D8CFB9"/>
            </a:solidFill>
            <a:prstDash val="solid"/>
          </a:ln>
        </p:spPr>
      </p:sp>
      <p:sp>
        <p:nvSpPr>
          <p:cNvPr id="36" name="Text 34"/>
          <p:cNvSpPr/>
          <p:nvPr/>
        </p:nvSpPr>
        <p:spPr>
          <a:xfrm>
            <a:off x="11610068" y="5799155"/>
            <a:ext cx="420805" cy="382705"/>
          </a:xfrm>
          <a:prstGeom prst="rect">
            <a:avLst/>
          </a:prstGeom>
          <a:noFill/>
          <a:ln/>
        </p:spPr>
        <p:txBody>
          <a:bodyPr wrap="square" lIns="25400" tIns="25400" rIns="25400" bIns="25400" rtlCol="0" anchor="ctr">
            <a:normAutofit/>
          </a:bodyPr>
          <a:lstStyle/>
          <a:p>
            <a:pPr algn="ctr" indent="0" marL="0">
              <a:buNone/>
            </a:pPr>
            <a:r>
              <a:rPr lang="en-US" sz="1050" dirty="0">
                <a:solidFill>
                  <a:srgbClr val="4D4640"/>
                </a:solidFill>
                <a:latin typeface="Georgia" pitchFamily="34" charset="0"/>
                <a:ea typeface="Georgia" pitchFamily="34" charset="-122"/>
                <a:cs typeface="Georgia" pitchFamily="34" charset="-120"/>
              </a:rPr>
              <a:t>CD</a:t>
            </a:r>
            <a:endParaRPr lang="en-US" sz="1050" dirty="0"/>
          </a:p>
        </p:txBody>
      </p:sp>
      <p:sp>
        <p:nvSpPr>
          <p:cNvPr id="37" name="Text 35"/>
          <p:cNvSpPr/>
          <p:nvPr/>
        </p:nvSpPr>
        <p:spPr>
          <a:xfrm>
            <a:off x="12134769" y="5782852"/>
            <a:ext cx="2854598" cy="226638"/>
          </a:xfrm>
          <a:prstGeom prst="rect">
            <a:avLst/>
          </a:prstGeom>
          <a:noFill/>
          <a:ln/>
        </p:spPr>
        <p:txBody>
          <a:bodyPr wrap="square" lIns="25400" tIns="25400" rIns="25400" bIns="25400" rtlCol="0" anchor="t">
            <a:normAutofit/>
          </a:bodyPr>
          <a:lstStyle/>
          <a:p>
            <a:pPr algn="l" indent="0" marL="0">
              <a:lnSpc>
                <a:spcPct val="96800"/>
              </a:lnSpc>
              <a:buNone/>
            </a:pPr>
            <a:r>
              <a:rPr lang="en-US" sz="1350" spc="-13" kern="0" dirty="0">
                <a:solidFill>
                  <a:srgbClr val="1A1714"/>
                </a:solidFill>
                <a:latin typeface="Georgia" pitchFamily="34" charset="0"/>
                <a:ea typeface="Georgia" pitchFamily="34" charset="-122"/>
                <a:cs typeface="Georgia" pitchFamily="34" charset="-120"/>
              </a:rPr>
              <a:t>Cathy Downer</a:t>
            </a:r>
            <a:endParaRPr lang="en-US" sz="1350" dirty="0"/>
          </a:p>
        </p:txBody>
      </p:sp>
      <p:sp>
        <p:nvSpPr>
          <p:cNvPr id="38" name="Text 36"/>
          <p:cNvSpPr/>
          <p:nvPr/>
        </p:nvSpPr>
        <p:spPr>
          <a:xfrm>
            <a:off x="12134769" y="5999938"/>
            <a:ext cx="2854598" cy="198293"/>
          </a:xfrm>
          <a:prstGeom prst="rect">
            <a:avLst/>
          </a:prstGeom>
          <a:noFill/>
          <a:ln/>
        </p:spPr>
        <p:txBody>
          <a:bodyPr wrap="square" lIns="25400" tIns="25400" rIns="25400" bIns="25400" rtlCol="0" anchor="ctr">
            <a:normAutofit/>
          </a:bodyPr>
          <a:lstStyle/>
          <a:p>
            <a:pPr algn="l" indent="0" marL="0">
              <a:buNone/>
            </a:pPr>
            <a:r>
              <a:rPr lang="en-US" sz="975" dirty="0">
                <a:solidFill>
                  <a:srgbClr val="4D4640"/>
                </a:solidFill>
                <a:latin typeface="Be Vietnam Pro" pitchFamily="34" charset="0"/>
                <a:ea typeface="Be Vietnam Pro" pitchFamily="34" charset="-122"/>
                <a:cs typeface="Be Vietnam Pro" pitchFamily="34" charset="-120"/>
              </a:rPr>
              <a:t>Councillor, Ward 5 · until Nov 2026</a:t>
            </a:r>
            <a:endParaRPr lang="en-US" sz="975" dirty="0"/>
          </a:p>
        </p:txBody>
      </p:sp>
      <p:sp>
        <p:nvSpPr>
          <p:cNvPr id="39" name="Text 37"/>
          <p:cNvSpPr/>
          <p:nvPr/>
        </p:nvSpPr>
        <p:spPr>
          <a:xfrm>
            <a:off x="14863194" y="5850231"/>
            <a:ext cx="148246" cy="280555"/>
          </a:xfrm>
          <a:prstGeom prst="rect">
            <a:avLst/>
          </a:prstGeom>
          <a:noFill/>
          <a:ln/>
        </p:spPr>
        <p:txBody>
          <a:bodyPr wrap="square" lIns="25400" tIns="25400" rIns="25400" bIns="25400" rtlCol="0" anchor="t">
            <a:normAutofit/>
          </a:bodyPr>
          <a:lstStyle/>
          <a:p>
            <a:pPr algn="l" indent="0" marL="0">
              <a:buNone/>
            </a:pPr>
            <a:r>
              <a:rPr lang="en-US" sz="1500" dirty="0">
                <a:solidFill>
                  <a:srgbClr val="7A716A"/>
                </a:solidFill>
                <a:latin typeface="Be Vietnam Pro" pitchFamily="34" charset="0"/>
                <a:ea typeface="Be Vietnam Pro" pitchFamily="34" charset="-122"/>
                <a:cs typeface="Be Vietnam Pro" pitchFamily="34" charset="-120"/>
              </a:rPr>
              <a:t>›</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1047750" y="952500"/>
            <a:ext cx="3070399" cy="315191"/>
          </a:xfrm>
          <a:prstGeom prst="rect">
            <a:avLst/>
          </a:prstGeom>
          <a:noFill/>
          <a:ln/>
        </p:spPr>
        <p:txBody>
          <a:bodyPr wrap="square" lIns="25400" tIns="25400" rIns="25400" bIns="25400" rtlCol="0" anchor="t">
            <a:normAutofit/>
          </a:bodyPr>
          <a:lstStyle/>
          <a:p>
            <a:pPr algn="l" indent="0" marL="0">
              <a:buNone/>
            </a:pPr>
            <a:r>
              <a:rPr lang="en-US" sz="1650" spc="231" kern="0" dirty="0">
                <a:solidFill>
                  <a:srgbClr val="7A716A"/>
                </a:solidFill>
                <a:latin typeface="JetBrains Mono" pitchFamily="34" charset="0"/>
                <a:ea typeface="JetBrains Mono" pitchFamily="34" charset="-122"/>
                <a:cs typeface="JetBrains Mono" pitchFamily="34" charset="-120"/>
              </a:rPr>
              <a:t>02 · RACE GROUPING</a:t>
            </a:r>
            <a:endParaRPr lang="en-US" sz="1650" dirty="0"/>
          </a:p>
        </p:txBody>
      </p:sp>
      <p:sp>
        <p:nvSpPr>
          <p:cNvPr id="3" name="Text 1"/>
          <p:cNvSpPr/>
          <p:nvPr/>
        </p:nvSpPr>
        <p:spPr>
          <a:xfrm>
            <a:off x="1047750" y="1619250"/>
            <a:ext cx="5494020" cy="960023"/>
          </a:xfrm>
          <a:prstGeom prst="rect">
            <a:avLst/>
          </a:prstGeom>
          <a:noFill/>
          <a:ln/>
        </p:spPr>
        <p:txBody>
          <a:bodyPr wrap="square" lIns="25400" tIns="25400" rIns="25400" bIns="25400" rtlCol="0" anchor="t">
            <a:normAutofit/>
          </a:bodyPr>
          <a:lstStyle/>
          <a:p>
            <a:pPr algn="l" indent="0" marL="0">
              <a:lnSpc>
                <a:spcPct val="96800"/>
              </a:lnSpc>
              <a:buNone/>
            </a:pPr>
            <a:r>
              <a:rPr lang="en-US" sz="3300" spc="-49" kern="0" dirty="0">
                <a:solidFill>
                  <a:srgbClr val="1A1714"/>
                </a:solidFill>
                <a:latin typeface="Georgia" pitchFamily="34" charset="0"/>
                <a:ea typeface="Georgia" pitchFamily="34" charset="-122"/>
                <a:cs typeface="Georgia" pitchFamily="34" charset="-120"/>
              </a:rPr>
              <a:t>Ward and mayoral races stay separate</a:t>
            </a:r>
            <a:endParaRPr lang="en-US" sz="3300" dirty="0"/>
          </a:p>
        </p:txBody>
      </p:sp>
      <p:sp>
        <p:nvSpPr>
          <p:cNvPr id="4" name="Text 2"/>
          <p:cNvSpPr/>
          <p:nvPr/>
        </p:nvSpPr>
        <p:spPr>
          <a:xfrm>
            <a:off x="1047750" y="3810000"/>
            <a:ext cx="5101590" cy="1691445"/>
          </a:xfrm>
          <a:prstGeom prst="rect">
            <a:avLst/>
          </a:prstGeom>
          <a:noFill/>
          <a:ln/>
        </p:spPr>
        <p:txBody>
          <a:bodyPr wrap="square" lIns="25400" tIns="25400" rIns="25400" bIns="25400" rtlCol="0" anchor="t">
            <a:normAutofit/>
          </a:bodyPr>
          <a:lstStyle/>
          <a:p>
            <a:pPr algn="l" indent="0" marL="0">
              <a:lnSpc>
                <a:spcPct val="122410"/>
              </a:lnSpc>
              <a:buNone/>
            </a:pPr>
            <a:r>
              <a:rPr lang="en-US" sz="2100" dirty="0">
                <a:solidFill>
                  <a:srgbClr val="4D4640"/>
                </a:solidFill>
                <a:latin typeface="Be Vietnam Pro" pitchFamily="34" charset="0"/>
                <a:ea typeface="Be Vietnam Pro" pitchFamily="34" charset="-122"/>
                <a:cs typeface="Be Vietnam Pro" pitchFamily="34" charset="-120"/>
              </a:rPr>
              <a:t>Two distinct stacks rather than one chained swipe — so a voter always knows which ballot line they're looking at. Counts are stated up front.</a:t>
            </a:r>
            <a:endParaRPr lang="en-US" sz="2100" dirty="0"/>
          </a:p>
        </p:txBody>
      </p:sp>
      <p:sp>
        <p:nvSpPr>
          <p:cNvPr id="5" name="Shape 3"/>
          <p:cNvSpPr/>
          <p:nvPr/>
        </p:nvSpPr>
        <p:spPr>
          <a:xfrm>
            <a:off x="11430000" y="1238250"/>
            <a:ext cx="3714750" cy="7810500"/>
          </a:xfrm>
          <a:prstGeom prst="roundRect">
            <a:avLst>
              <a:gd name="adj" fmla="val 11282"/>
            </a:avLst>
          </a:prstGeom>
          <a:solidFill>
            <a:srgbClr val="FBF7EE"/>
          </a:solidFill>
          <a:ln/>
          <a:effectLst>
            <a:outerShdw sx="100000" sy="100000" kx="0" ky="0" algn="bl" rotWithShape="0" blurRad="171450" dist="38100" dir="5400000">
              <a:srgbClr val="1A1714">
                <a:alpha val="8000"/>
              </a:srgbClr>
            </a:outerShdw>
          </a:effectLst>
        </p:spPr>
      </p:sp>
      <p:sp>
        <p:nvSpPr>
          <p:cNvPr id="6" name="Shape 4"/>
          <p:cNvSpPr/>
          <p:nvPr/>
        </p:nvSpPr>
        <p:spPr>
          <a:xfrm>
            <a:off x="12715875" y="1333500"/>
            <a:ext cx="1143000" cy="266673"/>
          </a:xfrm>
          <a:prstGeom prst="roundRect">
            <a:avLst>
              <a:gd name="adj" fmla="val 50000"/>
            </a:avLst>
          </a:prstGeom>
          <a:solidFill>
            <a:srgbClr val="1A1714"/>
          </a:solidFill>
          <a:ln/>
        </p:spPr>
      </p:sp>
      <p:sp>
        <p:nvSpPr>
          <p:cNvPr id="7" name="Text 5"/>
          <p:cNvSpPr/>
          <p:nvPr/>
        </p:nvSpPr>
        <p:spPr>
          <a:xfrm>
            <a:off x="11696672" y="1430035"/>
            <a:ext cx="362018" cy="206952"/>
          </a:xfrm>
          <a:prstGeom prst="rect">
            <a:avLst/>
          </a:prstGeom>
          <a:noFill/>
          <a:ln/>
        </p:spPr>
        <p:txBody>
          <a:bodyPr wrap="square" lIns="25400" tIns="25400" rIns="25400" bIns="25400" rtlCol="0" anchor="t">
            <a:normAutofit/>
          </a:bodyPr>
          <a:lstStyle/>
          <a:p>
            <a:pPr algn="l" indent="0" marL="0">
              <a:buNone/>
            </a:pPr>
            <a:r>
              <a:rPr lang="en-US" sz="1050" b="1" dirty="0">
                <a:solidFill>
                  <a:srgbClr val="1A1714"/>
                </a:solidFill>
                <a:latin typeface="Be Vietnam Pro" pitchFamily="34" charset="0"/>
                <a:ea typeface="Be Vietnam Pro" pitchFamily="34" charset="-122"/>
                <a:cs typeface="Be Vietnam Pro" pitchFamily="34" charset="-120"/>
              </a:rPr>
              <a:t>9:41</a:t>
            </a:r>
            <a:endParaRPr lang="en-US" sz="1050" dirty="0"/>
          </a:p>
        </p:txBody>
      </p:sp>
      <p:sp>
        <p:nvSpPr>
          <p:cNvPr id="8" name="Text 6"/>
          <p:cNvSpPr/>
          <p:nvPr/>
        </p:nvSpPr>
        <p:spPr>
          <a:xfrm>
            <a:off x="14619048" y="1443024"/>
            <a:ext cx="335229" cy="180975"/>
          </a:xfrm>
          <a:prstGeom prst="rect">
            <a:avLst/>
          </a:prstGeom>
          <a:noFill/>
          <a:ln/>
        </p:spPr>
        <p:txBody>
          <a:bodyPr wrap="square" lIns="25400" tIns="25400" rIns="25400" bIns="25400" rtlCol="0" anchor="ctr">
            <a:normAutofit/>
          </a:bodyPr>
          <a:lstStyle/>
          <a:p>
            <a:pPr algn="l" indent="0" marL="0">
              <a:buNone/>
            </a:pPr>
            <a:r>
              <a:rPr lang="en-US" sz="900" b="1" dirty="0">
                <a:solidFill>
                  <a:srgbClr val="1A1714"/>
                </a:solidFill>
                <a:latin typeface="Be Vietnam Pro" pitchFamily="34" charset="0"/>
                <a:ea typeface="Be Vietnam Pro" pitchFamily="34" charset="-122"/>
                <a:cs typeface="Be Vietnam Pro" pitchFamily="34" charset="-120"/>
              </a:rPr>
              <a:t>◍ ◗ ▮</a:t>
            </a:r>
            <a:endParaRPr lang="en-US" sz="900" dirty="0"/>
          </a:p>
        </p:txBody>
      </p:sp>
      <p:sp>
        <p:nvSpPr>
          <p:cNvPr id="9" name="Shape 7"/>
          <p:cNvSpPr/>
          <p:nvPr/>
        </p:nvSpPr>
        <p:spPr>
          <a:xfrm>
            <a:off x="11430000" y="1657336"/>
            <a:ext cx="3714750" cy="344672"/>
          </a:xfrm>
          <a:prstGeom prst="rect">
            <a:avLst/>
          </a:prstGeom>
          <a:gradFill rotWithShape="1">
            <a:gsLst>
              <a:gs pos="80000">
                <a:srgbClr val="FBF7EE">
                  <a:alpha val="100000"/>
                </a:srgbClr>
              </a:gs>
              <a:gs pos="100000">
                <a:srgbClr val="FBF7EE">
                  <a:alpha val="0"/>
                </a:srgbClr>
              </a:gs>
            </a:gsLst>
            <a:lin ang="5400000" scaled="0"/>
          </a:gradFill>
          <a:ln/>
        </p:spPr>
      </p:sp>
      <p:sp>
        <p:nvSpPr>
          <p:cNvPr id="10" name="Text 8"/>
          <p:cNvSpPr/>
          <p:nvPr/>
        </p:nvSpPr>
        <p:spPr>
          <a:xfrm>
            <a:off x="11639509" y="1714432"/>
            <a:ext cx="462206" cy="211417"/>
          </a:xfrm>
          <a:prstGeom prst="rect">
            <a:avLst/>
          </a:prstGeom>
          <a:noFill/>
          <a:ln/>
        </p:spPr>
        <p:txBody>
          <a:bodyPr wrap="square" lIns="25400" tIns="25400" rIns="25400" bIns="25400" rtlCol="0" anchor="t">
            <a:normAutofit/>
          </a:bodyPr>
          <a:lstStyle/>
          <a:p>
            <a:pPr algn="l" indent="0" marL="0">
              <a:lnSpc>
                <a:spcPct val="108216"/>
              </a:lnSpc>
              <a:buNone/>
            </a:pPr>
            <a:r>
              <a:rPr lang="en-US" sz="975" dirty="0">
                <a:solidFill>
                  <a:srgbClr val="4D4640"/>
                </a:solidFill>
                <a:latin typeface="Be Vietnam Pro" pitchFamily="34" charset="0"/>
                <a:ea typeface="Be Vietnam Pro" pitchFamily="34" charset="-122"/>
                <a:cs typeface="Be Vietnam Pro" pitchFamily="34" charset="-120"/>
              </a:rPr>
              <a:t>‹ Back</a:t>
            </a:r>
            <a:endParaRPr lang="en-US" sz="975" dirty="0"/>
          </a:p>
        </p:txBody>
      </p:sp>
      <p:sp>
        <p:nvSpPr>
          <p:cNvPr id="11" name="Text 9"/>
          <p:cNvSpPr/>
          <p:nvPr/>
        </p:nvSpPr>
        <p:spPr>
          <a:xfrm>
            <a:off x="14503165" y="1721062"/>
            <a:ext cx="508275" cy="198158"/>
          </a:xfrm>
          <a:prstGeom prst="rect">
            <a:avLst/>
          </a:prstGeom>
          <a:noFill/>
          <a:ln/>
        </p:spPr>
        <p:txBody>
          <a:bodyPr wrap="square" lIns="25400" tIns="25400" rIns="25400" bIns="25400" rtlCol="0" anchor="t">
            <a:normAutofit/>
          </a:bodyPr>
          <a:lstStyle/>
          <a:p>
            <a:pPr algn="l" indent="0" marL="0">
              <a:lnSpc>
                <a:spcPct val="105600"/>
              </a:lnSpc>
              <a:buNone/>
            </a:pPr>
            <a:r>
              <a:rPr lang="en-US" sz="900" spc="27" kern="0" dirty="0">
                <a:solidFill>
                  <a:srgbClr val="7A716A"/>
                </a:solidFill>
                <a:latin typeface="JetBrains Mono" pitchFamily="34" charset="0"/>
                <a:ea typeface="JetBrains Mono" pitchFamily="34" charset="-122"/>
                <a:cs typeface="JetBrains Mono" pitchFamily="34" charset="-120"/>
              </a:rPr>
              <a:t>GUELPH</a:t>
            </a:r>
            <a:endParaRPr lang="en-US" sz="900" dirty="0"/>
          </a:p>
        </p:txBody>
      </p:sp>
      <p:sp>
        <p:nvSpPr>
          <p:cNvPr id="12" name="Text 10"/>
          <p:cNvSpPr/>
          <p:nvPr/>
        </p:nvSpPr>
        <p:spPr>
          <a:xfrm>
            <a:off x="11639509" y="2021018"/>
            <a:ext cx="3625304" cy="176645"/>
          </a:xfrm>
          <a:prstGeom prst="rect">
            <a:avLst/>
          </a:prstGeom>
          <a:noFill/>
          <a:ln/>
        </p:spPr>
        <p:txBody>
          <a:bodyPr wrap="square" lIns="25400" tIns="25400" rIns="25400" bIns="25400" rtlCol="0" anchor="t">
            <a:normAutofit/>
          </a:bodyPr>
          <a:lstStyle/>
          <a:p>
            <a:pPr algn="l" indent="0" marL="0">
              <a:buNone/>
            </a:pPr>
            <a:r>
              <a:rPr lang="en-US" sz="825" spc="99" kern="0" dirty="0">
                <a:solidFill>
                  <a:srgbClr val="892218"/>
                </a:solidFill>
                <a:latin typeface="JetBrains Mono" pitchFamily="34" charset="0"/>
                <a:ea typeface="JetBrains Mono" pitchFamily="34" charset="-122"/>
                <a:cs typeface="JetBrains Mono" pitchFamily="34" charset="-120"/>
              </a:rPr>
              <a:t>TWO RACES ON YOUR BALLOT</a:t>
            </a:r>
            <a:endParaRPr lang="en-US" sz="825" dirty="0"/>
          </a:p>
        </p:txBody>
      </p:sp>
      <p:sp>
        <p:nvSpPr>
          <p:cNvPr id="13" name="Text 11"/>
          <p:cNvSpPr/>
          <p:nvPr/>
        </p:nvSpPr>
        <p:spPr>
          <a:xfrm>
            <a:off x="11639509" y="2245275"/>
            <a:ext cx="3625304" cy="368363"/>
          </a:xfrm>
          <a:prstGeom prst="rect">
            <a:avLst/>
          </a:prstGeom>
          <a:noFill/>
          <a:ln/>
        </p:spPr>
        <p:txBody>
          <a:bodyPr wrap="square" lIns="25400" tIns="25400" rIns="25400" bIns="25400" rtlCol="0" anchor="t">
            <a:normAutofit/>
          </a:bodyPr>
          <a:lstStyle/>
          <a:p>
            <a:pPr algn="l" indent="0" marL="0">
              <a:lnSpc>
                <a:spcPct val="89760"/>
              </a:lnSpc>
              <a:buNone/>
            </a:pPr>
            <a:r>
              <a:rPr lang="en-US" sz="2550" spc="-56" kern="0" dirty="0">
                <a:solidFill>
                  <a:srgbClr val="1A1714"/>
                </a:solidFill>
                <a:latin typeface="Georgia" pitchFamily="34" charset="0"/>
                <a:ea typeface="Georgia" pitchFamily="34" charset="-122"/>
                <a:cs typeface="Georgia" pitchFamily="34" charset="-120"/>
              </a:rPr>
              <a:t>You'll be voting twice</a:t>
            </a:r>
            <a:endParaRPr lang="en-US" sz="2550" dirty="0"/>
          </a:p>
        </p:txBody>
      </p:sp>
      <p:sp>
        <p:nvSpPr>
          <p:cNvPr id="14" name="Text 12"/>
          <p:cNvSpPr/>
          <p:nvPr/>
        </p:nvSpPr>
        <p:spPr>
          <a:xfrm>
            <a:off x="11639509" y="2670788"/>
            <a:ext cx="3394603" cy="479984"/>
          </a:xfrm>
          <a:prstGeom prst="rect">
            <a:avLst/>
          </a:prstGeom>
          <a:noFill/>
          <a:ln/>
        </p:spPr>
        <p:txBody>
          <a:bodyPr wrap="square" lIns="25400" tIns="25400" rIns="25400" bIns="25400" rtlCol="0" anchor="t">
            <a:normAutofit/>
          </a:bodyPr>
          <a:lstStyle/>
          <a:p>
            <a:pPr algn="l" indent="0" marL="0">
              <a:lnSpc>
                <a:spcPct val="116000"/>
              </a:lnSpc>
              <a:buNone/>
            </a:pPr>
            <a:r>
              <a:rPr lang="en-US" sz="1200" dirty="0">
                <a:solidFill>
                  <a:srgbClr val="4D4640"/>
                </a:solidFill>
                <a:latin typeface="Be Vietnam Pro" pitchFamily="34" charset="0"/>
                <a:ea typeface="Be Vietnam Pro" pitchFamily="34" charset="-122"/>
                <a:cs typeface="Be Vietnam Pro" pitchFamily="34" charset="-120"/>
              </a:rPr>
              <a:t>One vote for your ward councillor, one for mayor. Pick a race to start.</a:t>
            </a:r>
            <a:endParaRPr lang="en-US" sz="1200" dirty="0"/>
          </a:p>
        </p:txBody>
      </p:sp>
      <p:sp>
        <p:nvSpPr>
          <p:cNvPr id="15" name="Shape 13"/>
          <p:cNvSpPr/>
          <p:nvPr/>
        </p:nvSpPr>
        <p:spPr>
          <a:xfrm>
            <a:off x="11639509" y="3322182"/>
            <a:ext cx="3295731" cy="856303"/>
          </a:xfrm>
          <a:prstGeom prst="roundRect">
            <a:avLst>
              <a:gd name="adj" fmla="val 15573"/>
            </a:avLst>
          </a:prstGeom>
          <a:solidFill>
            <a:srgbClr val="FBF7EE"/>
          </a:solidFill>
          <a:ln w="8659">
            <a:solidFill>
              <a:srgbClr val="D8CFB9"/>
            </a:solidFill>
            <a:prstDash val="solid"/>
          </a:ln>
        </p:spPr>
      </p:sp>
      <p:sp>
        <p:nvSpPr>
          <p:cNvPr id="16" name="Shape 14"/>
          <p:cNvSpPr/>
          <p:nvPr/>
        </p:nvSpPr>
        <p:spPr>
          <a:xfrm>
            <a:off x="11800513" y="3540756"/>
            <a:ext cx="419086" cy="419086"/>
          </a:xfrm>
          <a:prstGeom prst="roundRect">
            <a:avLst>
              <a:gd name="adj" fmla="val 27274"/>
            </a:avLst>
          </a:prstGeom>
          <a:solidFill>
            <a:srgbClr val="F3EDDC"/>
          </a:solidFill>
          <a:ln/>
        </p:spPr>
      </p:sp>
      <p:sp>
        <p:nvSpPr>
          <p:cNvPr id="17" name="Text 15"/>
          <p:cNvSpPr/>
          <p:nvPr/>
        </p:nvSpPr>
        <p:spPr>
          <a:xfrm>
            <a:off x="11762413" y="3540756"/>
            <a:ext cx="495286" cy="457186"/>
          </a:xfrm>
          <a:prstGeom prst="rect">
            <a:avLst/>
          </a:prstGeom>
          <a:noFill/>
          <a:ln/>
        </p:spPr>
        <p:txBody>
          <a:bodyPr wrap="square" lIns="25400" tIns="25400" rIns="25400" bIns="25400" rtlCol="0" anchor="ctr">
            <a:normAutofit/>
          </a:bodyPr>
          <a:lstStyle/>
          <a:p>
            <a:pPr algn="ctr" indent="0" marL="0">
              <a:buNone/>
            </a:pPr>
            <a:r>
              <a:rPr lang="en-US" sz="1275" dirty="0">
                <a:solidFill>
                  <a:srgbClr val="4D4640"/>
                </a:solidFill>
                <a:latin typeface="Georgia" pitchFamily="34" charset="0"/>
                <a:ea typeface="Georgia" pitchFamily="34" charset="-122"/>
                <a:cs typeface="Georgia" pitchFamily="34" charset="-120"/>
              </a:rPr>
              <a:t>W4</a:t>
            </a:r>
            <a:endParaRPr lang="en-US" sz="1275" dirty="0"/>
          </a:p>
        </p:txBody>
      </p:sp>
      <p:sp>
        <p:nvSpPr>
          <p:cNvPr id="18" name="Text 16"/>
          <p:cNvSpPr/>
          <p:nvPr/>
        </p:nvSpPr>
        <p:spPr>
          <a:xfrm>
            <a:off x="12352937" y="3483187"/>
            <a:ext cx="2432298" cy="240777"/>
          </a:xfrm>
          <a:prstGeom prst="rect">
            <a:avLst/>
          </a:prstGeom>
          <a:noFill/>
          <a:ln/>
        </p:spPr>
        <p:txBody>
          <a:bodyPr wrap="square" lIns="25400" tIns="25400" rIns="25400" bIns="25400" rtlCol="0" anchor="t">
            <a:normAutofit/>
          </a:bodyPr>
          <a:lstStyle/>
          <a:p>
            <a:pPr algn="l" indent="0" marL="0">
              <a:lnSpc>
                <a:spcPct val="99609"/>
              </a:lnSpc>
              <a:buNone/>
            </a:pPr>
            <a:r>
              <a:rPr lang="en-US" sz="1425" spc="-14" kern="0" dirty="0">
                <a:solidFill>
                  <a:srgbClr val="1A1714"/>
                </a:solidFill>
                <a:latin typeface="Georgia" pitchFamily="34" charset="0"/>
                <a:ea typeface="Georgia" pitchFamily="34" charset="-122"/>
                <a:cs typeface="Georgia" pitchFamily="34" charset="-120"/>
              </a:rPr>
              <a:t>Ward 4 Councillor</a:t>
            </a:r>
            <a:endParaRPr lang="en-US" sz="1425" dirty="0"/>
          </a:p>
        </p:txBody>
      </p:sp>
      <p:sp>
        <p:nvSpPr>
          <p:cNvPr id="19" name="Text 17"/>
          <p:cNvSpPr/>
          <p:nvPr/>
        </p:nvSpPr>
        <p:spPr>
          <a:xfrm>
            <a:off x="12352937" y="3714412"/>
            <a:ext cx="2287380" cy="341168"/>
          </a:xfrm>
          <a:prstGeom prst="rect">
            <a:avLst/>
          </a:prstGeom>
          <a:noFill/>
          <a:ln/>
        </p:spPr>
        <p:txBody>
          <a:bodyPr wrap="square" lIns="25400" tIns="25400" rIns="25400" bIns="25400" rtlCol="0" anchor="t">
            <a:normAutofit/>
          </a:bodyPr>
          <a:lstStyle/>
          <a:p>
            <a:pPr algn="l" indent="0" marL="0">
              <a:buNone/>
            </a:pPr>
            <a:r>
              <a:rPr lang="en-US" sz="938" dirty="0">
                <a:solidFill>
                  <a:srgbClr val="7A716A"/>
                </a:solidFill>
                <a:latin typeface="Be Vietnam Pro" pitchFamily="34" charset="0"/>
                <a:ea typeface="Be Vietnam Pro" pitchFamily="34" charset="-122"/>
                <a:cs typeface="Be Vietnam Pro" pitchFamily="34" charset="-120"/>
              </a:rPr>
              <a:t>9 candidates · 4 have submitted a profile</a:t>
            </a:r>
            <a:endParaRPr lang="en-US" sz="938" dirty="0"/>
          </a:p>
        </p:txBody>
      </p:sp>
      <p:sp>
        <p:nvSpPr>
          <p:cNvPr id="20" name="Text 18"/>
          <p:cNvSpPr/>
          <p:nvPr/>
        </p:nvSpPr>
        <p:spPr>
          <a:xfrm>
            <a:off x="14697453" y="3629106"/>
            <a:ext cx="152982" cy="280555"/>
          </a:xfrm>
          <a:prstGeom prst="rect">
            <a:avLst/>
          </a:prstGeom>
          <a:noFill/>
          <a:ln/>
        </p:spPr>
        <p:txBody>
          <a:bodyPr wrap="square" lIns="25400" tIns="25400" rIns="25400" bIns="25400" rtlCol="0" anchor="t">
            <a:normAutofit/>
          </a:bodyPr>
          <a:lstStyle/>
          <a:p>
            <a:pPr algn="l" indent="0" marL="0">
              <a:buNone/>
            </a:pPr>
            <a:r>
              <a:rPr lang="en-US" sz="1500" dirty="0">
                <a:solidFill>
                  <a:srgbClr val="7A716A"/>
                </a:solidFill>
                <a:latin typeface="Be Vietnam Pro" pitchFamily="34" charset="0"/>
                <a:ea typeface="Be Vietnam Pro" pitchFamily="34" charset="-122"/>
                <a:cs typeface="Be Vietnam Pro" pitchFamily="34" charset="-120"/>
              </a:rPr>
              <a:t>›</a:t>
            </a:r>
            <a:endParaRPr lang="en-US" sz="1500" dirty="0"/>
          </a:p>
        </p:txBody>
      </p:sp>
      <p:sp>
        <p:nvSpPr>
          <p:cNvPr id="21" name="Shape 19"/>
          <p:cNvSpPr/>
          <p:nvPr/>
        </p:nvSpPr>
        <p:spPr>
          <a:xfrm>
            <a:off x="11639509" y="4292744"/>
            <a:ext cx="3295731" cy="856303"/>
          </a:xfrm>
          <a:prstGeom prst="roundRect">
            <a:avLst>
              <a:gd name="adj" fmla="val 15573"/>
            </a:avLst>
          </a:prstGeom>
          <a:solidFill>
            <a:srgbClr val="FBF7EE"/>
          </a:solidFill>
          <a:ln w="8659">
            <a:solidFill>
              <a:srgbClr val="D8CFB9"/>
            </a:solidFill>
            <a:prstDash val="solid"/>
          </a:ln>
        </p:spPr>
      </p:sp>
      <p:sp>
        <p:nvSpPr>
          <p:cNvPr id="22" name="Shape 20"/>
          <p:cNvSpPr/>
          <p:nvPr/>
        </p:nvSpPr>
        <p:spPr>
          <a:xfrm>
            <a:off x="11800513" y="4511319"/>
            <a:ext cx="419086" cy="419086"/>
          </a:xfrm>
          <a:prstGeom prst="roundRect">
            <a:avLst>
              <a:gd name="adj" fmla="val 27274"/>
            </a:avLst>
          </a:prstGeom>
          <a:solidFill>
            <a:srgbClr val="F3EDDC"/>
          </a:solidFill>
          <a:ln/>
        </p:spPr>
      </p:sp>
      <p:sp>
        <p:nvSpPr>
          <p:cNvPr id="23" name="Text 21"/>
          <p:cNvSpPr/>
          <p:nvPr/>
        </p:nvSpPr>
        <p:spPr>
          <a:xfrm>
            <a:off x="11762413" y="4511319"/>
            <a:ext cx="495286" cy="457186"/>
          </a:xfrm>
          <a:prstGeom prst="rect">
            <a:avLst/>
          </a:prstGeom>
          <a:noFill/>
          <a:ln/>
        </p:spPr>
        <p:txBody>
          <a:bodyPr wrap="square" lIns="25400" tIns="25400" rIns="25400" bIns="25400" rtlCol="0" anchor="ctr">
            <a:normAutofit/>
          </a:bodyPr>
          <a:lstStyle/>
          <a:p>
            <a:pPr algn="ctr" indent="0" marL="0">
              <a:buNone/>
            </a:pPr>
            <a:r>
              <a:rPr lang="en-US" sz="1275" dirty="0">
                <a:solidFill>
                  <a:srgbClr val="4D4640"/>
                </a:solidFill>
                <a:latin typeface="Georgia" pitchFamily="34" charset="0"/>
                <a:ea typeface="Georgia" pitchFamily="34" charset="-122"/>
                <a:cs typeface="Georgia" pitchFamily="34" charset="-120"/>
              </a:rPr>
              <a:t>MY</a:t>
            </a:r>
            <a:endParaRPr lang="en-US" sz="1275" dirty="0"/>
          </a:p>
        </p:txBody>
      </p:sp>
      <p:sp>
        <p:nvSpPr>
          <p:cNvPr id="24" name="Text 22"/>
          <p:cNvSpPr/>
          <p:nvPr/>
        </p:nvSpPr>
        <p:spPr>
          <a:xfrm>
            <a:off x="12352937" y="4453749"/>
            <a:ext cx="2432298" cy="240777"/>
          </a:xfrm>
          <a:prstGeom prst="rect">
            <a:avLst/>
          </a:prstGeom>
          <a:noFill/>
          <a:ln/>
        </p:spPr>
        <p:txBody>
          <a:bodyPr wrap="square" lIns="25400" tIns="25400" rIns="25400" bIns="25400" rtlCol="0" anchor="t">
            <a:normAutofit/>
          </a:bodyPr>
          <a:lstStyle/>
          <a:p>
            <a:pPr algn="l" indent="0" marL="0">
              <a:lnSpc>
                <a:spcPct val="99609"/>
              </a:lnSpc>
              <a:buNone/>
            </a:pPr>
            <a:r>
              <a:rPr lang="en-US" sz="1425" spc="-14" kern="0" dirty="0">
                <a:solidFill>
                  <a:srgbClr val="1A1714"/>
                </a:solidFill>
                <a:latin typeface="Georgia" pitchFamily="34" charset="0"/>
                <a:ea typeface="Georgia" pitchFamily="34" charset="-122"/>
                <a:cs typeface="Georgia" pitchFamily="34" charset="-120"/>
              </a:rPr>
              <a:t>Mayor of Guelph</a:t>
            </a:r>
            <a:endParaRPr lang="en-US" sz="1425" dirty="0"/>
          </a:p>
        </p:txBody>
      </p:sp>
      <p:sp>
        <p:nvSpPr>
          <p:cNvPr id="25" name="Text 23"/>
          <p:cNvSpPr/>
          <p:nvPr/>
        </p:nvSpPr>
        <p:spPr>
          <a:xfrm>
            <a:off x="12352937" y="4684974"/>
            <a:ext cx="2287380" cy="341168"/>
          </a:xfrm>
          <a:prstGeom prst="rect">
            <a:avLst/>
          </a:prstGeom>
          <a:noFill/>
          <a:ln/>
        </p:spPr>
        <p:txBody>
          <a:bodyPr wrap="square" lIns="25400" tIns="25400" rIns="25400" bIns="25400" rtlCol="0" anchor="t">
            <a:normAutofit/>
          </a:bodyPr>
          <a:lstStyle/>
          <a:p>
            <a:pPr algn="l" indent="0" marL="0">
              <a:buNone/>
            </a:pPr>
            <a:r>
              <a:rPr lang="en-US" sz="938" dirty="0">
                <a:solidFill>
                  <a:srgbClr val="7A716A"/>
                </a:solidFill>
                <a:latin typeface="Be Vietnam Pro" pitchFamily="34" charset="0"/>
                <a:ea typeface="Be Vietnam Pro" pitchFamily="34" charset="-122"/>
                <a:cs typeface="Be Vietnam Pro" pitchFamily="34" charset="-120"/>
              </a:rPr>
              <a:t>5 candidates · 3 have submitted a profile</a:t>
            </a:r>
            <a:endParaRPr lang="en-US" sz="938" dirty="0"/>
          </a:p>
        </p:txBody>
      </p:sp>
      <p:sp>
        <p:nvSpPr>
          <p:cNvPr id="26" name="Text 24"/>
          <p:cNvSpPr/>
          <p:nvPr/>
        </p:nvSpPr>
        <p:spPr>
          <a:xfrm>
            <a:off x="14697453" y="4599668"/>
            <a:ext cx="152982" cy="280555"/>
          </a:xfrm>
          <a:prstGeom prst="rect">
            <a:avLst/>
          </a:prstGeom>
          <a:noFill/>
          <a:ln/>
        </p:spPr>
        <p:txBody>
          <a:bodyPr wrap="square" lIns="25400" tIns="25400" rIns="25400" bIns="25400" rtlCol="0" anchor="t">
            <a:normAutofit/>
          </a:bodyPr>
          <a:lstStyle/>
          <a:p>
            <a:pPr algn="l" indent="0" marL="0">
              <a:buNone/>
            </a:pPr>
            <a:r>
              <a:rPr lang="en-US" sz="1500" dirty="0">
                <a:solidFill>
                  <a:srgbClr val="7A716A"/>
                </a:solidFill>
                <a:latin typeface="Be Vietnam Pro" pitchFamily="34" charset="0"/>
                <a:ea typeface="Be Vietnam Pro" pitchFamily="34" charset="-122"/>
                <a:cs typeface="Be Vietnam Pro" pitchFamily="34" charset="-120"/>
              </a:rPr>
              <a:t>›</a:t>
            </a:r>
            <a:endParaRPr lang="en-US" sz="1500" dirty="0"/>
          </a:p>
        </p:txBody>
      </p:sp>
      <p:sp>
        <p:nvSpPr>
          <p:cNvPr id="27" name="Shape 25"/>
          <p:cNvSpPr/>
          <p:nvPr/>
        </p:nvSpPr>
        <p:spPr>
          <a:xfrm>
            <a:off x="11639509" y="5358557"/>
            <a:ext cx="3295731" cy="879101"/>
          </a:xfrm>
          <a:prstGeom prst="roundRect">
            <a:avLst>
              <a:gd name="adj" fmla="val 15169"/>
            </a:avLst>
          </a:prstGeom>
          <a:solidFill>
            <a:srgbClr val="F3EDDC"/>
          </a:solidFill>
          <a:ln w="8659">
            <a:solidFill>
              <a:srgbClr val="E6DFC9"/>
            </a:solidFill>
            <a:prstDash val="solid"/>
          </a:ln>
        </p:spPr>
      </p:sp>
      <p:sp>
        <p:nvSpPr>
          <p:cNvPr id="28" name="Text 26"/>
          <p:cNvSpPr/>
          <p:nvPr/>
        </p:nvSpPr>
        <p:spPr>
          <a:xfrm>
            <a:off x="11800513" y="5519561"/>
            <a:ext cx="3062933" cy="595191"/>
          </a:xfrm>
          <a:prstGeom prst="rect">
            <a:avLst/>
          </a:prstGeom>
          <a:noFill/>
          <a:ln/>
        </p:spPr>
        <p:txBody>
          <a:bodyPr wrap="square" lIns="25400" tIns="25400" rIns="25400" bIns="25400" rtlCol="0" anchor="t">
            <a:normAutofit/>
          </a:bodyPr>
          <a:lstStyle/>
          <a:p>
            <a:pPr algn="l" indent="0" marL="0">
              <a:lnSpc>
                <a:spcPct val="115946"/>
              </a:lnSpc>
              <a:buNone/>
            </a:pPr>
            <a:r>
              <a:rPr lang="en-US" sz="975" dirty="0">
                <a:solidFill>
                  <a:srgbClr val="4D4640"/>
                </a:solidFill>
                <a:latin typeface="Be Vietnam Pro" pitchFamily="34" charset="0"/>
                <a:ea typeface="Be Vietnam Pro" pitchFamily="34" charset="-122"/>
                <a:cs typeface="Be Vietnam Pro" pitchFamily="34" charset="-120"/>
              </a:rPr>
              <a:t>Profiles are listed alphabetically by last name. Parliament doesn't rank, feature, or recommend candidates.</a:t>
            </a:r>
            <a:endParaRPr lang="en-US" sz="9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1047750" y="952500"/>
            <a:ext cx="2899767" cy="315191"/>
          </a:xfrm>
          <a:prstGeom prst="rect">
            <a:avLst/>
          </a:prstGeom>
          <a:noFill/>
          <a:ln/>
        </p:spPr>
        <p:txBody>
          <a:bodyPr wrap="square" lIns="25400" tIns="25400" rIns="25400" bIns="25400" rtlCol="0" anchor="t">
            <a:normAutofit/>
          </a:bodyPr>
          <a:lstStyle/>
          <a:p>
            <a:pPr algn="l" indent="0" marL="0">
              <a:buNone/>
            </a:pPr>
            <a:r>
              <a:rPr lang="en-US" sz="1650" spc="231" kern="0" dirty="0">
                <a:solidFill>
                  <a:srgbClr val="7A716A"/>
                </a:solidFill>
                <a:latin typeface="JetBrains Mono" pitchFamily="34" charset="0"/>
                <a:ea typeface="JetBrains Mono" pitchFamily="34" charset="-122"/>
                <a:cs typeface="JetBrains Mono" pitchFamily="34" charset="-120"/>
              </a:rPr>
              <a:t>03 · YOUR PROFILE</a:t>
            </a:r>
            <a:endParaRPr lang="en-US" sz="1650" dirty="0"/>
          </a:p>
        </p:txBody>
      </p:sp>
      <p:sp>
        <p:nvSpPr>
          <p:cNvPr id="3" name="Text 1"/>
          <p:cNvSpPr/>
          <p:nvPr/>
        </p:nvSpPr>
        <p:spPr>
          <a:xfrm>
            <a:off x="1047750" y="1619250"/>
            <a:ext cx="5494020" cy="960023"/>
          </a:xfrm>
          <a:prstGeom prst="rect">
            <a:avLst/>
          </a:prstGeom>
          <a:noFill/>
          <a:ln/>
        </p:spPr>
        <p:txBody>
          <a:bodyPr wrap="square" lIns="25400" tIns="25400" rIns="25400" bIns="25400" rtlCol="0" anchor="t">
            <a:normAutofit/>
          </a:bodyPr>
          <a:lstStyle/>
          <a:p>
            <a:pPr algn="l" indent="0" marL="0">
              <a:lnSpc>
                <a:spcPct val="96800"/>
              </a:lnSpc>
              <a:buNone/>
            </a:pPr>
            <a:r>
              <a:rPr lang="en-US" sz="3300" spc="-49" kern="0" dirty="0">
                <a:solidFill>
                  <a:srgbClr val="1A1714"/>
                </a:solidFill>
                <a:latin typeface="Georgia" pitchFamily="34" charset="0"/>
                <a:ea typeface="Georgia" pitchFamily="34" charset="-122"/>
                <a:cs typeface="Georgia" pitchFamily="34" charset="-120"/>
              </a:rPr>
              <a:t>Your video, full screen, with your name and link</a:t>
            </a:r>
            <a:endParaRPr lang="en-US" sz="3300" dirty="0"/>
          </a:p>
        </p:txBody>
      </p:sp>
      <p:sp>
        <p:nvSpPr>
          <p:cNvPr id="4" name="Text 2"/>
          <p:cNvSpPr/>
          <p:nvPr/>
        </p:nvSpPr>
        <p:spPr>
          <a:xfrm>
            <a:off x="1047750" y="3810000"/>
            <a:ext cx="5101590" cy="2104781"/>
          </a:xfrm>
          <a:prstGeom prst="rect">
            <a:avLst/>
          </a:prstGeom>
          <a:noFill/>
          <a:ln/>
        </p:spPr>
        <p:txBody>
          <a:bodyPr wrap="square" lIns="25400" tIns="25400" rIns="25400" bIns="25400" rtlCol="0" anchor="t">
            <a:normAutofit/>
          </a:bodyPr>
          <a:lstStyle/>
          <a:p>
            <a:pPr algn="l" indent="0" marL="0">
              <a:lnSpc>
                <a:spcPct val="122410"/>
              </a:lnSpc>
              <a:buNone/>
            </a:pPr>
            <a:r>
              <a:rPr lang="en-US" sz="2100" dirty="0">
                <a:solidFill>
                  <a:srgbClr val="4D4640"/>
                </a:solidFill>
                <a:latin typeface="Be Vietnam Pro" pitchFamily="34" charset="0"/>
                <a:ea typeface="Be Vietnam Pro" pitchFamily="34" charset="-122"/>
                <a:cs typeface="Be Vietnam Pro" pitchFamily="34" charset="-120"/>
              </a:rPr>
              <a:t>Nothing competes with the video. Your name sits in Parliament's editorial type, your website is the one action, and the ticks at the top show where you sit in the stack.</a:t>
            </a:r>
            <a:endParaRPr lang="en-US" sz="2100" dirty="0"/>
          </a:p>
        </p:txBody>
      </p:sp>
      <p:sp>
        <p:nvSpPr>
          <p:cNvPr id="5" name="Shape 3"/>
          <p:cNvSpPr/>
          <p:nvPr/>
        </p:nvSpPr>
        <p:spPr>
          <a:xfrm>
            <a:off x="11430000" y="1238250"/>
            <a:ext cx="3714750" cy="7810500"/>
          </a:xfrm>
          <a:prstGeom prst="roundRect">
            <a:avLst>
              <a:gd name="adj" fmla="val 11282"/>
            </a:avLst>
          </a:prstGeom>
          <a:solidFill>
            <a:srgbClr val="100E0C"/>
          </a:solidFill>
          <a:ln/>
          <a:effectLst>
            <a:outerShdw sx="100000" sy="100000" kx="0" ky="0" algn="bl" rotWithShape="0" blurRad="171450" dist="38100" dir="5400000">
              <a:srgbClr val="1A1714">
                <a:alpha val="8000"/>
              </a:srgbClr>
            </a:outerShdw>
          </a:effectLst>
        </p:spPr>
      </p:sp>
      <p:sp>
        <p:nvSpPr>
          <p:cNvPr id="6" name="Shape 4"/>
          <p:cNvSpPr/>
          <p:nvPr/>
        </p:nvSpPr>
        <p:spPr>
          <a:xfrm>
            <a:off x="12715875" y="1333500"/>
            <a:ext cx="1143000" cy="266673"/>
          </a:xfrm>
          <a:prstGeom prst="roundRect">
            <a:avLst>
              <a:gd name="adj" fmla="val 50000"/>
            </a:avLst>
          </a:prstGeom>
          <a:solidFill>
            <a:srgbClr val="1A1714"/>
          </a:solidFill>
          <a:ln/>
        </p:spPr>
      </p:sp>
      <p:sp>
        <p:nvSpPr>
          <p:cNvPr id="7" name="Shape 5"/>
          <p:cNvSpPr/>
          <p:nvPr/>
        </p:nvSpPr>
        <p:spPr>
          <a:xfrm>
            <a:off x="11430000" y="1238250"/>
            <a:ext cx="3714750" cy="1809750"/>
          </a:xfrm>
          <a:prstGeom prst="rect">
            <a:avLst/>
          </a:prstGeom>
          <a:gradFill rotWithShape="1">
            <a:gsLst>
              <a:gs pos="0">
                <a:srgbClr val="080706">
                  <a:alpha val="72000"/>
                </a:srgbClr>
              </a:gs>
              <a:gs pos="100000">
                <a:srgbClr val="080706">
                  <a:alpha val="0"/>
                </a:srgbClr>
              </a:gs>
            </a:gsLst>
            <a:lin ang="5400000" scaled="0"/>
          </a:gradFill>
          <a:ln/>
        </p:spPr>
      </p:sp>
      <p:sp>
        <p:nvSpPr>
          <p:cNvPr id="8" name="Shape 6"/>
          <p:cNvSpPr/>
          <p:nvPr/>
        </p:nvSpPr>
        <p:spPr>
          <a:xfrm>
            <a:off x="11430000" y="5810250"/>
            <a:ext cx="3714750" cy="3238500"/>
          </a:xfrm>
          <a:prstGeom prst="rect">
            <a:avLst/>
          </a:prstGeom>
          <a:gradFill rotWithShape="1">
            <a:gsLst>
              <a:gs pos="0">
                <a:srgbClr val="080706">
                  <a:alpha val="0"/>
                </a:srgbClr>
              </a:gs>
              <a:gs pos="62000">
                <a:srgbClr val="080706">
                  <a:alpha val="86000"/>
                </a:srgbClr>
              </a:gs>
              <a:gs pos="100000">
                <a:srgbClr val="080706">
                  <a:alpha val="94000"/>
                </a:srgbClr>
              </a:gs>
            </a:gsLst>
            <a:lin ang="5400000" scaled="0"/>
          </a:gradFill>
          <a:ln/>
        </p:spPr>
      </p:sp>
      <p:sp>
        <p:nvSpPr>
          <p:cNvPr id="9" name="Text 7"/>
          <p:cNvSpPr/>
          <p:nvPr/>
        </p:nvSpPr>
        <p:spPr>
          <a:xfrm>
            <a:off x="11696672" y="1430035"/>
            <a:ext cx="362018" cy="206952"/>
          </a:xfrm>
          <a:prstGeom prst="rect">
            <a:avLst/>
          </a:prstGeom>
          <a:noFill/>
          <a:ln/>
        </p:spPr>
        <p:txBody>
          <a:bodyPr wrap="square" lIns="25400" tIns="25400" rIns="25400" bIns="25400" rtlCol="0" anchor="t">
            <a:normAutofit/>
          </a:bodyPr>
          <a:lstStyle/>
          <a:p>
            <a:pPr algn="l" indent="0" marL="0">
              <a:buNone/>
            </a:pPr>
            <a:r>
              <a:rPr lang="en-US" sz="1050" b="1" dirty="0">
                <a:solidFill>
                  <a:srgbClr val="FFFFFF">
                    <a:alpha val="92000"/>
                  </a:srgbClr>
                </a:solidFill>
                <a:latin typeface="Be Vietnam Pro" pitchFamily="34" charset="0"/>
                <a:ea typeface="Be Vietnam Pro" pitchFamily="34" charset="-122"/>
                <a:cs typeface="Be Vietnam Pro" pitchFamily="34" charset="-120"/>
              </a:rPr>
              <a:t>9:41</a:t>
            </a:r>
            <a:endParaRPr lang="en-US" sz="1050" dirty="0"/>
          </a:p>
        </p:txBody>
      </p:sp>
      <p:sp>
        <p:nvSpPr>
          <p:cNvPr id="10" name="Text 8"/>
          <p:cNvSpPr/>
          <p:nvPr/>
        </p:nvSpPr>
        <p:spPr>
          <a:xfrm>
            <a:off x="14619048" y="1443024"/>
            <a:ext cx="335229" cy="180975"/>
          </a:xfrm>
          <a:prstGeom prst="rect">
            <a:avLst/>
          </a:prstGeom>
          <a:noFill/>
          <a:ln/>
        </p:spPr>
        <p:txBody>
          <a:bodyPr wrap="square" lIns="25400" tIns="25400" rIns="25400" bIns="25400" rtlCol="0" anchor="ctr">
            <a:normAutofit/>
          </a:bodyPr>
          <a:lstStyle/>
          <a:p>
            <a:pPr algn="l" indent="0" marL="0">
              <a:buNone/>
            </a:pPr>
            <a:r>
              <a:rPr lang="en-US" sz="900" b="1" dirty="0">
                <a:solidFill>
                  <a:srgbClr val="FFFFFF">
                    <a:alpha val="92000"/>
                  </a:srgbClr>
                </a:solidFill>
                <a:latin typeface="Be Vietnam Pro" pitchFamily="34" charset="0"/>
                <a:ea typeface="Be Vietnam Pro" pitchFamily="34" charset="-122"/>
                <a:cs typeface="Be Vietnam Pro" pitchFamily="34" charset="-120"/>
              </a:rPr>
              <a:t>◍ ◗ ▮</a:t>
            </a:r>
            <a:endParaRPr lang="en-US" sz="900" dirty="0"/>
          </a:p>
        </p:txBody>
      </p:sp>
      <p:sp>
        <p:nvSpPr>
          <p:cNvPr id="11" name="Shape 9"/>
          <p:cNvSpPr/>
          <p:nvPr/>
        </p:nvSpPr>
        <p:spPr>
          <a:xfrm>
            <a:off x="11601422" y="1733509"/>
            <a:ext cx="814360" cy="23813"/>
          </a:xfrm>
          <a:prstGeom prst="roundRect">
            <a:avLst>
              <a:gd name="adj" fmla="val 49999"/>
            </a:avLst>
          </a:prstGeom>
          <a:solidFill>
            <a:srgbClr val="FFFFFF">
              <a:alpha val="90000"/>
            </a:srgbClr>
          </a:solidFill>
          <a:ln/>
        </p:spPr>
      </p:sp>
      <p:sp>
        <p:nvSpPr>
          <p:cNvPr id="12" name="Shape 10"/>
          <p:cNvSpPr/>
          <p:nvPr/>
        </p:nvSpPr>
        <p:spPr>
          <a:xfrm>
            <a:off x="12453869" y="1733509"/>
            <a:ext cx="814428" cy="23813"/>
          </a:xfrm>
          <a:prstGeom prst="roundRect">
            <a:avLst>
              <a:gd name="adj" fmla="val 49999"/>
            </a:avLst>
          </a:prstGeom>
          <a:solidFill>
            <a:srgbClr val="FFFFFF">
              <a:alpha val="28000"/>
            </a:srgbClr>
          </a:solidFill>
          <a:ln/>
        </p:spPr>
      </p:sp>
      <p:sp>
        <p:nvSpPr>
          <p:cNvPr id="13" name="Shape 11"/>
          <p:cNvSpPr/>
          <p:nvPr/>
        </p:nvSpPr>
        <p:spPr>
          <a:xfrm>
            <a:off x="13306384" y="1733509"/>
            <a:ext cx="814428" cy="23813"/>
          </a:xfrm>
          <a:prstGeom prst="roundRect">
            <a:avLst>
              <a:gd name="adj" fmla="val 49999"/>
            </a:avLst>
          </a:prstGeom>
          <a:solidFill>
            <a:srgbClr val="FFFFFF">
              <a:alpha val="28000"/>
            </a:srgbClr>
          </a:solidFill>
          <a:ln/>
        </p:spPr>
      </p:sp>
      <p:sp>
        <p:nvSpPr>
          <p:cNvPr id="14" name="Shape 12"/>
          <p:cNvSpPr/>
          <p:nvPr/>
        </p:nvSpPr>
        <p:spPr>
          <a:xfrm>
            <a:off x="14158899" y="1733509"/>
            <a:ext cx="814428" cy="23813"/>
          </a:xfrm>
          <a:prstGeom prst="roundRect">
            <a:avLst>
              <a:gd name="adj" fmla="val 49999"/>
            </a:avLst>
          </a:prstGeom>
          <a:solidFill>
            <a:srgbClr val="FFFFFF">
              <a:alpha val="28000"/>
            </a:srgbClr>
          </a:solidFill>
          <a:ln/>
        </p:spPr>
      </p:sp>
      <p:sp>
        <p:nvSpPr>
          <p:cNvPr id="15" name="Text 13"/>
          <p:cNvSpPr/>
          <p:nvPr/>
        </p:nvSpPr>
        <p:spPr>
          <a:xfrm>
            <a:off x="11639509" y="1940516"/>
            <a:ext cx="1576685" cy="176645"/>
          </a:xfrm>
          <a:prstGeom prst="rect">
            <a:avLst/>
          </a:prstGeom>
          <a:noFill/>
          <a:ln/>
        </p:spPr>
        <p:txBody>
          <a:bodyPr wrap="square" lIns="25400" tIns="25400" rIns="25400" bIns="25400" rtlCol="0" anchor="t">
            <a:normAutofit/>
          </a:bodyPr>
          <a:lstStyle/>
          <a:p>
            <a:pPr algn="l" indent="0" marL="0">
              <a:buNone/>
            </a:pPr>
            <a:r>
              <a:rPr lang="en-US" sz="825" spc="99" kern="0" dirty="0">
                <a:solidFill>
                  <a:srgbClr val="FFFFFF">
                    <a:alpha val="72000"/>
                  </a:srgbClr>
                </a:solidFill>
                <a:latin typeface="JetBrains Mono" pitchFamily="34" charset="0"/>
                <a:ea typeface="JetBrains Mono" pitchFamily="34" charset="-122"/>
                <a:cs typeface="JetBrains Mono" pitchFamily="34" charset="-120"/>
              </a:rPr>
              <a:t>WARD 4 · COUNCILLOR</a:t>
            </a:r>
            <a:endParaRPr lang="en-US" sz="825" dirty="0"/>
          </a:p>
        </p:txBody>
      </p:sp>
      <p:sp>
        <p:nvSpPr>
          <p:cNvPr id="16" name="Text 14"/>
          <p:cNvSpPr/>
          <p:nvPr/>
        </p:nvSpPr>
        <p:spPr>
          <a:xfrm>
            <a:off x="14775453" y="1905000"/>
            <a:ext cx="235987" cy="247677"/>
          </a:xfrm>
          <a:prstGeom prst="rect">
            <a:avLst/>
          </a:prstGeom>
          <a:noFill/>
          <a:ln/>
        </p:spPr>
        <p:txBody>
          <a:bodyPr wrap="square" lIns="25400" tIns="25400" rIns="25400" bIns="25400" rtlCol="0" anchor="t">
            <a:normAutofit/>
          </a:bodyPr>
          <a:lstStyle/>
          <a:p>
            <a:pPr algn="l" indent="0" marL="0">
              <a:lnSpc>
                <a:spcPct val="79344"/>
              </a:lnSpc>
              <a:buNone/>
            </a:pPr>
            <a:r>
              <a:rPr lang="en-US" sz="1650" dirty="0">
                <a:solidFill>
                  <a:srgbClr val="FFFFFF">
                    <a:alpha val="85000"/>
                  </a:srgbClr>
                </a:solidFill>
                <a:latin typeface="Be Vietnam Pro" pitchFamily="34" charset="0"/>
                <a:ea typeface="Be Vietnam Pro" pitchFamily="34" charset="-122"/>
                <a:cs typeface="Be Vietnam Pro" pitchFamily="34" charset="-120"/>
              </a:rPr>
              <a:t>✕</a:t>
            </a:r>
            <a:endParaRPr lang="en-US" sz="1650" dirty="0"/>
          </a:p>
        </p:txBody>
      </p:sp>
      <p:sp>
        <p:nvSpPr>
          <p:cNvPr id="17" name="Shape 15"/>
          <p:cNvSpPr/>
          <p:nvPr/>
        </p:nvSpPr>
        <p:spPr>
          <a:xfrm>
            <a:off x="11658586" y="6687388"/>
            <a:ext cx="1698738" cy="248408"/>
          </a:xfrm>
          <a:prstGeom prst="roundRect">
            <a:avLst>
              <a:gd name="adj" fmla="val 50000"/>
            </a:avLst>
          </a:prstGeom>
          <a:solidFill>
            <a:srgbClr val="FDFAF3">
              <a:alpha val="14000"/>
            </a:srgbClr>
          </a:solidFill>
          <a:ln/>
        </p:spPr>
      </p:sp>
      <p:sp>
        <p:nvSpPr>
          <p:cNvPr id="18" name="Text 16"/>
          <p:cNvSpPr/>
          <p:nvPr/>
        </p:nvSpPr>
        <p:spPr>
          <a:xfrm>
            <a:off x="11772886" y="6744538"/>
            <a:ext cx="1546338" cy="172208"/>
          </a:xfrm>
          <a:prstGeom prst="rect">
            <a:avLst/>
          </a:prstGeom>
          <a:noFill/>
          <a:ln/>
        </p:spPr>
        <p:txBody>
          <a:bodyPr wrap="square" lIns="25400" tIns="25400" rIns="25400" bIns="25400" rtlCol="0" anchor="ctr">
            <a:normAutofit/>
          </a:bodyPr>
          <a:lstStyle/>
          <a:p>
            <a:pPr algn="l" indent="0" marL="0">
              <a:buNone/>
            </a:pPr>
            <a:r>
              <a:rPr lang="en-US" sz="788" spc="79" kern="0" dirty="0">
                <a:solidFill>
                  <a:srgbClr val="FDFAF3">
                    <a:alpha val="86000"/>
                  </a:srgbClr>
                </a:solidFill>
                <a:latin typeface="JetBrains Mono" pitchFamily="34" charset="0"/>
                <a:ea typeface="JetBrains Mono" pitchFamily="34" charset="-122"/>
                <a:cs typeface="JetBrains Mono" pitchFamily="34" charset="-120"/>
              </a:rPr>
              <a:t>2 OF 4 · ALPHABETICAL</a:t>
            </a:r>
            <a:endParaRPr lang="en-US" sz="788" dirty="0"/>
          </a:p>
        </p:txBody>
      </p:sp>
      <p:sp>
        <p:nvSpPr>
          <p:cNvPr id="19" name="Text 17"/>
          <p:cNvSpPr/>
          <p:nvPr/>
        </p:nvSpPr>
        <p:spPr>
          <a:xfrm>
            <a:off x="11658586" y="7088142"/>
            <a:ext cx="3355304" cy="784811"/>
          </a:xfrm>
          <a:prstGeom prst="rect">
            <a:avLst/>
          </a:prstGeom>
          <a:noFill/>
          <a:ln/>
        </p:spPr>
        <p:txBody>
          <a:bodyPr wrap="square" lIns="25400" tIns="25400" rIns="25400" bIns="25400" rtlCol="0" anchor="t">
            <a:normAutofit/>
          </a:bodyPr>
          <a:lstStyle/>
          <a:p>
            <a:pPr algn="l" indent="0" marL="0">
              <a:lnSpc>
                <a:spcPct val="86240"/>
              </a:lnSpc>
              <a:buNone/>
            </a:pPr>
            <a:r>
              <a:rPr lang="en-US" sz="3000" spc="-75" kern="0" dirty="0">
                <a:solidFill>
                  <a:srgbClr val="FDFAF3"/>
                </a:solidFill>
                <a:latin typeface="Georgia" pitchFamily="34" charset="0"/>
                <a:ea typeface="Georgia" pitchFamily="34" charset="-122"/>
                <a:cs typeface="Georgia" pitchFamily="34" charset="-120"/>
              </a:rPr>
              <a:t>Daniela Costa</a:t>
            </a:r>
            <a:endParaRPr lang="en-US" sz="3000" dirty="0"/>
          </a:p>
        </p:txBody>
      </p:sp>
      <p:sp>
        <p:nvSpPr>
          <p:cNvPr id="20" name="Text 18"/>
          <p:cNvSpPr/>
          <p:nvPr/>
        </p:nvSpPr>
        <p:spPr>
          <a:xfrm>
            <a:off x="11658586" y="7930103"/>
            <a:ext cx="1437098" cy="202623"/>
          </a:xfrm>
          <a:prstGeom prst="rect">
            <a:avLst/>
          </a:prstGeom>
          <a:noFill/>
          <a:ln/>
        </p:spPr>
        <p:txBody>
          <a:bodyPr wrap="square" lIns="0" tIns="0" rIns="0" bIns="0" rtlCol="0" anchor="t">
            <a:normAutofit/>
          </a:bodyPr>
          <a:lstStyle/>
          <a:p>
            <a:pPr algn="l" indent="0" marL="0">
              <a:buNone/>
            </a:pPr>
            <a:r>
              <a:rPr lang="en-US" sz="1013" dirty="0">
                <a:solidFill>
                  <a:srgbClr val="FDFAF3">
                    <a:alpha val="68000"/>
                  </a:srgbClr>
                </a:solidFill>
                <a:latin typeface="Be Vietnam Pro" pitchFamily="34" charset="0"/>
                <a:ea typeface="Be Vietnam Pro" pitchFamily="34" charset="-122"/>
                <a:cs typeface="Be Vietnam Pro" pitchFamily="34" charset="-120"/>
              </a:rPr>
              <a:t>Candidate for Ward 4</a:t>
            </a:r>
            <a:endParaRPr lang="en-US" sz="1013" dirty="0"/>
          </a:p>
        </p:txBody>
      </p:sp>
      <p:sp>
        <p:nvSpPr>
          <p:cNvPr id="21" name="Shape 19"/>
          <p:cNvSpPr/>
          <p:nvPr/>
        </p:nvSpPr>
        <p:spPr>
          <a:xfrm>
            <a:off x="13095656" y="7998091"/>
            <a:ext cx="28548" cy="28548"/>
          </a:xfrm>
          <a:prstGeom prst="ellipse">
            <a:avLst/>
          </a:prstGeom>
          <a:solidFill>
            <a:srgbClr val="FDFAF3">
              <a:alpha val="45000"/>
            </a:srgbClr>
          </a:solidFill>
          <a:ln/>
        </p:spPr>
      </p:sp>
      <p:sp>
        <p:nvSpPr>
          <p:cNvPr id="22" name="Text 20"/>
          <p:cNvSpPr/>
          <p:nvPr/>
        </p:nvSpPr>
        <p:spPr>
          <a:xfrm>
            <a:off x="13200378" y="7930103"/>
            <a:ext cx="518287" cy="202623"/>
          </a:xfrm>
          <a:prstGeom prst="rect">
            <a:avLst/>
          </a:prstGeom>
          <a:noFill/>
          <a:ln/>
        </p:spPr>
        <p:txBody>
          <a:bodyPr wrap="square" lIns="0" tIns="0" rIns="0" bIns="0" rtlCol="0" anchor="t">
            <a:normAutofit/>
          </a:bodyPr>
          <a:lstStyle/>
          <a:p>
            <a:pPr algn="l" indent="0" marL="0">
              <a:buNone/>
            </a:pPr>
            <a:r>
              <a:rPr lang="en-US" sz="1013" dirty="0">
                <a:solidFill>
                  <a:srgbClr val="FDFAF3">
                    <a:alpha val="68000"/>
                  </a:srgbClr>
                </a:solidFill>
                <a:latin typeface="Be Vietnam Pro" pitchFamily="34" charset="0"/>
                <a:ea typeface="Be Vietnam Pro" pitchFamily="34" charset="-122"/>
                <a:cs typeface="Be Vietnam Pro" pitchFamily="34" charset="-120"/>
              </a:rPr>
              <a:t>Guelph</a:t>
            </a:r>
            <a:endParaRPr lang="en-US" sz="1013" dirty="0"/>
          </a:p>
        </p:txBody>
      </p:sp>
      <p:sp>
        <p:nvSpPr>
          <p:cNvPr id="23" name="Shape 21"/>
          <p:cNvSpPr/>
          <p:nvPr/>
        </p:nvSpPr>
        <p:spPr>
          <a:xfrm>
            <a:off x="13718638" y="7998091"/>
            <a:ext cx="28548" cy="28548"/>
          </a:xfrm>
          <a:prstGeom prst="ellipse">
            <a:avLst/>
          </a:prstGeom>
          <a:solidFill>
            <a:srgbClr val="FDFAF3">
              <a:alpha val="45000"/>
            </a:srgbClr>
          </a:solidFill>
          <a:ln/>
        </p:spPr>
      </p:sp>
      <p:sp>
        <p:nvSpPr>
          <p:cNvPr id="24" name="Text 22"/>
          <p:cNvSpPr/>
          <p:nvPr/>
        </p:nvSpPr>
        <p:spPr>
          <a:xfrm>
            <a:off x="13823359" y="7930103"/>
            <a:ext cx="375345" cy="202623"/>
          </a:xfrm>
          <a:prstGeom prst="rect">
            <a:avLst/>
          </a:prstGeom>
          <a:noFill/>
          <a:ln/>
        </p:spPr>
        <p:txBody>
          <a:bodyPr wrap="square" lIns="0" tIns="0" rIns="0" bIns="0" rtlCol="0" anchor="t">
            <a:normAutofit/>
          </a:bodyPr>
          <a:lstStyle/>
          <a:p>
            <a:pPr algn="l" indent="0" marL="0">
              <a:buNone/>
            </a:pPr>
            <a:r>
              <a:rPr lang="en-US" sz="1013" dirty="0">
                <a:solidFill>
                  <a:srgbClr val="FDFAF3">
                    <a:alpha val="68000"/>
                  </a:srgbClr>
                </a:solidFill>
                <a:latin typeface="Be Vietnam Pro" pitchFamily="34" charset="0"/>
                <a:ea typeface="Be Vietnam Pro" pitchFamily="34" charset="-122"/>
                <a:cs typeface="Be Vietnam Pro" pitchFamily="34" charset="-120"/>
              </a:rPr>
              <a:t>0:48</a:t>
            </a:r>
            <a:endParaRPr lang="en-US" sz="1013" dirty="0"/>
          </a:p>
        </p:txBody>
      </p:sp>
      <p:sp>
        <p:nvSpPr>
          <p:cNvPr id="25" name="Shape 23"/>
          <p:cNvSpPr/>
          <p:nvPr/>
        </p:nvSpPr>
        <p:spPr>
          <a:xfrm>
            <a:off x="11658586" y="8246972"/>
            <a:ext cx="2609701" cy="420778"/>
          </a:xfrm>
          <a:prstGeom prst="roundRect">
            <a:avLst>
              <a:gd name="adj" fmla="val 50000"/>
            </a:avLst>
          </a:prstGeom>
          <a:solidFill>
            <a:srgbClr val="FDFAF3">
              <a:alpha val="95000"/>
            </a:srgbClr>
          </a:solidFill>
          <a:ln/>
        </p:spPr>
      </p:sp>
      <p:sp>
        <p:nvSpPr>
          <p:cNvPr id="26" name="Text 24"/>
          <p:cNvSpPr/>
          <p:nvPr/>
        </p:nvSpPr>
        <p:spPr>
          <a:xfrm>
            <a:off x="11849086" y="8370770"/>
            <a:ext cx="956586" cy="211282"/>
          </a:xfrm>
          <a:prstGeom prst="rect">
            <a:avLst/>
          </a:prstGeom>
          <a:noFill/>
          <a:ln/>
        </p:spPr>
        <p:txBody>
          <a:bodyPr wrap="square" lIns="0" tIns="0" rIns="0" bIns="0" rtlCol="0" anchor="t">
            <a:normAutofit/>
          </a:bodyPr>
          <a:lstStyle/>
          <a:p>
            <a:pPr algn="l" indent="0" marL="0">
              <a:buNone/>
            </a:pPr>
            <a:r>
              <a:rPr lang="en-US" sz="1088" dirty="0">
                <a:solidFill>
                  <a:srgbClr val="1A1714"/>
                </a:solidFill>
                <a:latin typeface="Be Vietnam Pro" pitchFamily="34" charset="0"/>
                <a:ea typeface="Be Vietnam Pro" pitchFamily="34" charset="-122"/>
                <a:cs typeface="Be Vietnam Pro" pitchFamily="34" charset="-120"/>
              </a:rPr>
              <a:t>Visit website</a:t>
            </a:r>
            <a:endParaRPr lang="en-US" sz="1088" dirty="0"/>
          </a:p>
        </p:txBody>
      </p:sp>
      <p:sp>
        <p:nvSpPr>
          <p:cNvPr id="27" name="Text 25"/>
          <p:cNvSpPr/>
          <p:nvPr/>
        </p:nvSpPr>
        <p:spPr>
          <a:xfrm>
            <a:off x="12815184" y="8379429"/>
            <a:ext cx="1147762" cy="193964"/>
          </a:xfrm>
          <a:prstGeom prst="rect">
            <a:avLst/>
          </a:prstGeom>
          <a:noFill/>
          <a:ln/>
        </p:spPr>
        <p:txBody>
          <a:bodyPr wrap="square" lIns="25400" tIns="25400" rIns="25400" bIns="25400" rtlCol="0" anchor="t">
            <a:normAutofit/>
          </a:bodyPr>
          <a:lstStyle/>
          <a:p>
            <a:pPr algn="l" indent="0" marL="0">
              <a:buNone/>
            </a:pPr>
            <a:r>
              <a:rPr lang="en-US" sz="938" dirty="0">
                <a:solidFill>
                  <a:srgbClr val="4D4640"/>
                </a:solidFill>
                <a:latin typeface="JetBrains Mono" pitchFamily="34" charset="0"/>
                <a:ea typeface="JetBrains Mono" pitchFamily="34" charset="-122"/>
                <a:cs typeface="JetBrains Mono" pitchFamily="34" charset="-120"/>
              </a:rPr>
              <a:t>danielacosta.ca</a:t>
            </a:r>
            <a:endParaRPr lang="en-US" sz="938" dirty="0"/>
          </a:p>
        </p:txBody>
      </p:sp>
      <p:sp>
        <p:nvSpPr>
          <p:cNvPr id="28" name="Text 26"/>
          <p:cNvSpPr/>
          <p:nvPr/>
        </p:nvSpPr>
        <p:spPr>
          <a:xfrm>
            <a:off x="13972458" y="8370770"/>
            <a:ext cx="181530" cy="211282"/>
          </a:xfrm>
          <a:prstGeom prst="rect">
            <a:avLst/>
          </a:prstGeom>
          <a:noFill/>
          <a:ln/>
        </p:spPr>
        <p:txBody>
          <a:bodyPr wrap="square" lIns="0" tIns="0" rIns="0" bIns="0" rtlCol="0" anchor="t">
            <a:normAutofit/>
          </a:bodyPr>
          <a:lstStyle/>
          <a:p>
            <a:pPr algn="l" indent="0" marL="0">
              <a:buNone/>
            </a:pPr>
            <a:r>
              <a:rPr lang="en-US" sz="1088" dirty="0">
                <a:solidFill>
                  <a:srgbClr val="1A1714"/>
                </a:solidFill>
                <a:latin typeface="Be Vietnam Pro" pitchFamily="34" charset="0"/>
                <a:ea typeface="Be Vietnam Pro" pitchFamily="34" charset="-122"/>
                <a:cs typeface="Be Vietnam Pro" pitchFamily="34" charset="-120"/>
              </a:rPr>
              <a:t>↗</a:t>
            </a:r>
            <a:endParaRPr lang="en-US" sz="1088"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1047750" y="952500"/>
            <a:ext cx="2558653" cy="315191"/>
          </a:xfrm>
          <a:prstGeom prst="rect">
            <a:avLst/>
          </a:prstGeom>
          <a:noFill/>
          <a:ln/>
        </p:spPr>
        <p:txBody>
          <a:bodyPr wrap="square" lIns="25400" tIns="25400" rIns="25400" bIns="25400" rtlCol="0" anchor="t">
            <a:normAutofit/>
          </a:bodyPr>
          <a:lstStyle/>
          <a:p>
            <a:pPr algn="l" indent="0" marL="0">
              <a:buNone/>
            </a:pPr>
            <a:r>
              <a:rPr lang="en-US" sz="1650" spc="231" kern="0" dirty="0">
                <a:solidFill>
                  <a:srgbClr val="7A716A"/>
                </a:solidFill>
                <a:latin typeface="JetBrains Mono" pitchFamily="34" charset="0"/>
                <a:ea typeface="JetBrains Mono" pitchFamily="34" charset="-122"/>
                <a:cs typeface="JetBrains Mono" pitchFamily="34" charset="-120"/>
              </a:rPr>
              <a:t>04 · NAVIGATION</a:t>
            </a:r>
            <a:endParaRPr lang="en-US" sz="1650" dirty="0"/>
          </a:p>
        </p:txBody>
      </p:sp>
      <p:sp>
        <p:nvSpPr>
          <p:cNvPr id="3" name="Text 1"/>
          <p:cNvSpPr/>
          <p:nvPr/>
        </p:nvSpPr>
        <p:spPr>
          <a:xfrm>
            <a:off x="1047750" y="1619250"/>
            <a:ext cx="5494020" cy="960023"/>
          </a:xfrm>
          <a:prstGeom prst="rect">
            <a:avLst/>
          </a:prstGeom>
          <a:noFill/>
          <a:ln/>
        </p:spPr>
        <p:txBody>
          <a:bodyPr wrap="square" lIns="25400" tIns="25400" rIns="25400" bIns="25400" rtlCol="0" anchor="t">
            <a:normAutofit/>
          </a:bodyPr>
          <a:lstStyle/>
          <a:p>
            <a:pPr algn="l" indent="0" marL="0">
              <a:lnSpc>
                <a:spcPct val="96800"/>
              </a:lnSpc>
              <a:buNone/>
            </a:pPr>
            <a:r>
              <a:rPr lang="en-US" sz="3300" spc="-49" kern="0" dirty="0">
                <a:solidFill>
                  <a:srgbClr val="1A1714"/>
                </a:solidFill>
                <a:latin typeface="Georgia" pitchFamily="34" charset="0"/>
                <a:ea typeface="Georgia" pitchFamily="34" charset="-122"/>
                <a:cs typeface="Georgia" pitchFamily="34" charset="-120"/>
              </a:rPr>
              <a:t>Tap right for the next candidate, left to go back</a:t>
            </a:r>
            <a:endParaRPr lang="en-US" sz="3300" dirty="0"/>
          </a:p>
        </p:txBody>
      </p:sp>
      <p:sp>
        <p:nvSpPr>
          <p:cNvPr id="4" name="Text 2"/>
          <p:cNvSpPr/>
          <p:nvPr/>
        </p:nvSpPr>
        <p:spPr>
          <a:xfrm>
            <a:off x="1047750" y="3810000"/>
            <a:ext cx="5101590" cy="1691445"/>
          </a:xfrm>
          <a:prstGeom prst="rect">
            <a:avLst/>
          </a:prstGeom>
          <a:noFill/>
          <a:ln/>
        </p:spPr>
        <p:txBody>
          <a:bodyPr wrap="square" lIns="25400" tIns="25400" rIns="25400" bIns="25400" rtlCol="0" anchor="t">
            <a:normAutofit/>
          </a:bodyPr>
          <a:lstStyle/>
          <a:p>
            <a:pPr algn="l" indent="0" marL="0">
              <a:lnSpc>
                <a:spcPct val="122410"/>
              </a:lnSpc>
              <a:buNone/>
            </a:pPr>
            <a:r>
              <a:rPr lang="en-US" sz="2100" dirty="0">
                <a:solidFill>
                  <a:srgbClr val="4D4640"/>
                </a:solidFill>
                <a:latin typeface="Be Vietnam Pro" pitchFamily="34" charset="0"/>
                <a:ea typeface="Be Vietnam Pro" pitchFamily="34" charset="-122"/>
                <a:cs typeface="Be Vietnam Pro" pitchFamily="34" charset="-120"/>
              </a:rPr>
              <a:t>No scrubber, no scrolling list. Video advances on its own when it ends. Tap zones are shown dashed here for illustration — voters don't see them.</a:t>
            </a:r>
            <a:endParaRPr lang="en-US" sz="2100" dirty="0"/>
          </a:p>
        </p:txBody>
      </p:sp>
      <p:sp>
        <p:nvSpPr>
          <p:cNvPr id="5" name="Shape 3"/>
          <p:cNvSpPr/>
          <p:nvPr/>
        </p:nvSpPr>
        <p:spPr>
          <a:xfrm>
            <a:off x="11430000" y="1238250"/>
            <a:ext cx="3714750" cy="7810500"/>
          </a:xfrm>
          <a:prstGeom prst="roundRect">
            <a:avLst>
              <a:gd name="adj" fmla="val 11282"/>
            </a:avLst>
          </a:prstGeom>
          <a:solidFill>
            <a:srgbClr val="100E0C"/>
          </a:solidFill>
          <a:ln/>
          <a:effectLst>
            <a:outerShdw sx="100000" sy="100000" kx="0" ky="0" algn="bl" rotWithShape="0" blurRad="171450" dist="38100" dir="5400000">
              <a:srgbClr val="1A1714">
                <a:alpha val="8000"/>
              </a:srgbClr>
            </a:outerShdw>
          </a:effectLst>
        </p:spPr>
      </p:sp>
      <p:sp>
        <p:nvSpPr>
          <p:cNvPr id="6" name="Shape 4"/>
          <p:cNvSpPr/>
          <p:nvPr/>
        </p:nvSpPr>
        <p:spPr>
          <a:xfrm>
            <a:off x="12715875" y="1333500"/>
            <a:ext cx="1143000" cy="266673"/>
          </a:xfrm>
          <a:prstGeom prst="roundRect">
            <a:avLst>
              <a:gd name="adj" fmla="val 50000"/>
            </a:avLst>
          </a:prstGeom>
          <a:solidFill>
            <a:srgbClr val="1A1714"/>
          </a:solidFill>
          <a:ln/>
        </p:spPr>
      </p:sp>
      <p:sp>
        <p:nvSpPr>
          <p:cNvPr id="7" name="Shape 5"/>
          <p:cNvSpPr/>
          <p:nvPr/>
        </p:nvSpPr>
        <p:spPr>
          <a:xfrm>
            <a:off x="11430000" y="1238250"/>
            <a:ext cx="3714750" cy="1809750"/>
          </a:xfrm>
          <a:prstGeom prst="rect">
            <a:avLst/>
          </a:prstGeom>
          <a:gradFill rotWithShape="1">
            <a:gsLst>
              <a:gs pos="0">
                <a:srgbClr val="080706">
                  <a:alpha val="72000"/>
                </a:srgbClr>
              </a:gs>
              <a:gs pos="100000">
                <a:srgbClr val="080706">
                  <a:alpha val="0"/>
                </a:srgbClr>
              </a:gs>
            </a:gsLst>
            <a:lin ang="5400000" scaled="0"/>
          </a:gradFill>
          <a:ln/>
        </p:spPr>
      </p:sp>
      <p:sp>
        <p:nvSpPr>
          <p:cNvPr id="8" name="Shape 6"/>
          <p:cNvSpPr/>
          <p:nvPr/>
        </p:nvSpPr>
        <p:spPr>
          <a:xfrm>
            <a:off x="11430000" y="6667500"/>
            <a:ext cx="3714750" cy="2381250"/>
          </a:xfrm>
          <a:prstGeom prst="rect">
            <a:avLst/>
          </a:prstGeom>
          <a:gradFill rotWithShape="1">
            <a:gsLst>
              <a:gs pos="0">
                <a:srgbClr val="080706">
                  <a:alpha val="0"/>
                </a:srgbClr>
              </a:gs>
              <a:gs pos="62000">
                <a:srgbClr val="080706">
                  <a:alpha val="86000"/>
                </a:srgbClr>
              </a:gs>
              <a:gs pos="100000">
                <a:srgbClr val="080706">
                  <a:alpha val="94000"/>
                </a:srgbClr>
              </a:gs>
            </a:gsLst>
            <a:lin ang="5400000" scaled="0"/>
          </a:gradFill>
          <a:ln/>
        </p:spPr>
      </p:sp>
      <p:sp>
        <p:nvSpPr>
          <p:cNvPr id="9" name="Text 7"/>
          <p:cNvSpPr/>
          <p:nvPr/>
        </p:nvSpPr>
        <p:spPr>
          <a:xfrm>
            <a:off x="11696672" y="1430035"/>
            <a:ext cx="362018" cy="206952"/>
          </a:xfrm>
          <a:prstGeom prst="rect">
            <a:avLst/>
          </a:prstGeom>
          <a:noFill/>
          <a:ln/>
        </p:spPr>
        <p:txBody>
          <a:bodyPr wrap="square" lIns="25400" tIns="25400" rIns="25400" bIns="25400" rtlCol="0" anchor="t">
            <a:normAutofit/>
          </a:bodyPr>
          <a:lstStyle/>
          <a:p>
            <a:pPr algn="l" indent="0" marL="0">
              <a:buNone/>
            </a:pPr>
            <a:r>
              <a:rPr lang="en-US" sz="1050" b="1" dirty="0">
                <a:solidFill>
                  <a:srgbClr val="FFFFFF">
                    <a:alpha val="92000"/>
                  </a:srgbClr>
                </a:solidFill>
                <a:latin typeface="Be Vietnam Pro" pitchFamily="34" charset="0"/>
                <a:ea typeface="Be Vietnam Pro" pitchFamily="34" charset="-122"/>
                <a:cs typeface="Be Vietnam Pro" pitchFamily="34" charset="-120"/>
              </a:rPr>
              <a:t>9:41</a:t>
            </a:r>
            <a:endParaRPr lang="en-US" sz="1050" dirty="0"/>
          </a:p>
        </p:txBody>
      </p:sp>
      <p:sp>
        <p:nvSpPr>
          <p:cNvPr id="10" name="Text 8"/>
          <p:cNvSpPr/>
          <p:nvPr/>
        </p:nvSpPr>
        <p:spPr>
          <a:xfrm>
            <a:off x="14619048" y="1443024"/>
            <a:ext cx="335229" cy="180975"/>
          </a:xfrm>
          <a:prstGeom prst="rect">
            <a:avLst/>
          </a:prstGeom>
          <a:noFill/>
          <a:ln/>
        </p:spPr>
        <p:txBody>
          <a:bodyPr wrap="square" lIns="25400" tIns="25400" rIns="25400" bIns="25400" rtlCol="0" anchor="ctr">
            <a:normAutofit/>
          </a:bodyPr>
          <a:lstStyle/>
          <a:p>
            <a:pPr algn="l" indent="0" marL="0">
              <a:buNone/>
            </a:pPr>
            <a:r>
              <a:rPr lang="en-US" sz="900" b="1" dirty="0">
                <a:solidFill>
                  <a:srgbClr val="FFFFFF">
                    <a:alpha val="92000"/>
                  </a:srgbClr>
                </a:solidFill>
                <a:latin typeface="Be Vietnam Pro" pitchFamily="34" charset="0"/>
                <a:ea typeface="Be Vietnam Pro" pitchFamily="34" charset="-122"/>
                <a:cs typeface="Be Vietnam Pro" pitchFamily="34" charset="-120"/>
              </a:rPr>
              <a:t>◍ ◗ ▮</a:t>
            </a:r>
            <a:endParaRPr lang="en-US" sz="900" dirty="0"/>
          </a:p>
        </p:txBody>
      </p:sp>
      <p:sp>
        <p:nvSpPr>
          <p:cNvPr id="11" name="Shape 9"/>
          <p:cNvSpPr/>
          <p:nvPr/>
        </p:nvSpPr>
        <p:spPr>
          <a:xfrm>
            <a:off x="11601422" y="1733509"/>
            <a:ext cx="814360" cy="23813"/>
          </a:xfrm>
          <a:prstGeom prst="roundRect">
            <a:avLst>
              <a:gd name="adj" fmla="val 49999"/>
            </a:avLst>
          </a:prstGeom>
          <a:solidFill>
            <a:srgbClr val="FFFFFF">
              <a:alpha val="90000"/>
            </a:srgbClr>
          </a:solidFill>
          <a:ln/>
        </p:spPr>
      </p:sp>
      <p:sp>
        <p:nvSpPr>
          <p:cNvPr id="12" name="Shape 10"/>
          <p:cNvSpPr/>
          <p:nvPr/>
        </p:nvSpPr>
        <p:spPr>
          <a:xfrm>
            <a:off x="12453869" y="1733509"/>
            <a:ext cx="814428" cy="23813"/>
          </a:xfrm>
          <a:prstGeom prst="roundRect">
            <a:avLst>
              <a:gd name="adj" fmla="val 49999"/>
            </a:avLst>
          </a:prstGeom>
          <a:solidFill>
            <a:srgbClr val="FFFFFF">
              <a:alpha val="90000"/>
            </a:srgbClr>
          </a:solidFill>
          <a:ln/>
        </p:spPr>
      </p:sp>
      <p:sp>
        <p:nvSpPr>
          <p:cNvPr id="13" name="Shape 11"/>
          <p:cNvSpPr/>
          <p:nvPr/>
        </p:nvSpPr>
        <p:spPr>
          <a:xfrm>
            <a:off x="13306384" y="1733509"/>
            <a:ext cx="814428" cy="23813"/>
          </a:xfrm>
          <a:prstGeom prst="roundRect">
            <a:avLst>
              <a:gd name="adj" fmla="val 49999"/>
            </a:avLst>
          </a:prstGeom>
          <a:solidFill>
            <a:srgbClr val="FFFFFF">
              <a:alpha val="28000"/>
            </a:srgbClr>
          </a:solidFill>
          <a:ln/>
        </p:spPr>
      </p:sp>
      <p:sp>
        <p:nvSpPr>
          <p:cNvPr id="14" name="Shape 12"/>
          <p:cNvSpPr/>
          <p:nvPr/>
        </p:nvSpPr>
        <p:spPr>
          <a:xfrm>
            <a:off x="14158899" y="1733509"/>
            <a:ext cx="814428" cy="23813"/>
          </a:xfrm>
          <a:prstGeom prst="roundRect">
            <a:avLst>
              <a:gd name="adj" fmla="val 49999"/>
            </a:avLst>
          </a:prstGeom>
          <a:solidFill>
            <a:srgbClr val="FFFFFF">
              <a:alpha val="28000"/>
            </a:srgbClr>
          </a:solidFill>
          <a:ln/>
        </p:spPr>
      </p:sp>
      <p:sp>
        <p:nvSpPr>
          <p:cNvPr id="15" name="Text 13"/>
          <p:cNvSpPr/>
          <p:nvPr/>
        </p:nvSpPr>
        <p:spPr>
          <a:xfrm>
            <a:off x="11639509" y="1940516"/>
            <a:ext cx="1576685" cy="176645"/>
          </a:xfrm>
          <a:prstGeom prst="rect">
            <a:avLst/>
          </a:prstGeom>
          <a:noFill/>
          <a:ln/>
        </p:spPr>
        <p:txBody>
          <a:bodyPr wrap="square" lIns="25400" tIns="25400" rIns="25400" bIns="25400" rtlCol="0" anchor="t">
            <a:normAutofit/>
          </a:bodyPr>
          <a:lstStyle/>
          <a:p>
            <a:pPr algn="l" indent="0" marL="0">
              <a:buNone/>
            </a:pPr>
            <a:r>
              <a:rPr lang="en-US" sz="825" spc="99" kern="0" dirty="0">
                <a:solidFill>
                  <a:srgbClr val="FFFFFF">
                    <a:alpha val="72000"/>
                  </a:srgbClr>
                </a:solidFill>
                <a:latin typeface="JetBrains Mono" pitchFamily="34" charset="0"/>
                <a:ea typeface="JetBrains Mono" pitchFamily="34" charset="-122"/>
                <a:cs typeface="JetBrains Mono" pitchFamily="34" charset="-120"/>
              </a:rPr>
              <a:t>WARD 4 · COUNCILLOR</a:t>
            </a:r>
            <a:endParaRPr lang="en-US" sz="825" dirty="0"/>
          </a:p>
        </p:txBody>
      </p:sp>
      <p:sp>
        <p:nvSpPr>
          <p:cNvPr id="16" name="Text 14"/>
          <p:cNvSpPr/>
          <p:nvPr/>
        </p:nvSpPr>
        <p:spPr>
          <a:xfrm>
            <a:off x="14775453" y="1905000"/>
            <a:ext cx="235987" cy="247677"/>
          </a:xfrm>
          <a:prstGeom prst="rect">
            <a:avLst/>
          </a:prstGeom>
          <a:noFill/>
          <a:ln/>
        </p:spPr>
        <p:txBody>
          <a:bodyPr wrap="square" lIns="25400" tIns="25400" rIns="25400" bIns="25400" rtlCol="0" anchor="t">
            <a:normAutofit/>
          </a:bodyPr>
          <a:lstStyle/>
          <a:p>
            <a:pPr algn="l" indent="0" marL="0">
              <a:lnSpc>
                <a:spcPct val="79344"/>
              </a:lnSpc>
              <a:buNone/>
            </a:pPr>
            <a:r>
              <a:rPr lang="en-US" sz="1650" dirty="0">
                <a:solidFill>
                  <a:srgbClr val="FFFFFF">
                    <a:alpha val="85000"/>
                  </a:srgbClr>
                </a:solidFill>
                <a:latin typeface="Be Vietnam Pro" pitchFamily="34" charset="0"/>
                <a:ea typeface="Be Vietnam Pro" pitchFamily="34" charset="-122"/>
                <a:cs typeface="Be Vietnam Pro" pitchFamily="34" charset="-120"/>
              </a:rPr>
              <a:t>✕</a:t>
            </a:r>
            <a:endParaRPr lang="en-US" sz="1650" dirty="0"/>
          </a:p>
        </p:txBody>
      </p:sp>
      <p:sp>
        <p:nvSpPr>
          <p:cNvPr id="17" name="Shape 15"/>
          <p:cNvSpPr/>
          <p:nvPr/>
        </p:nvSpPr>
        <p:spPr>
          <a:xfrm>
            <a:off x="12832908" y="1238250"/>
            <a:ext cx="9525" cy="7810500"/>
          </a:xfrm>
          <a:prstGeom prst="rect">
            <a:avLst/>
          </a:prstGeom>
          <a:solidFill>
            <a:srgbClr val="FDFAF3">
              <a:alpha val="22000"/>
            </a:srgbClr>
          </a:solidFill>
          <a:ln/>
        </p:spPr>
      </p:sp>
      <p:sp>
        <p:nvSpPr>
          <p:cNvPr id="18" name="Shape 16"/>
          <p:cNvSpPr/>
          <p:nvPr/>
        </p:nvSpPr>
        <p:spPr>
          <a:xfrm>
            <a:off x="11793141" y="5005428"/>
            <a:ext cx="676627" cy="276144"/>
          </a:xfrm>
          <a:prstGeom prst="roundRect">
            <a:avLst>
              <a:gd name="adj" fmla="val 50000"/>
            </a:avLst>
          </a:prstGeom>
          <a:solidFill>
            <a:srgbClr val="080706">
              <a:alpha val="35000"/>
            </a:srgbClr>
          </a:solidFill>
          <a:ln w="8659">
            <a:solidFill>
              <a:srgbClr val="FDFAF3">
                <a:alpha val="35000"/>
              </a:srgbClr>
            </a:solidFill>
            <a:prstDash val="dash"/>
          </a:ln>
        </p:spPr>
      </p:sp>
      <p:sp>
        <p:nvSpPr>
          <p:cNvPr id="19" name="Text 17"/>
          <p:cNvSpPr/>
          <p:nvPr/>
        </p:nvSpPr>
        <p:spPr>
          <a:xfrm>
            <a:off x="11925625" y="5080762"/>
            <a:ext cx="487859" cy="163576"/>
          </a:xfrm>
          <a:prstGeom prst="rect">
            <a:avLst/>
          </a:prstGeom>
          <a:noFill/>
          <a:ln/>
        </p:spPr>
        <p:txBody>
          <a:bodyPr wrap="square" lIns="25400" tIns="25400" rIns="25400" bIns="25400" rtlCol="0" anchor="t">
            <a:normAutofit/>
          </a:bodyPr>
          <a:lstStyle/>
          <a:p>
            <a:pPr algn="l" indent="0" marL="0">
              <a:buNone/>
            </a:pPr>
            <a:r>
              <a:rPr lang="en-US" sz="750" spc="90" kern="0" dirty="0">
                <a:solidFill>
                  <a:srgbClr val="FDFAF3">
                    <a:alpha val="62000"/>
                  </a:srgbClr>
                </a:solidFill>
                <a:latin typeface="JetBrains Mono" pitchFamily="34" charset="0"/>
                <a:ea typeface="JetBrains Mono" pitchFamily="34" charset="-122"/>
                <a:cs typeface="JetBrains Mono" pitchFamily="34" charset="-120"/>
              </a:rPr>
              <a:t>← BACK</a:t>
            </a:r>
            <a:endParaRPr lang="en-US" sz="750" dirty="0"/>
          </a:p>
        </p:txBody>
      </p:sp>
      <p:sp>
        <p:nvSpPr>
          <p:cNvPr id="20" name="Shape 18"/>
          <p:cNvSpPr/>
          <p:nvPr/>
        </p:nvSpPr>
        <p:spPr>
          <a:xfrm>
            <a:off x="13654777" y="5005428"/>
            <a:ext cx="676627" cy="276144"/>
          </a:xfrm>
          <a:prstGeom prst="roundRect">
            <a:avLst>
              <a:gd name="adj" fmla="val 50000"/>
            </a:avLst>
          </a:prstGeom>
          <a:solidFill>
            <a:srgbClr val="080706">
              <a:alpha val="35000"/>
            </a:srgbClr>
          </a:solidFill>
          <a:ln w="8659">
            <a:solidFill>
              <a:srgbClr val="FDFAF3">
                <a:alpha val="35000"/>
              </a:srgbClr>
            </a:solidFill>
            <a:prstDash val="dash"/>
          </a:ln>
        </p:spPr>
      </p:sp>
      <p:sp>
        <p:nvSpPr>
          <p:cNvPr id="21" name="Text 19"/>
          <p:cNvSpPr/>
          <p:nvPr/>
        </p:nvSpPr>
        <p:spPr>
          <a:xfrm>
            <a:off x="13787261" y="5080762"/>
            <a:ext cx="487859" cy="163576"/>
          </a:xfrm>
          <a:prstGeom prst="rect">
            <a:avLst/>
          </a:prstGeom>
          <a:noFill/>
          <a:ln/>
        </p:spPr>
        <p:txBody>
          <a:bodyPr wrap="square" lIns="25400" tIns="25400" rIns="25400" bIns="25400" rtlCol="0" anchor="t">
            <a:normAutofit/>
          </a:bodyPr>
          <a:lstStyle/>
          <a:p>
            <a:pPr algn="l" indent="0" marL="0">
              <a:buNone/>
            </a:pPr>
            <a:r>
              <a:rPr lang="en-US" sz="750" spc="90" kern="0" dirty="0">
                <a:solidFill>
                  <a:srgbClr val="FDFAF3">
                    <a:alpha val="62000"/>
                  </a:srgbClr>
                </a:solidFill>
                <a:latin typeface="JetBrains Mono" pitchFamily="34" charset="0"/>
                <a:ea typeface="JetBrains Mono" pitchFamily="34" charset="-122"/>
                <a:cs typeface="JetBrains Mono" pitchFamily="34" charset="-120"/>
              </a:rPr>
              <a:t>NEXT →</a:t>
            </a:r>
            <a:endParaRPr lang="en-US" sz="750" dirty="0"/>
          </a:p>
        </p:txBody>
      </p:sp>
      <p:sp>
        <p:nvSpPr>
          <p:cNvPr id="22" name="Text 20"/>
          <p:cNvSpPr/>
          <p:nvPr/>
        </p:nvSpPr>
        <p:spPr>
          <a:xfrm>
            <a:off x="11658586" y="7607687"/>
            <a:ext cx="3583335" cy="355442"/>
          </a:xfrm>
          <a:prstGeom prst="rect">
            <a:avLst/>
          </a:prstGeom>
          <a:noFill/>
          <a:ln/>
        </p:spPr>
        <p:txBody>
          <a:bodyPr wrap="square" lIns="25400" tIns="25400" rIns="25400" bIns="25400" rtlCol="0" anchor="t">
            <a:normAutofit/>
          </a:bodyPr>
          <a:lstStyle/>
          <a:p>
            <a:pPr algn="l" indent="0" marL="0">
              <a:lnSpc>
                <a:spcPct val="86240"/>
              </a:lnSpc>
              <a:buNone/>
            </a:pPr>
            <a:r>
              <a:rPr lang="en-US" sz="2550" spc="-64" kern="0" dirty="0">
                <a:solidFill>
                  <a:srgbClr val="FDFAF3"/>
                </a:solidFill>
                <a:latin typeface="Georgia" pitchFamily="34" charset="0"/>
                <a:ea typeface="Georgia" pitchFamily="34" charset="-122"/>
                <a:cs typeface="Georgia" pitchFamily="34" charset="-120"/>
              </a:rPr>
              <a:t>Marcus Ilesanmi</a:t>
            </a:r>
            <a:endParaRPr lang="en-US" sz="2550" dirty="0"/>
          </a:p>
        </p:txBody>
      </p:sp>
      <p:sp>
        <p:nvSpPr>
          <p:cNvPr id="23" name="Text 21"/>
          <p:cNvSpPr/>
          <p:nvPr/>
        </p:nvSpPr>
        <p:spPr>
          <a:xfrm>
            <a:off x="11658586" y="8010741"/>
            <a:ext cx="1437098" cy="202623"/>
          </a:xfrm>
          <a:prstGeom prst="rect">
            <a:avLst/>
          </a:prstGeom>
          <a:noFill/>
          <a:ln/>
        </p:spPr>
        <p:txBody>
          <a:bodyPr wrap="square" lIns="0" tIns="0" rIns="0" bIns="0" rtlCol="0" anchor="t">
            <a:normAutofit/>
          </a:bodyPr>
          <a:lstStyle/>
          <a:p>
            <a:pPr algn="l" indent="0" marL="0">
              <a:buNone/>
            </a:pPr>
            <a:r>
              <a:rPr lang="en-US" sz="1013" dirty="0">
                <a:solidFill>
                  <a:srgbClr val="FDFAF3">
                    <a:alpha val="68000"/>
                  </a:srgbClr>
                </a:solidFill>
                <a:latin typeface="Be Vietnam Pro" pitchFamily="34" charset="0"/>
                <a:ea typeface="Be Vietnam Pro" pitchFamily="34" charset="-122"/>
                <a:cs typeface="Be Vietnam Pro" pitchFamily="34" charset="-120"/>
              </a:rPr>
              <a:t>Candidate for Ward 4</a:t>
            </a:r>
            <a:endParaRPr lang="en-US" sz="1013" dirty="0"/>
          </a:p>
        </p:txBody>
      </p:sp>
      <p:sp>
        <p:nvSpPr>
          <p:cNvPr id="24" name="Shape 22"/>
          <p:cNvSpPr/>
          <p:nvPr/>
        </p:nvSpPr>
        <p:spPr>
          <a:xfrm>
            <a:off x="13095656" y="8078728"/>
            <a:ext cx="28548" cy="28548"/>
          </a:xfrm>
          <a:prstGeom prst="ellipse">
            <a:avLst/>
          </a:prstGeom>
          <a:solidFill>
            <a:srgbClr val="FDFAF3">
              <a:alpha val="45000"/>
            </a:srgbClr>
          </a:solidFill>
          <a:ln/>
        </p:spPr>
      </p:sp>
      <p:sp>
        <p:nvSpPr>
          <p:cNvPr id="25" name="Text 23"/>
          <p:cNvSpPr/>
          <p:nvPr/>
        </p:nvSpPr>
        <p:spPr>
          <a:xfrm>
            <a:off x="13200378" y="8010741"/>
            <a:ext cx="751338" cy="202623"/>
          </a:xfrm>
          <a:prstGeom prst="rect">
            <a:avLst/>
          </a:prstGeom>
          <a:noFill/>
          <a:ln/>
        </p:spPr>
        <p:txBody>
          <a:bodyPr wrap="square" lIns="0" tIns="0" rIns="0" bIns="0" rtlCol="0" anchor="t">
            <a:normAutofit/>
          </a:bodyPr>
          <a:lstStyle/>
          <a:p>
            <a:pPr algn="l" indent="0" marL="0">
              <a:buNone/>
            </a:pPr>
            <a:r>
              <a:rPr lang="en-US" sz="1013" dirty="0">
                <a:solidFill>
                  <a:srgbClr val="FDFAF3">
                    <a:alpha val="68000"/>
                  </a:srgbClr>
                </a:solidFill>
                <a:latin typeface="Be Vietnam Pro" pitchFamily="34" charset="0"/>
                <a:ea typeface="Be Vietnam Pro" pitchFamily="34" charset="-122"/>
                <a:cs typeface="Be Vietnam Pro" pitchFamily="34" charset="-120"/>
              </a:rPr>
              <a:t>0:22 / 1:00</a:t>
            </a:r>
            <a:endParaRPr lang="en-US" sz="1013" dirty="0"/>
          </a:p>
        </p:txBody>
      </p:sp>
      <p:sp>
        <p:nvSpPr>
          <p:cNvPr id="26" name="Shape 24"/>
          <p:cNvSpPr/>
          <p:nvPr/>
        </p:nvSpPr>
        <p:spPr>
          <a:xfrm>
            <a:off x="11658586" y="8327610"/>
            <a:ext cx="2661656" cy="378294"/>
          </a:xfrm>
          <a:prstGeom prst="roundRect">
            <a:avLst>
              <a:gd name="adj" fmla="val 50000"/>
            </a:avLst>
          </a:prstGeom>
          <a:solidFill>
            <a:srgbClr val="FDFAF3">
              <a:alpha val="95000"/>
            </a:srgbClr>
          </a:solidFill>
          <a:ln/>
        </p:spPr>
      </p:sp>
      <p:sp>
        <p:nvSpPr>
          <p:cNvPr id="27" name="Text 25"/>
          <p:cNvSpPr/>
          <p:nvPr/>
        </p:nvSpPr>
        <p:spPr>
          <a:xfrm>
            <a:off x="11820470" y="8432331"/>
            <a:ext cx="926212" cy="206952"/>
          </a:xfrm>
          <a:prstGeom prst="rect">
            <a:avLst/>
          </a:prstGeom>
          <a:noFill/>
          <a:ln/>
        </p:spPr>
        <p:txBody>
          <a:bodyPr wrap="square" lIns="0" tIns="0" rIns="0" bIns="0" rtlCol="0" anchor="t">
            <a:normAutofit/>
          </a:bodyPr>
          <a:lstStyle/>
          <a:p>
            <a:pPr algn="l" indent="0" marL="0">
              <a:buNone/>
            </a:pPr>
            <a:r>
              <a:rPr lang="en-US" sz="1050" dirty="0">
                <a:solidFill>
                  <a:srgbClr val="1A1714"/>
                </a:solidFill>
                <a:latin typeface="Be Vietnam Pro" pitchFamily="34" charset="0"/>
                <a:ea typeface="Be Vietnam Pro" pitchFamily="34" charset="-122"/>
                <a:cs typeface="Be Vietnam Pro" pitchFamily="34" charset="-120"/>
              </a:rPr>
              <a:t>Visit website</a:t>
            </a:r>
            <a:endParaRPr lang="en-US" sz="1050" dirty="0"/>
          </a:p>
        </p:txBody>
      </p:sp>
      <p:sp>
        <p:nvSpPr>
          <p:cNvPr id="28" name="Text 26"/>
          <p:cNvSpPr/>
          <p:nvPr/>
        </p:nvSpPr>
        <p:spPr>
          <a:xfrm>
            <a:off x="12756193" y="8438825"/>
            <a:ext cx="1335881" cy="193964"/>
          </a:xfrm>
          <a:prstGeom prst="rect">
            <a:avLst/>
          </a:prstGeom>
          <a:noFill/>
          <a:ln/>
        </p:spPr>
        <p:txBody>
          <a:bodyPr wrap="square" lIns="25400" tIns="25400" rIns="25400" bIns="25400" rtlCol="0" anchor="t">
            <a:normAutofit/>
          </a:bodyPr>
          <a:lstStyle/>
          <a:p>
            <a:pPr algn="l" indent="0" marL="0">
              <a:buNone/>
            </a:pPr>
            <a:r>
              <a:rPr lang="en-US" sz="938" dirty="0">
                <a:solidFill>
                  <a:srgbClr val="4D4640"/>
                </a:solidFill>
                <a:latin typeface="JetBrains Mono" pitchFamily="34" charset="0"/>
                <a:ea typeface="JetBrains Mono" pitchFamily="34" charset="-122"/>
                <a:cs typeface="JetBrains Mono" pitchFamily="34" charset="-120"/>
              </a:rPr>
              <a:t>ilesanmi4ward4.ca</a:t>
            </a:r>
            <a:endParaRPr lang="en-US" sz="938" dirty="0"/>
          </a:p>
        </p:txBody>
      </p:sp>
      <p:sp>
        <p:nvSpPr>
          <p:cNvPr id="29" name="Text 27"/>
          <p:cNvSpPr/>
          <p:nvPr/>
        </p:nvSpPr>
        <p:spPr>
          <a:xfrm>
            <a:off x="14056342" y="8432331"/>
            <a:ext cx="178215" cy="206952"/>
          </a:xfrm>
          <a:prstGeom prst="rect">
            <a:avLst/>
          </a:prstGeom>
          <a:noFill/>
          <a:ln/>
        </p:spPr>
        <p:txBody>
          <a:bodyPr wrap="square" lIns="0" tIns="0" rIns="0" bIns="0" rtlCol="0" anchor="t">
            <a:normAutofit/>
          </a:bodyPr>
          <a:lstStyle/>
          <a:p>
            <a:pPr algn="l" indent="0" marL="0">
              <a:buNone/>
            </a:pPr>
            <a:r>
              <a:rPr lang="en-US" sz="1050" dirty="0">
                <a:solidFill>
                  <a:srgbClr val="1A1714"/>
                </a:solidFill>
                <a:latin typeface="Be Vietnam Pro" pitchFamily="34" charset="0"/>
                <a:ea typeface="Be Vietnam Pro" pitchFamily="34" charset="-122"/>
                <a:cs typeface="Be Vietnam Pro" pitchFamily="34" charset="-120"/>
              </a:rPr>
              <a: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1047750" y="952500"/>
            <a:ext cx="3923258" cy="315191"/>
          </a:xfrm>
          <a:prstGeom prst="rect">
            <a:avLst/>
          </a:prstGeom>
          <a:noFill/>
          <a:ln/>
        </p:spPr>
        <p:txBody>
          <a:bodyPr wrap="square" lIns="25400" tIns="25400" rIns="25400" bIns="25400" rtlCol="0" anchor="t">
            <a:normAutofit/>
          </a:bodyPr>
          <a:lstStyle/>
          <a:p>
            <a:pPr algn="l" indent="0" marL="0">
              <a:buNone/>
            </a:pPr>
            <a:r>
              <a:rPr lang="en-US" sz="1650" spc="231" kern="0" dirty="0">
                <a:solidFill>
                  <a:srgbClr val="7A716A"/>
                </a:solidFill>
                <a:latin typeface="JetBrains Mono" pitchFamily="34" charset="0"/>
                <a:ea typeface="JetBrains Mono" pitchFamily="34" charset="-122"/>
                <a:cs typeface="JetBrains Mono" pitchFamily="34" charset="-120"/>
              </a:rPr>
              <a:t>05 · INCOMPLETE PROFILE</a:t>
            </a:r>
            <a:endParaRPr lang="en-US" sz="1650" dirty="0"/>
          </a:p>
        </p:txBody>
      </p:sp>
      <p:sp>
        <p:nvSpPr>
          <p:cNvPr id="3" name="Text 1"/>
          <p:cNvSpPr/>
          <p:nvPr/>
        </p:nvSpPr>
        <p:spPr>
          <a:xfrm>
            <a:off x="1047750" y="1619250"/>
            <a:ext cx="5494020" cy="960023"/>
          </a:xfrm>
          <a:prstGeom prst="rect">
            <a:avLst/>
          </a:prstGeom>
          <a:noFill/>
          <a:ln/>
        </p:spPr>
        <p:txBody>
          <a:bodyPr wrap="square" lIns="25400" tIns="25400" rIns="25400" bIns="25400" rtlCol="0" anchor="t">
            <a:normAutofit/>
          </a:bodyPr>
          <a:lstStyle/>
          <a:p>
            <a:pPr algn="l" indent="0" marL="0">
              <a:lnSpc>
                <a:spcPct val="96800"/>
              </a:lnSpc>
              <a:buNone/>
            </a:pPr>
            <a:r>
              <a:rPr lang="en-US" sz="3300" spc="-49" kern="0" dirty="0">
                <a:solidFill>
                  <a:srgbClr val="1A1714"/>
                </a:solidFill>
                <a:latin typeface="Georgia" pitchFamily="34" charset="0"/>
                <a:ea typeface="Georgia" pitchFamily="34" charset="-122"/>
                <a:cs typeface="Georgia" pitchFamily="34" charset="-120"/>
              </a:rPr>
              <a:t>Same page, same place in the stack</a:t>
            </a:r>
            <a:endParaRPr lang="en-US" sz="3300" dirty="0"/>
          </a:p>
        </p:txBody>
      </p:sp>
      <p:sp>
        <p:nvSpPr>
          <p:cNvPr id="4" name="Text 2"/>
          <p:cNvSpPr/>
          <p:nvPr/>
        </p:nvSpPr>
        <p:spPr>
          <a:xfrm>
            <a:off x="1047750" y="3810000"/>
            <a:ext cx="5101590" cy="2931454"/>
          </a:xfrm>
          <a:prstGeom prst="rect">
            <a:avLst/>
          </a:prstGeom>
          <a:noFill/>
          <a:ln/>
        </p:spPr>
        <p:txBody>
          <a:bodyPr wrap="square" lIns="25400" tIns="25400" rIns="25400" bIns="25400" rtlCol="0" anchor="t">
            <a:normAutofit/>
          </a:bodyPr>
          <a:lstStyle/>
          <a:p>
            <a:pPr algn="l" indent="0" marL="0">
              <a:lnSpc>
                <a:spcPct val="122410"/>
              </a:lnSpc>
              <a:buNone/>
            </a:pPr>
            <a:r>
              <a:rPr lang="en-US" sz="2100" dirty="0">
                <a:solidFill>
                  <a:srgbClr val="4D4640"/>
                </a:solidFill>
                <a:latin typeface="Be Vietnam Pro" pitchFamily="34" charset="0"/>
                <a:ea typeface="Be Vietnam Pro" pitchFamily="34" charset="-122"/>
                <a:cs typeface="Be Vietnam Pro" pitchFamily="34" charset="-120"/>
              </a:rPr>
              <a:t>Every nominated candidate gets a page of identical size and shape. Without a submission it carries only their name, the listed contact address, and a plain note — so the stack never implies a shorter ballot than the real one.</a:t>
            </a:r>
            <a:endParaRPr lang="en-US" sz="2100" dirty="0"/>
          </a:p>
        </p:txBody>
      </p:sp>
      <p:sp>
        <p:nvSpPr>
          <p:cNvPr id="5" name="Shape 3"/>
          <p:cNvSpPr/>
          <p:nvPr/>
        </p:nvSpPr>
        <p:spPr>
          <a:xfrm>
            <a:off x="11430000" y="1238250"/>
            <a:ext cx="3714750" cy="7810500"/>
          </a:xfrm>
          <a:prstGeom prst="roundRect">
            <a:avLst>
              <a:gd name="adj" fmla="val 11282"/>
            </a:avLst>
          </a:prstGeom>
          <a:solidFill>
            <a:srgbClr val="FBF7EE"/>
          </a:solidFill>
          <a:ln/>
          <a:effectLst>
            <a:outerShdw sx="100000" sy="100000" kx="0" ky="0" algn="bl" rotWithShape="0" blurRad="171450" dist="38100" dir="5400000">
              <a:srgbClr val="1A1714">
                <a:alpha val="8000"/>
              </a:srgbClr>
            </a:outerShdw>
          </a:effectLst>
        </p:spPr>
      </p:sp>
      <p:sp>
        <p:nvSpPr>
          <p:cNvPr id="6" name="Shape 4"/>
          <p:cNvSpPr/>
          <p:nvPr/>
        </p:nvSpPr>
        <p:spPr>
          <a:xfrm>
            <a:off x="12715875" y="1333500"/>
            <a:ext cx="1143000" cy="266673"/>
          </a:xfrm>
          <a:prstGeom prst="roundRect">
            <a:avLst>
              <a:gd name="adj" fmla="val 50000"/>
            </a:avLst>
          </a:prstGeom>
          <a:solidFill>
            <a:srgbClr val="1A1714"/>
          </a:solidFill>
          <a:ln/>
        </p:spPr>
      </p:sp>
      <p:sp>
        <p:nvSpPr>
          <p:cNvPr id="7" name="Text 5"/>
          <p:cNvSpPr/>
          <p:nvPr/>
        </p:nvSpPr>
        <p:spPr>
          <a:xfrm>
            <a:off x="11696672" y="1430035"/>
            <a:ext cx="362018" cy="206952"/>
          </a:xfrm>
          <a:prstGeom prst="rect">
            <a:avLst/>
          </a:prstGeom>
          <a:noFill/>
          <a:ln/>
        </p:spPr>
        <p:txBody>
          <a:bodyPr wrap="square" lIns="25400" tIns="25400" rIns="25400" bIns="25400" rtlCol="0" anchor="t">
            <a:normAutofit/>
          </a:bodyPr>
          <a:lstStyle/>
          <a:p>
            <a:pPr algn="l" indent="0" marL="0">
              <a:buNone/>
            </a:pPr>
            <a:r>
              <a:rPr lang="en-US" sz="1050" b="1" dirty="0">
                <a:solidFill>
                  <a:srgbClr val="1A1714"/>
                </a:solidFill>
                <a:latin typeface="Be Vietnam Pro" pitchFamily="34" charset="0"/>
                <a:ea typeface="Be Vietnam Pro" pitchFamily="34" charset="-122"/>
                <a:cs typeface="Be Vietnam Pro" pitchFamily="34" charset="-120"/>
              </a:rPr>
              <a:t>9:41</a:t>
            </a:r>
            <a:endParaRPr lang="en-US" sz="1050" dirty="0"/>
          </a:p>
        </p:txBody>
      </p:sp>
      <p:sp>
        <p:nvSpPr>
          <p:cNvPr id="8" name="Text 6"/>
          <p:cNvSpPr/>
          <p:nvPr/>
        </p:nvSpPr>
        <p:spPr>
          <a:xfrm>
            <a:off x="14619048" y="1443024"/>
            <a:ext cx="335229" cy="180975"/>
          </a:xfrm>
          <a:prstGeom prst="rect">
            <a:avLst/>
          </a:prstGeom>
          <a:noFill/>
          <a:ln/>
        </p:spPr>
        <p:txBody>
          <a:bodyPr wrap="square" lIns="25400" tIns="25400" rIns="25400" bIns="25400" rtlCol="0" anchor="ctr">
            <a:normAutofit/>
          </a:bodyPr>
          <a:lstStyle/>
          <a:p>
            <a:pPr algn="l" indent="0" marL="0">
              <a:buNone/>
            </a:pPr>
            <a:r>
              <a:rPr lang="en-US" sz="900" b="1" dirty="0">
                <a:solidFill>
                  <a:srgbClr val="1A1714"/>
                </a:solidFill>
                <a:latin typeface="Be Vietnam Pro" pitchFamily="34" charset="0"/>
                <a:ea typeface="Be Vietnam Pro" pitchFamily="34" charset="-122"/>
                <a:cs typeface="Be Vietnam Pro" pitchFamily="34" charset="-120"/>
              </a:rPr>
              <a:t>◍ ◗ ▮</a:t>
            </a:r>
            <a:endParaRPr lang="en-US" sz="900" dirty="0"/>
          </a:p>
        </p:txBody>
      </p:sp>
      <p:sp>
        <p:nvSpPr>
          <p:cNvPr id="9" name="Shape 7"/>
          <p:cNvSpPr/>
          <p:nvPr/>
        </p:nvSpPr>
        <p:spPr>
          <a:xfrm>
            <a:off x="11601422" y="1733509"/>
            <a:ext cx="814360" cy="23813"/>
          </a:xfrm>
          <a:prstGeom prst="roundRect">
            <a:avLst>
              <a:gd name="adj" fmla="val 49999"/>
            </a:avLst>
          </a:prstGeom>
          <a:solidFill>
            <a:srgbClr val="7A716A"/>
          </a:solidFill>
          <a:ln/>
        </p:spPr>
      </p:sp>
      <p:sp>
        <p:nvSpPr>
          <p:cNvPr id="10" name="Shape 8"/>
          <p:cNvSpPr/>
          <p:nvPr/>
        </p:nvSpPr>
        <p:spPr>
          <a:xfrm>
            <a:off x="12453869" y="1733509"/>
            <a:ext cx="814428" cy="23813"/>
          </a:xfrm>
          <a:prstGeom prst="roundRect">
            <a:avLst>
              <a:gd name="adj" fmla="val 49999"/>
            </a:avLst>
          </a:prstGeom>
          <a:solidFill>
            <a:srgbClr val="7A716A"/>
          </a:solidFill>
          <a:ln/>
        </p:spPr>
      </p:sp>
      <p:sp>
        <p:nvSpPr>
          <p:cNvPr id="11" name="Shape 9"/>
          <p:cNvSpPr/>
          <p:nvPr/>
        </p:nvSpPr>
        <p:spPr>
          <a:xfrm>
            <a:off x="13306384" y="1733509"/>
            <a:ext cx="814428" cy="23813"/>
          </a:xfrm>
          <a:prstGeom prst="roundRect">
            <a:avLst>
              <a:gd name="adj" fmla="val 49999"/>
            </a:avLst>
          </a:prstGeom>
          <a:solidFill>
            <a:srgbClr val="7A716A"/>
          </a:solidFill>
          <a:ln/>
        </p:spPr>
      </p:sp>
      <p:sp>
        <p:nvSpPr>
          <p:cNvPr id="12" name="Shape 10"/>
          <p:cNvSpPr/>
          <p:nvPr/>
        </p:nvSpPr>
        <p:spPr>
          <a:xfrm>
            <a:off x="14158899" y="1733509"/>
            <a:ext cx="814428" cy="23813"/>
          </a:xfrm>
          <a:prstGeom prst="roundRect">
            <a:avLst>
              <a:gd name="adj" fmla="val 49999"/>
            </a:avLst>
          </a:prstGeom>
          <a:solidFill>
            <a:srgbClr val="D8CFB9"/>
          </a:solidFill>
          <a:ln/>
        </p:spPr>
      </p:sp>
      <p:sp>
        <p:nvSpPr>
          <p:cNvPr id="13" name="Text 11"/>
          <p:cNvSpPr/>
          <p:nvPr/>
        </p:nvSpPr>
        <p:spPr>
          <a:xfrm>
            <a:off x="11639509" y="1940516"/>
            <a:ext cx="1576685" cy="176645"/>
          </a:xfrm>
          <a:prstGeom prst="rect">
            <a:avLst/>
          </a:prstGeom>
          <a:noFill/>
          <a:ln/>
        </p:spPr>
        <p:txBody>
          <a:bodyPr wrap="square" lIns="25400" tIns="25400" rIns="25400" bIns="25400" rtlCol="0" anchor="t">
            <a:normAutofit/>
          </a:bodyPr>
          <a:lstStyle/>
          <a:p>
            <a:pPr algn="l" indent="0" marL="0">
              <a:buNone/>
            </a:pPr>
            <a:r>
              <a:rPr lang="en-US" sz="825" spc="99" kern="0" dirty="0">
                <a:solidFill>
                  <a:srgbClr val="FFFFFF">
                    <a:alpha val="72000"/>
                  </a:srgbClr>
                </a:solidFill>
                <a:latin typeface="JetBrains Mono" pitchFamily="34" charset="0"/>
                <a:ea typeface="JetBrains Mono" pitchFamily="34" charset="-122"/>
                <a:cs typeface="JetBrains Mono" pitchFamily="34" charset="-120"/>
              </a:rPr>
              <a:t>WARD 4 · COUNCILLOR</a:t>
            </a:r>
            <a:endParaRPr lang="en-US" sz="825" dirty="0"/>
          </a:p>
        </p:txBody>
      </p:sp>
      <p:sp>
        <p:nvSpPr>
          <p:cNvPr id="14" name="Text 12"/>
          <p:cNvSpPr/>
          <p:nvPr/>
        </p:nvSpPr>
        <p:spPr>
          <a:xfrm>
            <a:off x="14775453" y="1905000"/>
            <a:ext cx="235987" cy="247677"/>
          </a:xfrm>
          <a:prstGeom prst="rect">
            <a:avLst/>
          </a:prstGeom>
          <a:noFill/>
          <a:ln/>
        </p:spPr>
        <p:txBody>
          <a:bodyPr wrap="square" lIns="25400" tIns="25400" rIns="25400" bIns="25400" rtlCol="0" anchor="t">
            <a:normAutofit/>
          </a:bodyPr>
          <a:lstStyle/>
          <a:p>
            <a:pPr algn="l" indent="0" marL="0">
              <a:lnSpc>
                <a:spcPct val="79344"/>
              </a:lnSpc>
              <a:buNone/>
            </a:pPr>
            <a:r>
              <a:rPr lang="en-US" sz="1650" dirty="0">
                <a:solidFill>
                  <a:srgbClr val="4D4640"/>
                </a:solidFill>
                <a:latin typeface="Be Vietnam Pro" pitchFamily="34" charset="0"/>
                <a:ea typeface="Be Vietnam Pro" pitchFamily="34" charset="-122"/>
                <a:cs typeface="Be Vietnam Pro" pitchFamily="34" charset="-120"/>
              </a:rPr>
              <a:t>✕</a:t>
            </a:r>
            <a:endParaRPr lang="en-US" sz="1650" dirty="0"/>
          </a:p>
        </p:txBody>
      </p:sp>
      <p:sp>
        <p:nvSpPr>
          <p:cNvPr id="15" name="Shape 13"/>
          <p:cNvSpPr/>
          <p:nvPr/>
        </p:nvSpPr>
        <p:spPr>
          <a:xfrm>
            <a:off x="11715750" y="3110711"/>
            <a:ext cx="533346" cy="533346"/>
          </a:xfrm>
          <a:prstGeom prst="roundRect">
            <a:avLst>
              <a:gd name="adj" fmla="val 28574"/>
            </a:avLst>
          </a:prstGeom>
          <a:solidFill>
            <a:srgbClr val="F3EDDC"/>
          </a:solidFill>
          <a:ln w="12989">
            <a:solidFill>
              <a:srgbClr val="D8CFB9"/>
            </a:solidFill>
            <a:prstDash val="dash"/>
          </a:ln>
        </p:spPr>
      </p:sp>
      <p:pic>
        <p:nvPicPr>
          <p:cNvPr id="1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868095" y="3263057"/>
            <a:ext cx="228586" cy="228586"/>
          </a:xfrm>
          <a:prstGeom prst="rect">
            <a:avLst/>
          </a:prstGeom>
        </p:spPr>
      </p:pic>
      <p:sp>
        <p:nvSpPr>
          <p:cNvPr id="17" name="Text 14"/>
          <p:cNvSpPr/>
          <p:nvPr/>
        </p:nvSpPr>
        <p:spPr>
          <a:xfrm>
            <a:off x="11715750" y="3872643"/>
            <a:ext cx="3237548" cy="737592"/>
          </a:xfrm>
          <a:prstGeom prst="rect">
            <a:avLst/>
          </a:prstGeom>
          <a:noFill/>
          <a:ln/>
        </p:spPr>
        <p:txBody>
          <a:bodyPr wrap="square" lIns="25400" tIns="25400" rIns="25400" bIns="25400" rtlCol="0" anchor="t">
            <a:normAutofit/>
          </a:bodyPr>
          <a:lstStyle/>
          <a:p>
            <a:pPr algn="l" indent="0" marL="0">
              <a:lnSpc>
                <a:spcPct val="89760"/>
              </a:lnSpc>
              <a:buNone/>
            </a:pPr>
            <a:r>
              <a:rPr lang="en-US" sz="2700" spc="-59" kern="0" dirty="0">
                <a:solidFill>
                  <a:srgbClr val="1A1714"/>
                </a:solidFill>
                <a:latin typeface="Georgia" pitchFamily="34" charset="0"/>
                <a:ea typeface="Georgia" pitchFamily="34" charset="-122"/>
                <a:cs typeface="Georgia" pitchFamily="34" charset="-120"/>
              </a:rPr>
              <a:t>Priya Nandakumar</a:t>
            </a:r>
            <a:endParaRPr lang="en-US" sz="2700" dirty="0"/>
          </a:p>
        </p:txBody>
      </p:sp>
      <p:sp>
        <p:nvSpPr>
          <p:cNvPr id="18" name="Text 15"/>
          <p:cNvSpPr/>
          <p:nvPr/>
        </p:nvSpPr>
        <p:spPr>
          <a:xfrm>
            <a:off x="11715750" y="4686394"/>
            <a:ext cx="3457575" cy="259042"/>
          </a:xfrm>
          <a:prstGeom prst="rect">
            <a:avLst/>
          </a:prstGeom>
          <a:noFill/>
          <a:ln/>
        </p:spPr>
        <p:txBody>
          <a:bodyPr wrap="square" lIns="25400" tIns="25400" rIns="25400" bIns="25400" rtlCol="0" anchor="t">
            <a:normAutofit/>
          </a:bodyPr>
          <a:lstStyle/>
          <a:p>
            <a:pPr algn="l" indent="0" marL="0">
              <a:lnSpc>
                <a:spcPct val="116000"/>
              </a:lnSpc>
              <a:buNone/>
            </a:pPr>
            <a:r>
              <a:rPr lang="en-US" sz="1200" dirty="0">
                <a:solidFill>
                  <a:srgbClr val="4D4640"/>
                </a:solidFill>
                <a:latin typeface="Be Vietnam Pro" pitchFamily="34" charset="0"/>
                <a:ea typeface="Be Vietnam Pro" pitchFamily="34" charset="-122"/>
                <a:cs typeface="Be Vietnam Pro" pitchFamily="34" charset="-120"/>
              </a:rPr>
              <a:t>Candidate for Ward 4, Guelph</a:t>
            </a:r>
            <a:endParaRPr lang="en-US" sz="1200" dirty="0"/>
          </a:p>
        </p:txBody>
      </p:sp>
      <p:sp>
        <p:nvSpPr>
          <p:cNvPr id="19" name="Shape 16"/>
          <p:cNvSpPr/>
          <p:nvPr/>
        </p:nvSpPr>
        <p:spPr>
          <a:xfrm>
            <a:off x="11715750" y="5135923"/>
            <a:ext cx="3143250" cy="1227359"/>
          </a:xfrm>
          <a:prstGeom prst="roundRect">
            <a:avLst>
              <a:gd name="adj" fmla="val 10865"/>
            </a:avLst>
          </a:prstGeom>
          <a:ln w="8659">
            <a:solidFill>
              <a:srgbClr val="D8CFB9"/>
            </a:solidFill>
            <a:prstDash val="dash"/>
          </a:ln>
        </p:spPr>
      </p:sp>
      <p:sp>
        <p:nvSpPr>
          <p:cNvPr id="20" name="Text 17"/>
          <p:cNvSpPr/>
          <p:nvPr/>
        </p:nvSpPr>
        <p:spPr>
          <a:xfrm>
            <a:off x="11895832" y="5316005"/>
            <a:ext cx="3061395" cy="176645"/>
          </a:xfrm>
          <a:prstGeom prst="rect">
            <a:avLst/>
          </a:prstGeom>
          <a:noFill/>
          <a:ln/>
        </p:spPr>
        <p:txBody>
          <a:bodyPr wrap="square" lIns="25400" tIns="25400" rIns="25400" bIns="25400" rtlCol="0" anchor="t">
            <a:normAutofit/>
          </a:bodyPr>
          <a:lstStyle/>
          <a:p>
            <a:pPr algn="l" indent="0" marL="0">
              <a:buNone/>
            </a:pPr>
            <a:r>
              <a:rPr lang="en-US" sz="825" spc="99" kern="0" dirty="0">
                <a:solidFill>
                  <a:srgbClr val="7A716A"/>
                </a:solidFill>
                <a:latin typeface="JetBrains Mono" pitchFamily="34" charset="0"/>
                <a:ea typeface="JetBrains Mono" pitchFamily="34" charset="-122"/>
                <a:cs typeface="JetBrains Mono" pitchFamily="34" charset="-120"/>
              </a:rPr>
              <a:t>PROFILE INCOMPLETE</a:t>
            </a:r>
            <a:endParaRPr lang="en-US" sz="825" dirty="0"/>
          </a:p>
        </p:txBody>
      </p:sp>
      <p:sp>
        <p:nvSpPr>
          <p:cNvPr id="21" name="Text 18"/>
          <p:cNvSpPr/>
          <p:nvPr/>
        </p:nvSpPr>
        <p:spPr>
          <a:xfrm>
            <a:off x="11895832" y="5540262"/>
            <a:ext cx="2866579" cy="681038"/>
          </a:xfrm>
          <a:prstGeom prst="rect">
            <a:avLst/>
          </a:prstGeom>
          <a:noFill/>
          <a:ln/>
        </p:spPr>
        <p:txBody>
          <a:bodyPr wrap="square" lIns="25400" tIns="25400" rIns="25400" bIns="25400" rtlCol="0" anchor="t">
            <a:normAutofit/>
          </a:bodyPr>
          <a:lstStyle/>
          <a:p>
            <a:pPr algn="l" indent="0" marL="0">
              <a:lnSpc>
                <a:spcPct val="117857"/>
              </a:lnSpc>
              <a:buNone/>
            </a:pPr>
            <a:r>
              <a:rPr lang="en-US" sz="1125" dirty="0">
                <a:solidFill>
                  <a:srgbClr val="1A1714"/>
                </a:solidFill>
                <a:latin typeface="Be Vietnam Pro" pitchFamily="34" charset="0"/>
                <a:ea typeface="Be Vietnam Pro" pitchFamily="34" charset="-122"/>
                <a:cs typeface="Be Vietnam Pro" pitchFamily="34" charset="-120"/>
              </a:rPr>
              <a:t>This candidate hasn't submitted a website or campaign video yet. They're on your ballot on October 26.</a:t>
            </a:r>
            <a:endParaRPr lang="en-US" sz="1125" dirty="0"/>
          </a:p>
        </p:txBody>
      </p:sp>
      <p:sp>
        <p:nvSpPr>
          <p:cNvPr id="22" name="Text 19"/>
          <p:cNvSpPr/>
          <p:nvPr/>
        </p:nvSpPr>
        <p:spPr>
          <a:xfrm>
            <a:off x="11715750" y="6591868"/>
            <a:ext cx="3457575" cy="176645"/>
          </a:xfrm>
          <a:prstGeom prst="rect">
            <a:avLst/>
          </a:prstGeom>
          <a:noFill/>
          <a:ln/>
        </p:spPr>
        <p:txBody>
          <a:bodyPr wrap="square" lIns="25400" tIns="25400" rIns="25400" bIns="25400" rtlCol="0" anchor="t">
            <a:normAutofit/>
          </a:bodyPr>
          <a:lstStyle/>
          <a:p>
            <a:pPr algn="l" indent="0" marL="0">
              <a:buNone/>
            </a:pPr>
            <a:r>
              <a:rPr lang="en-US" sz="825" spc="99" kern="0" dirty="0">
                <a:solidFill>
                  <a:srgbClr val="7A716A"/>
                </a:solidFill>
                <a:latin typeface="JetBrains Mono" pitchFamily="34" charset="0"/>
                <a:ea typeface="JetBrains Mono" pitchFamily="34" charset="-122"/>
                <a:cs typeface="JetBrains Mono" pitchFamily="34" charset="-120"/>
              </a:rPr>
              <a:t>LISTED CONTACT</a:t>
            </a:r>
            <a:endParaRPr lang="en-US" sz="825" dirty="0"/>
          </a:p>
        </p:txBody>
      </p:sp>
      <p:sp>
        <p:nvSpPr>
          <p:cNvPr id="23" name="Shape 20"/>
          <p:cNvSpPr/>
          <p:nvPr/>
        </p:nvSpPr>
        <p:spPr>
          <a:xfrm>
            <a:off x="11715750" y="6806586"/>
            <a:ext cx="2272267" cy="407789"/>
          </a:xfrm>
          <a:prstGeom prst="roundRect">
            <a:avLst>
              <a:gd name="adj" fmla="val 18686"/>
            </a:avLst>
          </a:prstGeom>
          <a:solidFill>
            <a:srgbClr val="FBF7EE"/>
          </a:solidFill>
          <a:ln w="8659">
            <a:solidFill>
              <a:srgbClr val="D8CFB9"/>
            </a:solidFill>
            <a:prstDash val="solid"/>
          </a:ln>
        </p:spPr>
      </p:sp>
      <p:sp>
        <p:nvSpPr>
          <p:cNvPr id="24" name="Text 21"/>
          <p:cNvSpPr/>
          <p:nvPr/>
        </p:nvSpPr>
        <p:spPr>
          <a:xfrm>
            <a:off x="11876754" y="6948582"/>
            <a:ext cx="2145283" cy="161898"/>
          </a:xfrm>
          <a:prstGeom prst="rect">
            <a:avLst/>
          </a:prstGeom>
          <a:noFill/>
          <a:ln/>
        </p:spPr>
        <p:txBody>
          <a:bodyPr wrap="square" lIns="25400" tIns="25400" rIns="25400" bIns="25400" rtlCol="0" anchor="t">
            <a:normAutofit/>
          </a:bodyPr>
          <a:lstStyle/>
          <a:p>
            <a:pPr algn="l" indent="0" marL="0">
              <a:lnSpc>
                <a:spcPct val="75263"/>
              </a:lnSpc>
              <a:buNone/>
            </a:pPr>
            <a:r>
              <a:rPr lang="en-US" sz="975" spc="29" kern="0" dirty="0">
                <a:solidFill>
                  <a:srgbClr val="1A1714"/>
                </a:solidFill>
                <a:latin typeface="JetBrains Mono" pitchFamily="34" charset="0"/>
                <a:ea typeface="JetBrains Mono" pitchFamily="34" charset="-122"/>
                <a:cs typeface="JetBrains Mono" pitchFamily="34" charset="-120"/>
              </a:rPr>
              <a:t>priya.nandakumar@ward4.ca</a:t>
            </a:r>
            <a:endParaRPr lang="en-US" sz="97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7EE"/>
        </a:solidFill>
      </p:bgPr>
    </p:bg>
    <p:spTree>
      <p:nvGrpSpPr>
        <p:cNvPr id="1" name=""/>
        <p:cNvGrpSpPr/>
        <p:nvPr/>
      </p:nvGrpSpPr>
      <p:grpSpPr>
        <a:xfrm>
          <a:off x="0" y="0"/>
          <a:ext cx="0" cy="0"/>
          <a:chOff x="0" y="0"/>
          <a:chExt cx="0" cy="0"/>
        </a:xfrm>
      </p:grpSpPr>
      <p:sp>
        <p:nvSpPr>
          <p:cNvPr id="2" name="Text 0"/>
          <p:cNvSpPr/>
          <p:nvPr/>
        </p:nvSpPr>
        <p:spPr>
          <a:xfrm>
            <a:off x="1047750" y="952500"/>
            <a:ext cx="2899767" cy="315191"/>
          </a:xfrm>
          <a:prstGeom prst="rect">
            <a:avLst/>
          </a:prstGeom>
          <a:noFill/>
          <a:ln/>
        </p:spPr>
        <p:txBody>
          <a:bodyPr wrap="square" lIns="25400" tIns="25400" rIns="25400" bIns="25400" rtlCol="0" anchor="t">
            <a:normAutofit/>
          </a:bodyPr>
          <a:lstStyle/>
          <a:p>
            <a:pPr algn="l" indent="0" marL="0">
              <a:buNone/>
            </a:pPr>
            <a:r>
              <a:rPr lang="en-US" sz="1650" spc="231" kern="0" dirty="0">
                <a:solidFill>
                  <a:srgbClr val="7A716A"/>
                </a:solidFill>
                <a:latin typeface="JetBrains Mono" pitchFamily="34" charset="0"/>
                <a:ea typeface="JetBrains Mono" pitchFamily="34" charset="-122"/>
                <a:cs typeface="JetBrains Mono" pitchFamily="34" charset="-120"/>
              </a:rPr>
              <a:t>06 · END OF STACK</a:t>
            </a:r>
            <a:endParaRPr lang="en-US" sz="1650" dirty="0"/>
          </a:p>
        </p:txBody>
      </p:sp>
      <p:sp>
        <p:nvSpPr>
          <p:cNvPr id="3" name="Text 1"/>
          <p:cNvSpPr/>
          <p:nvPr/>
        </p:nvSpPr>
        <p:spPr>
          <a:xfrm>
            <a:off x="1047750" y="1619250"/>
            <a:ext cx="5706740" cy="499061"/>
          </a:xfrm>
          <a:prstGeom prst="rect">
            <a:avLst/>
          </a:prstGeom>
          <a:noFill/>
          <a:ln/>
        </p:spPr>
        <p:txBody>
          <a:bodyPr wrap="square" lIns="25400" tIns="25400" rIns="25400" bIns="25400" rtlCol="0" anchor="t">
            <a:normAutofit/>
          </a:bodyPr>
          <a:lstStyle/>
          <a:p>
            <a:pPr algn="l" indent="0" marL="0">
              <a:lnSpc>
                <a:spcPct val="96800"/>
              </a:lnSpc>
              <a:buNone/>
            </a:pPr>
            <a:r>
              <a:rPr lang="en-US" sz="3300" spc="-49" kern="0" dirty="0">
                <a:solidFill>
                  <a:srgbClr val="1A1714"/>
                </a:solidFill>
                <a:latin typeface="Georgia" pitchFamily="34" charset="0"/>
                <a:ea typeface="Georgia" pitchFamily="34" charset="-122"/>
                <a:cs typeface="Georgia" pitchFamily="34" charset="-120"/>
              </a:rPr>
              <a:t>The full field is accounted for</a:t>
            </a:r>
            <a:endParaRPr lang="en-US" sz="3300" dirty="0"/>
          </a:p>
        </p:txBody>
      </p:sp>
      <p:sp>
        <p:nvSpPr>
          <p:cNvPr id="4" name="Text 2"/>
          <p:cNvSpPr/>
          <p:nvPr/>
        </p:nvSpPr>
        <p:spPr>
          <a:xfrm>
            <a:off x="1047750" y="3810000"/>
            <a:ext cx="5101590" cy="2104781"/>
          </a:xfrm>
          <a:prstGeom prst="rect">
            <a:avLst/>
          </a:prstGeom>
          <a:noFill/>
          <a:ln/>
        </p:spPr>
        <p:txBody>
          <a:bodyPr wrap="square" lIns="25400" tIns="25400" rIns="25400" bIns="25400" rtlCol="0" anchor="t">
            <a:normAutofit/>
          </a:bodyPr>
          <a:lstStyle/>
          <a:p>
            <a:pPr algn="l" indent="0" marL="0">
              <a:lnSpc>
                <a:spcPct val="122410"/>
              </a:lnSpc>
              <a:buNone/>
            </a:pPr>
            <a:r>
              <a:rPr lang="en-US" sz="2100" dirty="0">
                <a:solidFill>
                  <a:srgbClr val="4D4640"/>
                </a:solidFill>
                <a:latin typeface="Be Vietnam Pro" pitchFamily="34" charset="0"/>
                <a:ea typeface="Be Vietnam Pro" pitchFamily="34" charset="-122"/>
                <a:cs typeface="Be Vietnam Pro" pitchFamily="34" charset="-120"/>
              </a:rPr>
              <a:t>Closing the stack states how many candidates submitted out of how many are on the ballot, then offers the mayoral race as a deliberate next step.</a:t>
            </a:r>
            <a:endParaRPr lang="en-US" sz="2100" dirty="0"/>
          </a:p>
        </p:txBody>
      </p:sp>
      <p:sp>
        <p:nvSpPr>
          <p:cNvPr id="5" name="Shape 3"/>
          <p:cNvSpPr/>
          <p:nvPr/>
        </p:nvSpPr>
        <p:spPr>
          <a:xfrm>
            <a:off x="11430000" y="1238250"/>
            <a:ext cx="3714750" cy="7810500"/>
          </a:xfrm>
          <a:prstGeom prst="roundRect">
            <a:avLst>
              <a:gd name="adj" fmla="val 11282"/>
            </a:avLst>
          </a:prstGeom>
          <a:solidFill>
            <a:srgbClr val="FBF7EE"/>
          </a:solidFill>
          <a:ln/>
          <a:effectLst>
            <a:outerShdw sx="100000" sy="100000" kx="0" ky="0" algn="bl" rotWithShape="0" blurRad="171450" dist="38100" dir="5400000">
              <a:srgbClr val="1A1714">
                <a:alpha val="8000"/>
              </a:srgbClr>
            </a:outerShdw>
          </a:effectLst>
        </p:spPr>
      </p:sp>
      <p:sp>
        <p:nvSpPr>
          <p:cNvPr id="6" name="Shape 4"/>
          <p:cNvSpPr/>
          <p:nvPr/>
        </p:nvSpPr>
        <p:spPr>
          <a:xfrm>
            <a:off x="12715875" y="1333500"/>
            <a:ext cx="1143000" cy="266673"/>
          </a:xfrm>
          <a:prstGeom prst="roundRect">
            <a:avLst>
              <a:gd name="adj" fmla="val 50000"/>
            </a:avLst>
          </a:prstGeom>
          <a:solidFill>
            <a:srgbClr val="1A1714"/>
          </a:solidFill>
          <a:ln/>
        </p:spPr>
      </p:sp>
      <p:sp>
        <p:nvSpPr>
          <p:cNvPr id="7" name="Text 5"/>
          <p:cNvSpPr/>
          <p:nvPr/>
        </p:nvSpPr>
        <p:spPr>
          <a:xfrm>
            <a:off x="11696672" y="1430035"/>
            <a:ext cx="362018" cy="206952"/>
          </a:xfrm>
          <a:prstGeom prst="rect">
            <a:avLst/>
          </a:prstGeom>
          <a:noFill/>
          <a:ln/>
        </p:spPr>
        <p:txBody>
          <a:bodyPr wrap="square" lIns="25400" tIns="25400" rIns="25400" bIns="25400" rtlCol="0" anchor="t">
            <a:normAutofit/>
          </a:bodyPr>
          <a:lstStyle/>
          <a:p>
            <a:pPr algn="l" indent="0" marL="0">
              <a:buNone/>
            </a:pPr>
            <a:r>
              <a:rPr lang="en-US" sz="1050" b="1" dirty="0">
                <a:solidFill>
                  <a:srgbClr val="1A1714"/>
                </a:solidFill>
                <a:latin typeface="Be Vietnam Pro" pitchFamily="34" charset="0"/>
                <a:ea typeface="Be Vietnam Pro" pitchFamily="34" charset="-122"/>
                <a:cs typeface="Be Vietnam Pro" pitchFamily="34" charset="-120"/>
              </a:rPr>
              <a:t>9:41</a:t>
            </a:r>
            <a:endParaRPr lang="en-US" sz="1050" dirty="0"/>
          </a:p>
        </p:txBody>
      </p:sp>
      <p:sp>
        <p:nvSpPr>
          <p:cNvPr id="8" name="Text 6"/>
          <p:cNvSpPr/>
          <p:nvPr/>
        </p:nvSpPr>
        <p:spPr>
          <a:xfrm>
            <a:off x="14619048" y="1443024"/>
            <a:ext cx="335229" cy="180975"/>
          </a:xfrm>
          <a:prstGeom prst="rect">
            <a:avLst/>
          </a:prstGeom>
          <a:noFill/>
          <a:ln/>
        </p:spPr>
        <p:txBody>
          <a:bodyPr wrap="square" lIns="25400" tIns="25400" rIns="25400" bIns="25400" rtlCol="0" anchor="ctr">
            <a:normAutofit/>
          </a:bodyPr>
          <a:lstStyle/>
          <a:p>
            <a:pPr algn="l" indent="0" marL="0">
              <a:buNone/>
            </a:pPr>
            <a:r>
              <a:rPr lang="en-US" sz="900" b="1" dirty="0">
                <a:solidFill>
                  <a:srgbClr val="1A1714"/>
                </a:solidFill>
                <a:latin typeface="Be Vietnam Pro" pitchFamily="34" charset="0"/>
                <a:ea typeface="Be Vietnam Pro" pitchFamily="34" charset="-122"/>
                <a:cs typeface="Be Vietnam Pro" pitchFamily="34" charset="-120"/>
              </a:rPr>
              <a:t>◍ ◗ ▮</a:t>
            </a:r>
            <a:endParaRPr lang="en-US" sz="900" dirty="0"/>
          </a:p>
        </p:txBody>
      </p:sp>
      <p:sp>
        <p:nvSpPr>
          <p:cNvPr id="9" name="Shape 7"/>
          <p:cNvSpPr/>
          <p:nvPr/>
        </p:nvSpPr>
        <p:spPr>
          <a:xfrm>
            <a:off x="11430000" y="1657336"/>
            <a:ext cx="3714750" cy="344672"/>
          </a:xfrm>
          <a:prstGeom prst="rect">
            <a:avLst/>
          </a:prstGeom>
          <a:gradFill rotWithShape="1">
            <a:gsLst>
              <a:gs pos="80000">
                <a:srgbClr val="FBF7EE">
                  <a:alpha val="100000"/>
                </a:srgbClr>
              </a:gs>
              <a:gs pos="100000">
                <a:srgbClr val="FBF7EE">
                  <a:alpha val="0"/>
                </a:srgbClr>
              </a:gs>
            </a:gsLst>
            <a:lin ang="5400000" scaled="0"/>
          </a:gradFill>
          <a:ln/>
        </p:spPr>
      </p:sp>
      <p:sp>
        <p:nvSpPr>
          <p:cNvPr id="10" name="Text 8"/>
          <p:cNvSpPr/>
          <p:nvPr/>
        </p:nvSpPr>
        <p:spPr>
          <a:xfrm>
            <a:off x="11639509" y="1714432"/>
            <a:ext cx="593716" cy="211417"/>
          </a:xfrm>
          <a:prstGeom prst="rect">
            <a:avLst/>
          </a:prstGeom>
          <a:noFill/>
          <a:ln/>
        </p:spPr>
        <p:txBody>
          <a:bodyPr wrap="square" lIns="25400" tIns="25400" rIns="25400" bIns="25400" rtlCol="0" anchor="t">
            <a:normAutofit/>
          </a:bodyPr>
          <a:lstStyle/>
          <a:p>
            <a:pPr algn="l" indent="0" marL="0">
              <a:lnSpc>
                <a:spcPct val="108216"/>
              </a:lnSpc>
              <a:buNone/>
            </a:pPr>
            <a:r>
              <a:rPr lang="en-US" sz="975" dirty="0">
                <a:solidFill>
                  <a:srgbClr val="4D4640"/>
                </a:solidFill>
                <a:latin typeface="Be Vietnam Pro" pitchFamily="34" charset="0"/>
                <a:ea typeface="Be Vietnam Pro" pitchFamily="34" charset="-122"/>
                <a:cs typeface="Be Vietnam Pro" pitchFamily="34" charset="-120"/>
              </a:rPr>
              <a:t>‹ Ward 4</a:t>
            </a:r>
            <a:endParaRPr lang="en-US" sz="975" dirty="0"/>
          </a:p>
        </p:txBody>
      </p:sp>
      <p:sp>
        <p:nvSpPr>
          <p:cNvPr id="11" name="Text 9"/>
          <p:cNvSpPr/>
          <p:nvPr/>
        </p:nvSpPr>
        <p:spPr>
          <a:xfrm>
            <a:off x="14575144" y="1721062"/>
            <a:ext cx="436296" cy="198158"/>
          </a:xfrm>
          <a:prstGeom prst="rect">
            <a:avLst/>
          </a:prstGeom>
          <a:noFill/>
          <a:ln/>
        </p:spPr>
        <p:txBody>
          <a:bodyPr wrap="square" lIns="25400" tIns="25400" rIns="25400" bIns="25400" rtlCol="0" anchor="t">
            <a:normAutofit/>
          </a:bodyPr>
          <a:lstStyle/>
          <a:p>
            <a:pPr algn="l" indent="0" marL="0">
              <a:lnSpc>
                <a:spcPct val="105600"/>
              </a:lnSpc>
              <a:buNone/>
            </a:pPr>
            <a:r>
              <a:rPr lang="en-US" sz="900" spc="27" kern="0" dirty="0">
                <a:solidFill>
                  <a:srgbClr val="7A716A"/>
                </a:solidFill>
                <a:latin typeface="JetBrains Mono" pitchFamily="34" charset="0"/>
                <a:ea typeface="JetBrains Mono" pitchFamily="34" charset="-122"/>
                <a:cs typeface="JetBrains Mono" pitchFamily="34" charset="-120"/>
              </a:rPr>
              <a:t>9 / 9</a:t>
            </a:r>
            <a:endParaRPr lang="en-US" sz="900" dirty="0"/>
          </a:p>
        </p:txBody>
      </p:sp>
      <p:sp>
        <p:nvSpPr>
          <p:cNvPr id="12" name="Text 10"/>
          <p:cNvSpPr/>
          <p:nvPr/>
        </p:nvSpPr>
        <p:spPr>
          <a:xfrm>
            <a:off x="11696672" y="2002009"/>
            <a:ext cx="3499544" cy="176645"/>
          </a:xfrm>
          <a:prstGeom prst="rect">
            <a:avLst/>
          </a:prstGeom>
          <a:noFill/>
          <a:ln/>
        </p:spPr>
        <p:txBody>
          <a:bodyPr wrap="square" lIns="25400" tIns="25400" rIns="25400" bIns="25400" rtlCol="0" anchor="t">
            <a:normAutofit/>
          </a:bodyPr>
          <a:lstStyle/>
          <a:p>
            <a:pPr algn="l" indent="0" marL="0">
              <a:buNone/>
            </a:pPr>
            <a:r>
              <a:rPr lang="en-US" sz="825" spc="99" kern="0" dirty="0">
                <a:solidFill>
                  <a:srgbClr val="892218"/>
                </a:solidFill>
                <a:latin typeface="JetBrains Mono" pitchFamily="34" charset="0"/>
                <a:ea typeface="JetBrains Mono" pitchFamily="34" charset="-122"/>
                <a:cs typeface="JetBrains Mono" pitchFamily="34" charset="-120"/>
              </a:rPr>
              <a:t>END OF THE WARD RACE</a:t>
            </a:r>
            <a:endParaRPr lang="en-US" sz="825" dirty="0"/>
          </a:p>
        </p:txBody>
      </p:sp>
      <p:sp>
        <p:nvSpPr>
          <p:cNvPr id="13" name="Text 11"/>
          <p:cNvSpPr/>
          <p:nvPr/>
        </p:nvSpPr>
        <p:spPr>
          <a:xfrm>
            <a:off x="11696672" y="2226266"/>
            <a:ext cx="3276846" cy="698626"/>
          </a:xfrm>
          <a:prstGeom prst="rect">
            <a:avLst/>
          </a:prstGeom>
          <a:noFill/>
          <a:ln/>
        </p:spPr>
        <p:txBody>
          <a:bodyPr wrap="square" lIns="25400" tIns="25400" rIns="25400" bIns="25400" rtlCol="0" anchor="t">
            <a:normAutofit/>
          </a:bodyPr>
          <a:lstStyle/>
          <a:p>
            <a:pPr algn="l" indent="0" marL="0">
              <a:lnSpc>
                <a:spcPct val="89760"/>
              </a:lnSpc>
              <a:buNone/>
            </a:pPr>
            <a:r>
              <a:rPr lang="en-US" sz="2550" spc="-56" kern="0" dirty="0">
                <a:solidFill>
                  <a:srgbClr val="1A1714"/>
                </a:solidFill>
                <a:latin typeface="Georgia" pitchFamily="34" charset="0"/>
                <a:ea typeface="Georgia" pitchFamily="34" charset="-122"/>
                <a:cs typeface="Georgia" pitchFamily="34" charset="-120"/>
              </a:rPr>
              <a:t>That's all nine candidates in Ward 4.</a:t>
            </a:r>
            <a:endParaRPr lang="en-US" sz="2550" dirty="0"/>
          </a:p>
        </p:txBody>
      </p:sp>
      <p:sp>
        <p:nvSpPr>
          <p:cNvPr id="14" name="Text 12"/>
          <p:cNvSpPr/>
          <p:nvPr/>
        </p:nvSpPr>
        <p:spPr>
          <a:xfrm>
            <a:off x="11696672" y="3077292"/>
            <a:ext cx="361544" cy="571514"/>
          </a:xfrm>
          <a:prstGeom prst="rect">
            <a:avLst/>
          </a:prstGeom>
          <a:noFill/>
          <a:ln/>
        </p:spPr>
        <p:txBody>
          <a:bodyPr wrap="square" lIns="25400" tIns="25400" rIns="25400" bIns="25400" rtlCol="0" anchor="t">
            <a:normAutofit/>
          </a:bodyPr>
          <a:lstStyle/>
          <a:p>
            <a:pPr algn="l" indent="0" marL="0">
              <a:lnSpc>
                <a:spcPct val="88000"/>
              </a:lnSpc>
              <a:buNone/>
            </a:pPr>
            <a:r>
              <a:rPr lang="en-US" sz="4200" spc="-126" kern="0" dirty="0">
                <a:solidFill>
                  <a:srgbClr val="1A1714"/>
                </a:solidFill>
                <a:latin typeface="Georgia" pitchFamily="34" charset="0"/>
                <a:ea typeface="Georgia" pitchFamily="34" charset="-122"/>
                <a:cs typeface="Georgia" pitchFamily="34" charset="-120"/>
              </a:rPr>
              <a:t>4</a:t>
            </a:r>
            <a:endParaRPr lang="en-US" sz="4200" dirty="0"/>
          </a:p>
        </p:txBody>
      </p:sp>
      <p:sp>
        <p:nvSpPr>
          <p:cNvPr id="15" name="Text 13"/>
          <p:cNvSpPr/>
          <p:nvPr/>
        </p:nvSpPr>
        <p:spPr>
          <a:xfrm>
            <a:off x="12077266" y="3393349"/>
            <a:ext cx="1790700" cy="384734"/>
          </a:xfrm>
          <a:prstGeom prst="rect">
            <a:avLst/>
          </a:prstGeom>
          <a:noFill/>
          <a:ln/>
        </p:spPr>
        <p:txBody>
          <a:bodyPr wrap="square" lIns="25400" tIns="25400" rIns="25400" bIns="25400" rtlCol="0" anchor="t">
            <a:normAutofit/>
          </a:bodyPr>
          <a:lstStyle/>
          <a:p>
            <a:pPr algn="l" indent="0" marL="0">
              <a:lnSpc>
                <a:spcPct val="102667"/>
              </a:lnSpc>
              <a:buNone/>
            </a:pPr>
            <a:r>
              <a:rPr lang="en-US" sz="1050" dirty="0">
                <a:solidFill>
                  <a:srgbClr val="4D4640"/>
                </a:solidFill>
                <a:latin typeface="Be Vietnam Pro" pitchFamily="34" charset="0"/>
                <a:ea typeface="Be Vietnam Pro" pitchFamily="34" charset="-122"/>
                <a:cs typeface="Be Vietnam Pro" pitchFamily="34" charset="-120"/>
              </a:rPr>
              <a:t>of nine submitted a video and website</a:t>
            </a:r>
            <a:endParaRPr lang="en-US" sz="1050" dirty="0"/>
          </a:p>
        </p:txBody>
      </p:sp>
      <p:sp>
        <p:nvSpPr>
          <p:cNvPr id="16" name="Shape 14"/>
          <p:cNvSpPr/>
          <p:nvPr/>
        </p:nvSpPr>
        <p:spPr>
          <a:xfrm>
            <a:off x="11696672" y="3930483"/>
            <a:ext cx="3181404" cy="860159"/>
          </a:xfrm>
          <a:prstGeom prst="roundRect">
            <a:avLst>
              <a:gd name="adj" fmla="val 15503"/>
            </a:avLst>
          </a:prstGeom>
          <a:solidFill>
            <a:srgbClr val="F3EDDC"/>
          </a:solidFill>
          <a:ln w="8659">
            <a:solidFill>
              <a:srgbClr val="D8CFB9"/>
            </a:solidFill>
            <a:prstDash val="dash"/>
          </a:ln>
        </p:spPr>
      </p:sp>
      <p:sp>
        <p:nvSpPr>
          <p:cNvPr id="17" name="Text 15"/>
          <p:cNvSpPr/>
          <p:nvPr/>
        </p:nvSpPr>
        <p:spPr>
          <a:xfrm>
            <a:off x="11848207" y="4082017"/>
            <a:ext cx="2964686" cy="595191"/>
          </a:xfrm>
          <a:prstGeom prst="rect">
            <a:avLst/>
          </a:prstGeom>
          <a:noFill/>
          <a:ln/>
        </p:spPr>
        <p:txBody>
          <a:bodyPr wrap="square" lIns="25400" tIns="25400" rIns="25400" bIns="25400" rtlCol="0" anchor="t">
            <a:normAutofit/>
          </a:bodyPr>
          <a:lstStyle/>
          <a:p>
            <a:pPr algn="l" indent="0" marL="0">
              <a:lnSpc>
                <a:spcPct val="115946"/>
              </a:lnSpc>
              <a:buNone/>
            </a:pPr>
            <a:r>
              <a:rPr lang="en-US" sz="975" b="1" dirty="0">
                <a:solidFill>
                  <a:srgbClr val="1A1714"/>
                </a:solidFill>
                <a:latin typeface="Be Vietnam Pro" pitchFamily="34" charset="0"/>
                <a:ea typeface="Be Vietnam Pro" pitchFamily="34" charset="-122"/>
                <a:cs typeface="Be Vietnam Pro" pitchFamily="34" charset="-120"/>
              </a:rPr>
              <a:t>Five candidates haven't submitted a profile. </a:t>
            </a:r>
            <a:pPr algn="l" indent="0" marL="0">
              <a:lnSpc>
                <a:spcPct val="115946"/>
              </a:lnSpc>
              <a:buNone/>
            </a:pPr>
            <a:r>
              <a:rPr lang="en-US" sz="975" dirty="0">
                <a:solidFill>
                  <a:srgbClr val="4D4640"/>
                </a:solidFill>
                <a:latin typeface="Be Vietnam Pro" pitchFamily="34" charset="0"/>
                <a:ea typeface="Be Vietnam Pro" pitchFamily="34" charset="-122"/>
                <a:cs typeface="Be Vietnam Pro" pitchFamily="34" charset="-120"/>
              </a:rPr>
              <a:t>They still appear in the stack, and they're still on your ballot.</a:t>
            </a:r>
            <a:endParaRPr lang="en-US" sz="975" dirty="0"/>
          </a:p>
        </p:txBody>
      </p:sp>
      <p:sp>
        <p:nvSpPr>
          <p:cNvPr id="18" name="Shape 16"/>
          <p:cNvSpPr/>
          <p:nvPr/>
        </p:nvSpPr>
        <p:spPr>
          <a:xfrm>
            <a:off x="11696672" y="4981142"/>
            <a:ext cx="3181404" cy="9525"/>
          </a:xfrm>
          <a:prstGeom prst="rect">
            <a:avLst/>
          </a:prstGeom>
          <a:solidFill>
            <a:srgbClr val="E6DFC9"/>
          </a:solidFill>
          <a:ln/>
        </p:spPr>
      </p:sp>
      <p:sp>
        <p:nvSpPr>
          <p:cNvPr id="19" name="Shape 17"/>
          <p:cNvSpPr/>
          <p:nvPr/>
        </p:nvSpPr>
        <p:spPr>
          <a:xfrm>
            <a:off x="11696672" y="5180301"/>
            <a:ext cx="3181404" cy="436405"/>
          </a:xfrm>
          <a:prstGeom prst="roundRect">
            <a:avLst>
              <a:gd name="adj" fmla="val 17461"/>
            </a:avLst>
          </a:prstGeom>
          <a:solidFill>
            <a:srgbClr val="C83B2C"/>
          </a:solidFill>
          <a:ln w="8659">
            <a:solidFill>
              <a:srgbClr val="C83B2C"/>
            </a:solidFill>
            <a:prstDash val="solid"/>
          </a:ln>
        </p:spPr>
      </p:sp>
      <p:sp>
        <p:nvSpPr>
          <p:cNvPr id="20" name="Text 18"/>
          <p:cNvSpPr/>
          <p:nvPr/>
        </p:nvSpPr>
        <p:spPr>
          <a:xfrm>
            <a:off x="11800485" y="5331835"/>
            <a:ext cx="2973778" cy="171436"/>
          </a:xfrm>
          <a:prstGeom prst="rect">
            <a:avLst/>
          </a:prstGeom>
          <a:noFill/>
          <a:ln/>
        </p:spPr>
        <p:txBody>
          <a:bodyPr wrap="square" lIns="25400" tIns="25400" rIns="25400" bIns="25400" rtlCol="0" anchor="ctr">
            <a:normAutofit/>
          </a:bodyPr>
          <a:lstStyle/>
          <a:p>
            <a:pPr algn="ctr" indent="0" marL="0">
              <a:lnSpc>
                <a:spcPct val="78974"/>
              </a:lnSpc>
              <a:buNone/>
            </a:pPr>
            <a:r>
              <a:rPr lang="en-US" sz="1050" dirty="0">
                <a:solidFill>
                  <a:srgbClr val="FFFFFF"/>
                </a:solidFill>
                <a:latin typeface="Be Vietnam Pro" pitchFamily="34" charset="0"/>
                <a:ea typeface="Be Vietnam Pro" pitchFamily="34" charset="-122"/>
                <a:cs typeface="Be Vietnam Pro" pitchFamily="34" charset="-120"/>
              </a:rPr>
              <a:t>Now watch the mayoral race →</a:t>
            </a:r>
            <a:endParaRPr lang="en-US" sz="1050" dirty="0"/>
          </a:p>
        </p:txBody>
      </p:sp>
      <p:sp>
        <p:nvSpPr>
          <p:cNvPr id="21" name="Shape 19"/>
          <p:cNvSpPr/>
          <p:nvPr/>
        </p:nvSpPr>
        <p:spPr>
          <a:xfrm>
            <a:off x="11696672" y="5730965"/>
            <a:ext cx="3181404" cy="436405"/>
          </a:xfrm>
          <a:prstGeom prst="roundRect">
            <a:avLst>
              <a:gd name="adj" fmla="val 17461"/>
            </a:avLst>
          </a:prstGeom>
          <a:solidFill>
            <a:srgbClr val="FBF7EE"/>
          </a:solidFill>
          <a:ln w="8659">
            <a:solidFill>
              <a:srgbClr val="D8CFB9"/>
            </a:solidFill>
            <a:prstDash val="solid"/>
          </a:ln>
        </p:spPr>
      </p:sp>
      <p:sp>
        <p:nvSpPr>
          <p:cNvPr id="22" name="Text 20"/>
          <p:cNvSpPr/>
          <p:nvPr/>
        </p:nvSpPr>
        <p:spPr>
          <a:xfrm>
            <a:off x="11800485" y="5882499"/>
            <a:ext cx="2973778" cy="171436"/>
          </a:xfrm>
          <a:prstGeom prst="rect">
            <a:avLst/>
          </a:prstGeom>
          <a:noFill/>
          <a:ln/>
        </p:spPr>
        <p:txBody>
          <a:bodyPr wrap="square" lIns="25400" tIns="25400" rIns="25400" bIns="25400" rtlCol="0" anchor="ctr">
            <a:normAutofit/>
          </a:bodyPr>
          <a:lstStyle/>
          <a:p>
            <a:pPr algn="ctr" indent="0" marL="0">
              <a:lnSpc>
                <a:spcPct val="78974"/>
              </a:lnSpc>
              <a:buNone/>
            </a:pPr>
            <a:r>
              <a:rPr lang="en-US" sz="1050" dirty="0">
                <a:solidFill>
                  <a:srgbClr val="1A1714"/>
                </a:solidFill>
                <a:latin typeface="Be Vietnam Pro" pitchFamily="34" charset="0"/>
                <a:ea typeface="Be Vietnam Pro" pitchFamily="34" charset="-122"/>
                <a:cs typeface="Be Vietnam Pro" pitchFamily="34" charset="-120"/>
              </a:rPr>
              <a:t>Back to my representatives</a:t>
            </a:r>
            <a:endParaRPr lang="en-US" sz="1050" dirty="0"/>
          </a:p>
        </p:txBody>
      </p:sp>
      <p:sp>
        <p:nvSpPr>
          <p:cNvPr id="23" name="Text 21"/>
          <p:cNvSpPr/>
          <p:nvPr/>
        </p:nvSpPr>
        <p:spPr>
          <a:xfrm>
            <a:off x="11696672" y="6376879"/>
            <a:ext cx="3499544" cy="198158"/>
          </a:xfrm>
          <a:prstGeom prst="rect">
            <a:avLst/>
          </a:prstGeom>
          <a:noFill/>
          <a:ln/>
        </p:spPr>
        <p:txBody>
          <a:bodyPr wrap="square" lIns="25400" tIns="25400" rIns="25400" bIns="25400" rtlCol="0" anchor="t">
            <a:normAutofit/>
          </a:bodyPr>
          <a:lstStyle/>
          <a:p>
            <a:pPr algn="l" indent="0" marL="0">
              <a:lnSpc>
                <a:spcPct val="112000"/>
              </a:lnSpc>
              <a:buNone/>
            </a:pPr>
            <a:r>
              <a:rPr lang="en-US" sz="900" dirty="0">
                <a:solidFill>
                  <a:srgbClr val="7A716A"/>
                </a:solidFill>
                <a:latin typeface="Be Vietnam Pro" pitchFamily="34" charset="0"/>
                <a:ea typeface="Be Vietnam Pro" pitchFamily="34" charset="-122"/>
                <a:cs typeface="Be Vietnam Pro" pitchFamily="34" charset="-120"/>
              </a:rPr>
              <a:t>Municipal election · Monday, October 26,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2026-08-14T13:57:29Z</dcterms:created>
  <dcterms:modified xsi:type="dcterms:W3CDTF">2026-08-14T13:57:29Z</dcterms:modified>
</cp:coreProperties>
</file>