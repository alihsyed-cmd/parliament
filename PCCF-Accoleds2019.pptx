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36"/>
  </p:notesMasterIdLst>
  <p:sldIdLst>
    <p:sldId id="257" r:id="rId2"/>
    <p:sldId id="277" r:id="rId3"/>
    <p:sldId id="256" r:id="rId4"/>
    <p:sldId id="258" r:id="rId5"/>
    <p:sldId id="276" r:id="rId6"/>
    <p:sldId id="259" r:id="rId7"/>
    <p:sldId id="279" r:id="rId8"/>
    <p:sldId id="260" r:id="rId9"/>
    <p:sldId id="274" r:id="rId10"/>
    <p:sldId id="275" r:id="rId11"/>
    <p:sldId id="270" r:id="rId12"/>
    <p:sldId id="262" r:id="rId13"/>
    <p:sldId id="268" r:id="rId14"/>
    <p:sldId id="271" r:id="rId15"/>
    <p:sldId id="281" r:id="rId16"/>
    <p:sldId id="282" r:id="rId17"/>
    <p:sldId id="280" r:id="rId18"/>
    <p:sldId id="283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5" r:id="rId28"/>
    <p:sldId id="292" r:id="rId29"/>
    <p:sldId id="293" r:id="rId30"/>
    <p:sldId id="296" r:id="rId31"/>
    <p:sldId id="297" r:id="rId32"/>
    <p:sldId id="298" r:id="rId33"/>
    <p:sldId id="269" r:id="rId34"/>
    <p:sldId id="272" r:id="rId3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17">
          <p15:clr>
            <a:srgbClr val="A4A3A4"/>
          </p15:clr>
        </p15:guide>
        <p15:guide id="2" pos="4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0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8F11F5-4FF2-46EE-A10B-1564452FE17E}" v="33" dt="2020-04-28T23:34:09.4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4" autoAdjust="0"/>
    <p:restoredTop sz="53749" autoAdjust="0"/>
  </p:normalViewPr>
  <p:slideViewPr>
    <p:cSldViewPr snapToGrid="0">
      <p:cViewPr varScale="1">
        <p:scale>
          <a:sx n="71" d="100"/>
          <a:sy n="71" d="100"/>
        </p:scale>
        <p:origin x="1704" y="44"/>
      </p:cViewPr>
      <p:guideLst>
        <p:guide orient="horz" pos="717"/>
        <p:guide pos="42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a Cooper" userId="16c791d4-4426-4083-b06b-ac2259d0d18e" providerId="ADAL" clId="{248F11F5-4FF2-46EE-A10B-1564452FE17E}"/>
    <pc:docChg chg="undo custSel modSld">
      <pc:chgData name="Alexandra Cooper" userId="16c791d4-4426-4083-b06b-ac2259d0d18e" providerId="ADAL" clId="{248F11F5-4FF2-46EE-A10B-1564452FE17E}" dt="2020-04-28T23:42:26.661" v="119" actId="12"/>
      <pc:docMkLst>
        <pc:docMk/>
      </pc:docMkLst>
      <pc:sldChg chg="modNotesTx">
        <pc:chgData name="Alexandra Cooper" userId="16c791d4-4426-4083-b06b-ac2259d0d18e" providerId="ADAL" clId="{248F11F5-4FF2-46EE-A10B-1564452FE17E}" dt="2020-04-28T23:16:25.298" v="4" actId="20577"/>
        <pc:sldMkLst>
          <pc:docMk/>
          <pc:sldMk cId="0" sldId="256"/>
        </pc:sldMkLst>
      </pc:sldChg>
      <pc:sldChg chg="modNotesTx">
        <pc:chgData name="Alexandra Cooper" userId="16c791d4-4426-4083-b06b-ac2259d0d18e" providerId="ADAL" clId="{248F11F5-4FF2-46EE-A10B-1564452FE17E}" dt="2020-04-28T23:16:50.897" v="5" actId="20577"/>
        <pc:sldMkLst>
          <pc:docMk/>
          <pc:sldMk cId="2815263212" sldId="258"/>
        </pc:sldMkLst>
      </pc:sldChg>
      <pc:sldChg chg="modNotesTx">
        <pc:chgData name="Alexandra Cooper" userId="16c791d4-4426-4083-b06b-ac2259d0d18e" providerId="ADAL" clId="{248F11F5-4FF2-46EE-A10B-1564452FE17E}" dt="2020-04-28T23:17:36.116" v="7" actId="20577"/>
        <pc:sldMkLst>
          <pc:docMk/>
          <pc:sldMk cId="3240764776" sldId="259"/>
        </pc:sldMkLst>
      </pc:sldChg>
      <pc:sldChg chg="modNotesTx">
        <pc:chgData name="Alexandra Cooper" userId="16c791d4-4426-4083-b06b-ac2259d0d18e" providerId="ADAL" clId="{248F11F5-4FF2-46EE-A10B-1564452FE17E}" dt="2020-04-28T23:18:33.886" v="9" actId="20577"/>
        <pc:sldMkLst>
          <pc:docMk/>
          <pc:sldMk cId="1076375329" sldId="260"/>
        </pc:sldMkLst>
      </pc:sldChg>
      <pc:sldChg chg="modNotesTx">
        <pc:chgData name="Alexandra Cooper" userId="16c791d4-4426-4083-b06b-ac2259d0d18e" providerId="ADAL" clId="{248F11F5-4FF2-46EE-A10B-1564452FE17E}" dt="2020-04-28T23:29:07.908" v="30" actId="6549"/>
        <pc:sldMkLst>
          <pc:docMk/>
          <pc:sldMk cId="102603471" sldId="262"/>
        </pc:sldMkLst>
      </pc:sldChg>
      <pc:sldChg chg="modNotesTx">
        <pc:chgData name="Alexandra Cooper" userId="16c791d4-4426-4083-b06b-ac2259d0d18e" providerId="ADAL" clId="{248F11F5-4FF2-46EE-A10B-1564452FE17E}" dt="2020-04-28T23:39:11.676" v="60" actId="12"/>
        <pc:sldMkLst>
          <pc:docMk/>
          <pc:sldMk cId="3696874920" sldId="268"/>
        </pc:sldMkLst>
      </pc:sldChg>
      <pc:sldChg chg="modNotesTx">
        <pc:chgData name="Alexandra Cooper" userId="16c791d4-4426-4083-b06b-ac2259d0d18e" providerId="ADAL" clId="{248F11F5-4FF2-46EE-A10B-1564452FE17E}" dt="2020-04-28T23:39:34.609" v="69" actId="20577"/>
        <pc:sldMkLst>
          <pc:docMk/>
          <pc:sldMk cId="3660256836" sldId="271"/>
        </pc:sldMkLst>
      </pc:sldChg>
      <pc:sldChg chg="modNotesTx">
        <pc:chgData name="Alexandra Cooper" userId="16c791d4-4426-4083-b06b-ac2259d0d18e" providerId="ADAL" clId="{248F11F5-4FF2-46EE-A10B-1564452FE17E}" dt="2020-04-28T23:26:44.159" v="23" actId="12"/>
        <pc:sldMkLst>
          <pc:docMk/>
          <pc:sldMk cId="3885784727" sldId="274"/>
        </pc:sldMkLst>
      </pc:sldChg>
      <pc:sldChg chg="addSp delSp">
        <pc:chgData name="Alexandra Cooper" userId="16c791d4-4426-4083-b06b-ac2259d0d18e" providerId="ADAL" clId="{248F11F5-4FF2-46EE-A10B-1564452FE17E}" dt="2020-04-28T23:27:32.467" v="25"/>
        <pc:sldMkLst>
          <pc:docMk/>
          <pc:sldMk cId="3841649824" sldId="275"/>
        </pc:sldMkLst>
        <pc:spChg chg="add del">
          <ac:chgData name="Alexandra Cooper" userId="16c791d4-4426-4083-b06b-ac2259d0d18e" providerId="ADAL" clId="{248F11F5-4FF2-46EE-A10B-1564452FE17E}" dt="2020-04-28T23:27:32.467" v="25"/>
          <ac:spMkLst>
            <pc:docMk/>
            <pc:sldMk cId="3841649824" sldId="275"/>
            <ac:spMk id="4" creationId="{762068D1-F4C0-4A9B-AF23-370E670840B0}"/>
          </ac:spMkLst>
        </pc:spChg>
      </pc:sldChg>
      <pc:sldChg chg="modNotesTx">
        <pc:chgData name="Alexandra Cooper" userId="16c791d4-4426-4083-b06b-ac2259d0d18e" providerId="ADAL" clId="{248F11F5-4FF2-46EE-A10B-1564452FE17E}" dt="2020-04-28T23:17:12.482" v="6" actId="20577"/>
        <pc:sldMkLst>
          <pc:docMk/>
          <pc:sldMk cId="3614584644" sldId="276"/>
        </pc:sldMkLst>
      </pc:sldChg>
      <pc:sldChg chg="modNotesTx">
        <pc:chgData name="Alexandra Cooper" userId="16c791d4-4426-4083-b06b-ac2259d0d18e" providerId="ADAL" clId="{248F11F5-4FF2-46EE-A10B-1564452FE17E}" dt="2020-04-28T23:15:58.247" v="3" actId="20577"/>
        <pc:sldMkLst>
          <pc:docMk/>
          <pc:sldMk cId="2476169612" sldId="277"/>
        </pc:sldMkLst>
      </pc:sldChg>
      <pc:sldChg chg="modNotesTx">
        <pc:chgData name="Alexandra Cooper" userId="16c791d4-4426-4083-b06b-ac2259d0d18e" providerId="ADAL" clId="{248F11F5-4FF2-46EE-A10B-1564452FE17E}" dt="2020-04-28T23:39:47.227" v="72" actId="20577"/>
        <pc:sldMkLst>
          <pc:docMk/>
          <pc:sldMk cId="3107291220" sldId="281"/>
        </pc:sldMkLst>
      </pc:sldChg>
      <pc:sldChg chg="modNotesTx">
        <pc:chgData name="Alexandra Cooper" userId="16c791d4-4426-4083-b06b-ac2259d0d18e" providerId="ADAL" clId="{248F11F5-4FF2-46EE-A10B-1564452FE17E}" dt="2020-04-28T23:40:30.560" v="87" actId="20577"/>
        <pc:sldMkLst>
          <pc:docMk/>
          <pc:sldMk cId="405539283" sldId="285"/>
        </pc:sldMkLst>
      </pc:sldChg>
      <pc:sldChg chg="modNotesTx">
        <pc:chgData name="Alexandra Cooper" userId="16c791d4-4426-4083-b06b-ac2259d0d18e" providerId="ADAL" clId="{248F11F5-4FF2-46EE-A10B-1564452FE17E}" dt="2020-04-28T23:41:13.936" v="117" actId="20577"/>
        <pc:sldMkLst>
          <pc:docMk/>
          <pc:sldMk cId="1374102892" sldId="288"/>
        </pc:sldMkLst>
      </pc:sldChg>
      <pc:sldChg chg="modNotesTx">
        <pc:chgData name="Alexandra Cooper" userId="16c791d4-4426-4083-b06b-ac2259d0d18e" providerId="ADAL" clId="{248F11F5-4FF2-46EE-A10B-1564452FE17E}" dt="2020-04-28T23:41:30.899" v="118" actId="6549"/>
        <pc:sldMkLst>
          <pc:docMk/>
          <pc:sldMk cId="3540580525" sldId="289"/>
        </pc:sldMkLst>
      </pc:sldChg>
      <pc:sldChg chg="addSp delSp">
        <pc:chgData name="Alexandra Cooper" userId="16c791d4-4426-4083-b06b-ac2259d0d18e" providerId="ADAL" clId="{248F11F5-4FF2-46EE-A10B-1564452FE17E}" dt="2020-04-28T23:32:17.773" v="32"/>
        <pc:sldMkLst>
          <pc:docMk/>
          <pc:sldMk cId="1383493055" sldId="291"/>
        </pc:sldMkLst>
        <pc:spChg chg="add del">
          <ac:chgData name="Alexandra Cooper" userId="16c791d4-4426-4083-b06b-ac2259d0d18e" providerId="ADAL" clId="{248F11F5-4FF2-46EE-A10B-1564452FE17E}" dt="2020-04-28T23:32:17.773" v="32"/>
          <ac:spMkLst>
            <pc:docMk/>
            <pc:sldMk cId="1383493055" sldId="291"/>
            <ac:spMk id="3" creationId="{E4EEC41A-09FA-4045-9D2F-CAE711727E53}"/>
          </ac:spMkLst>
        </pc:spChg>
      </pc:sldChg>
      <pc:sldChg chg="modNotesTx">
        <pc:chgData name="Alexandra Cooper" userId="16c791d4-4426-4083-b06b-ac2259d0d18e" providerId="ADAL" clId="{248F11F5-4FF2-46EE-A10B-1564452FE17E}" dt="2020-04-28T23:42:26.661" v="119" actId="12"/>
        <pc:sldMkLst>
          <pc:docMk/>
          <pc:sldMk cId="80584970" sldId="293"/>
        </pc:sldMkLst>
      </pc:sldChg>
    </pc:docChg>
  </pc:docChgLst>
  <pc:docChgLst>
    <pc:chgData name="Alexandra Cooper" userId="16c791d4-4426-4083-b06b-ac2259d0d18e" providerId="ADAL" clId="{B560EBA4-5DD8-4865-AF11-F01C4DA47467}"/>
    <pc:docChg chg="undo custSel addSld delSld modSld sldOrd">
      <pc:chgData name="Alexandra Cooper" userId="16c791d4-4426-4083-b06b-ac2259d0d18e" providerId="ADAL" clId="{B560EBA4-5DD8-4865-AF11-F01C4DA47467}" dt="2019-11-26T01:45:22.915" v="242"/>
      <pc:docMkLst>
        <pc:docMk/>
      </pc:docMkLst>
      <pc:sldChg chg="addSp modSp">
        <pc:chgData name="Alexandra Cooper" userId="16c791d4-4426-4083-b06b-ac2259d0d18e" providerId="ADAL" clId="{B560EBA4-5DD8-4865-AF11-F01C4DA47467}" dt="2019-11-26T01:33:49.511" v="234" actId="114"/>
        <pc:sldMkLst>
          <pc:docMk/>
          <pc:sldMk cId="2468635065" sldId="286"/>
        </pc:sldMkLst>
        <pc:spChg chg="add mod">
          <ac:chgData name="Alexandra Cooper" userId="16c791d4-4426-4083-b06b-ac2259d0d18e" providerId="ADAL" clId="{B560EBA4-5DD8-4865-AF11-F01C4DA47467}" dt="2019-11-26T01:33:49.511" v="234" actId="114"/>
          <ac:spMkLst>
            <pc:docMk/>
            <pc:sldMk cId="2468635065" sldId="286"/>
            <ac:spMk id="3" creationId="{2F022AFD-A4D7-4365-98EA-4DB2F1B65254}"/>
          </ac:spMkLst>
        </pc:spChg>
        <pc:grpChg chg="add mod">
          <ac:chgData name="Alexandra Cooper" userId="16c791d4-4426-4083-b06b-ac2259d0d18e" providerId="ADAL" clId="{B560EBA4-5DD8-4865-AF11-F01C4DA47467}" dt="2019-11-26T01:33:37.355" v="232" actId="1076"/>
          <ac:grpSpMkLst>
            <pc:docMk/>
            <pc:sldMk cId="2468635065" sldId="286"/>
            <ac:grpSpMk id="4" creationId="{D3A7DA18-7F5A-47FB-AD7D-014F75AB43E8}"/>
          </ac:grpSpMkLst>
        </pc:grpChg>
        <pc:picChg chg="mod">
          <ac:chgData name="Alexandra Cooper" userId="16c791d4-4426-4083-b06b-ac2259d0d18e" providerId="ADAL" clId="{B560EBA4-5DD8-4865-AF11-F01C4DA47467}" dt="2019-11-26T01:33:35.015" v="231" actId="164"/>
          <ac:picMkLst>
            <pc:docMk/>
            <pc:sldMk cId="2468635065" sldId="286"/>
            <ac:picMk id="8" creationId="{BF5E22D0-87B6-4155-AB4E-DBF8E3D5A8BD}"/>
          </ac:picMkLst>
        </pc:picChg>
        <pc:picChg chg="mod">
          <ac:chgData name="Alexandra Cooper" userId="16c791d4-4426-4083-b06b-ac2259d0d18e" providerId="ADAL" clId="{B560EBA4-5DD8-4865-AF11-F01C4DA47467}" dt="2019-11-26T01:33:35.015" v="231" actId="164"/>
          <ac:picMkLst>
            <pc:docMk/>
            <pc:sldMk cId="2468635065" sldId="286"/>
            <ac:picMk id="12" creationId="{D9CE6847-65BC-4BAA-B9D0-EFD896AC9830}"/>
          </ac:picMkLst>
        </pc:picChg>
      </pc:sldChg>
      <pc:sldChg chg="modSp ord">
        <pc:chgData name="Alexandra Cooper" userId="16c791d4-4426-4083-b06b-ac2259d0d18e" providerId="ADAL" clId="{B560EBA4-5DD8-4865-AF11-F01C4DA47467}" dt="2019-11-26T01:45:22.915" v="242"/>
        <pc:sldMkLst>
          <pc:docMk/>
          <pc:sldMk cId="80584970" sldId="293"/>
        </pc:sldMkLst>
        <pc:spChg chg="mod">
          <ac:chgData name="Alexandra Cooper" userId="16c791d4-4426-4083-b06b-ac2259d0d18e" providerId="ADAL" clId="{B560EBA4-5DD8-4865-AF11-F01C4DA47467}" dt="2019-11-26T00:27:05.693" v="174" actId="20577"/>
          <ac:spMkLst>
            <pc:docMk/>
            <pc:sldMk cId="80584970" sldId="293"/>
            <ac:spMk id="3" creationId="{070DAC45-C4A2-4D75-AAC6-A29DCC021F88}"/>
          </ac:spMkLst>
        </pc:spChg>
      </pc:sldChg>
      <pc:sldChg chg="modSp del">
        <pc:chgData name="Alexandra Cooper" userId="16c791d4-4426-4083-b06b-ac2259d0d18e" providerId="ADAL" clId="{B560EBA4-5DD8-4865-AF11-F01C4DA47467}" dt="2019-11-26T00:28:20.757" v="175" actId="2696"/>
        <pc:sldMkLst>
          <pc:docMk/>
          <pc:sldMk cId="2710635381" sldId="294"/>
        </pc:sldMkLst>
        <pc:spChg chg="mod">
          <ac:chgData name="Alexandra Cooper" userId="16c791d4-4426-4083-b06b-ac2259d0d18e" providerId="ADAL" clId="{B560EBA4-5DD8-4865-AF11-F01C4DA47467}" dt="2019-11-24T17:48:55.725" v="0" actId="11"/>
          <ac:spMkLst>
            <pc:docMk/>
            <pc:sldMk cId="2710635381" sldId="294"/>
            <ac:spMk id="3" creationId="{070DAC45-C4A2-4D75-AAC6-A29DCC021F88}"/>
          </ac:spMkLst>
        </pc:spChg>
      </pc:sldChg>
      <pc:sldChg chg="modAnim">
        <pc:chgData name="Alexandra Cooper" userId="16c791d4-4426-4083-b06b-ac2259d0d18e" providerId="ADAL" clId="{B560EBA4-5DD8-4865-AF11-F01C4DA47467}" dt="2019-11-25T23:46:37.035" v="6"/>
        <pc:sldMkLst>
          <pc:docMk/>
          <pc:sldMk cId="1233397733" sldId="297"/>
        </pc:sldMkLst>
      </pc:sldChg>
      <pc:sldChg chg="delSp modSp add ord modAnim">
        <pc:chgData name="Alexandra Cooper" userId="16c791d4-4426-4083-b06b-ac2259d0d18e" providerId="ADAL" clId="{B560EBA4-5DD8-4865-AF11-F01C4DA47467}" dt="2019-11-26T01:42:11.108" v="241" actId="478"/>
        <pc:sldMkLst>
          <pc:docMk/>
          <pc:sldMk cId="600619021" sldId="298"/>
        </pc:sldMkLst>
        <pc:spChg chg="del mod">
          <ac:chgData name="Alexandra Cooper" userId="16c791d4-4426-4083-b06b-ac2259d0d18e" providerId="ADAL" clId="{B560EBA4-5DD8-4865-AF11-F01C4DA47467}" dt="2019-11-26T01:42:11.108" v="241" actId="478"/>
          <ac:spMkLst>
            <pc:docMk/>
            <pc:sldMk cId="600619021" sldId="298"/>
            <ac:spMk id="2" creationId="{00000000-0000-0000-0000-000000000000}"/>
          </ac:spMkLst>
        </pc:spChg>
      </pc:sldChg>
      <pc:sldChg chg="add del">
        <pc:chgData name="Alexandra Cooper" userId="16c791d4-4426-4083-b06b-ac2259d0d18e" providerId="ADAL" clId="{B560EBA4-5DD8-4865-AF11-F01C4DA47467}" dt="2019-11-26T00:28:20.757" v="175" actId="2696"/>
        <pc:sldMkLst>
          <pc:docMk/>
          <pc:sldMk cId="1969285980" sldId="298"/>
        </pc:sldMkLst>
      </pc:sldChg>
    </pc:docChg>
  </pc:docChgLst>
  <pc:docChgLst>
    <pc:chgData name="Alexandra Cooper" userId="S::coopera@queensu.ca::16c791d4-4426-4083-b06b-ac2259d0d18e" providerId="AD" clId="Web-{E280ECBF-5957-429E-93D3-6F61EB7650BA}"/>
    <pc:docChg chg="addSld modSld">
      <pc:chgData name="Alexandra Cooper" userId="S::coopera@queensu.ca::16c791d4-4426-4083-b06b-ac2259d0d18e" providerId="AD" clId="Web-{E280ECBF-5957-429E-93D3-6F61EB7650BA}" dt="2019-11-24T17:45:13.997" v="232" actId="20577"/>
      <pc:docMkLst>
        <pc:docMk/>
      </pc:docMkLst>
      <pc:sldChg chg="modSp new">
        <pc:chgData name="Alexandra Cooper" userId="S::coopera@queensu.ca::16c791d4-4426-4083-b06b-ac2259d0d18e" providerId="AD" clId="Web-{E280ECBF-5957-429E-93D3-6F61EB7650BA}" dt="2019-11-24T17:21:27.346" v="48" actId="20577"/>
        <pc:sldMkLst>
          <pc:docMk/>
          <pc:sldMk cId="1383493055" sldId="291"/>
        </pc:sldMkLst>
        <pc:spChg chg="mod">
          <ac:chgData name="Alexandra Cooper" userId="S::coopera@queensu.ca::16c791d4-4426-4083-b06b-ac2259d0d18e" providerId="AD" clId="Web-{E280ECBF-5957-429E-93D3-6F61EB7650BA}" dt="2019-11-24T17:21:27.346" v="48" actId="20577"/>
          <ac:spMkLst>
            <pc:docMk/>
            <pc:sldMk cId="1383493055" sldId="291"/>
            <ac:spMk id="2" creationId="{B3C29227-4B0F-4954-B94A-D329E5E830A8}"/>
          </ac:spMkLst>
        </pc:spChg>
      </pc:sldChg>
      <pc:sldChg chg="modSp new">
        <pc:chgData name="Alexandra Cooper" userId="S::coopera@queensu.ca::16c791d4-4426-4083-b06b-ac2259d0d18e" providerId="AD" clId="Web-{E280ECBF-5957-429E-93D3-6F61EB7650BA}" dt="2019-11-24T17:31:07.896" v="118" actId="20577"/>
        <pc:sldMkLst>
          <pc:docMk/>
          <pc:sldMk cId="4061993514" sldId="292"/>
        </pc:sldMkLst>
        <pc:spChg chg="mod">
          <ac:chgData name="Alexandra Cooper" userId="S::coopera@queensu.ca::16c791d4-4426-4083-b06b-ac2259d0d18e" providerId="AD" clId="Web-{E280ECBF-5957-429E-93D3-6F61EB7650BA}" dt="2019-11-24T17:21:42.206" v="66" actId="20577"/>
          <ac:spMkLst>
            <pc:docMk/>
            <pc:sldMk cId="4061993514" sldId="292"/>
            <ac:spMk id="2" creationId="{D3E214BF-282F-450B-99B8-CF045A50AA48}"/>
          </ac:spMkLst>
        </pc:spChg>
        <pc:spChg chg="mod">
          <ac:chgData name="Alexandra Cooper" userId="S::coopera@queensu.ca::16c791d4-4426-4083-b06b-ac2259d0d18e" providerId="AD" clId="Web-{E280ECBF-5957-429E-93D3-6F61EB7650BA}" dt="2019-11-24T17:31:07.896" v="118" actId="20577"/>
          <ac:spMkLst>
            <pc:docMk/>
            <pc:sldMk cId="4061993514" sldId="292"/>
            <ac:spMk id="3" creationId="{F16172CE-637A-482F-865C-C9D2F2BCC2DB}"/>
          </ac:spMkLst>
        </pc:spChg>
      </pc:sldChg>
      <pc:sldChg chg="modSp new">
        <pc:chgData name="Alexandra Cooper" userId="S::coopera@queensu.ca::16c791d4-4426-4083-b06b-ac2259d0d18e" providerId="AD" clId="Web-{E280ECBF-5957-429E-93D3-6F61EB7650BA}" dt="2019-11-24T17:45:13.997" v="232" actId="20577"/>
        <pc:sldMkLst>
          <pc:docMk/>
          <pc:sldMk cId="80584970" sldId="293"/>
        </pc:sldMkLst>
        <pc:spChg chg="mod">
          <ac:chgData name="Alexandra Cooper" userId="S::coopera@queensu.ca::16c791d4-4426-4083-b06b-ac2259d0d18e" providerId="AD" clId="Web-{E280ECBF-5957-429E-93D3-6F61EB7650BA}" dt="2019-11-24T17:31:58.307" v="148" actId="20577"/>
          <ac:spMkLst>
            <pc:docMk/>
            <pc:sldMk cId="80584970" sldId="293"/>
            <ac:spMk id="2" creationId="{EDD5FEFD-AA75-4E93-AB17-2138E6A74826}"/>
          </ac:spMkLst>
        </pc:spChg>
        <pc:spChg chg="mod">
          <ac:chgData name="Alexandra Cooper" userId="S::coopera@queensu.ca::16c791d4-4426-4083-b06b-ac2259d0d18e" providerId="AD" clId="Web-{E280ECBF-5957-429E-93D3-6F61EB7650BA}" dt="2019-11-24T17:45:13.997" v="232" actId="20577"/>
          <ac:spMkLst>
            <pc:docMk/>
            <pc:sldMk cId="80584970" sldId="293"/>
            <ac:spMk id="3" creationId="{070DAC45-C4A2-4D75-AAC6-A29DCC021F88}"/>
          </ac:spMkLst>
        </pc:spChg>
      </pc:sldChg>
      <pc:sldChg chg="modSp add replId">
        <pc:chgData name="Alexandra Cooper" userId="S::coopera@queensu.ca::16c791d4-4426-4083-b06b-ac2259d0d18e" providerId="AD" clId="Web-{E280ECBF-5957-429E-93D3-6F61EB7650BA}" dt="2019-11-24T17:44:44.981" v="230" actId="20577"/>
        <pc:sldMkLst>
          <pc:docMk/>
          <pc:sldMk cId="2710635381" sldId="294"/>
        </pc:sldMkLst>
        <pc:spChg chg="mod">
          <ac:chgData name="Alexandra Cooper" userId="S::coopera@queensu.ca::16c791d4-4426-4083-b06b-ac2259d0d18e" providerId="AD" clId="Web-{E280ECBF-5957-429E-93D3-6F61EB7650BA}" dt="2019-11-24T17:44:44.981" v="230" actId="20577"/>
          <ac:spMkLst>
            <pc:docMk/>
            <pc:sldMk cId="2710635381" sldId="294"/>
            <ac:spMk id="3" creationId="{070DAC45-C4A2-4D75-AAC6-A29DCC021F88}"/>
          </ac:spMkLst>
        </pc:spChg>
      </pc:sldChg>
    </pc:docChg>
  </pc:docChgLst>
  <pc:docChgLst>
    <pc:chgData name="Alexandra Cooper" userId="S::coopera@queensu.ca::16c791d4-4426-4083-b06b-ac2259d0d18e" providerId="AD" clId="Web-{B8F73D31-183C-9DA0-FDE7-5597CDB941E7}"/>
    <pc:docChg chg="delSld modSld sldOrd">
      <pc:chgData name="Alexandra Cooper" userId="S::coopera@queensu.ca::16c791d4-4426-4083-b06b-ac2259d0d18e" providerId="AD" clId="Web-{B8F73D31-183C-9DA0-FDE7-5597CDB941E7}" dt="2019-11-25T23:44:43.685" v="63"/>
      <pc:docMkLst>
        <pc:docMk/>
      </pc:docMkLst>
      <pc:sldChg chg="ord">
        <pc:chgData name="Alexandra Cooper" userId="S::coopera@queensu.ca::16c791d4-4426-4083-b06b-ac2259d0d18e" providerId="AD" clId="Web-{B8F73D31-183C-9DA0-FDE7-5597CDB941E7}" dt="2019-11-25T23:25:12.562" v="4"/>
        <pc:sldMkLst>
          <pc:docMk/>
          <pc:sldMk cId="3150835046" sldId="263"/>
        </pc:sldMkLst>
      </pc:sldChg>
      <pc:sldChg chg="ord">
        <pc:chgData name="Alexandra Cooper" userId="S::coopera@queensu.ca::16c791d4-4426-4083-b06b-ac2259d0d18e" providerId="AD" clId="Web-{B8F73D31-183C-9DA0-FDE7-5597CDB941E7}" dt="2019-11-25T23:25:12.562" v="3"/>
        <pc:sldMkLst>
          <pc:docMk/>
          <pc:sldMk cId="1047747938" sldId="265"/>
        </pc:sldMkLst>
      </pc:sldChg>
      <pc:sldChg chg="ord">
        <pc:chgData name="Alexandra Cooper" userId="S::coopera@queensu.ca::16c791d4-4426-4083-b06b-ac2259d0d18e" providerId="AD" clId="Web-{B8F73D31-183C-9DA0-FDE7-5597CDB941E7}" dt="2019-11-25T23:25:12.562" v="2"/>
        <pc:sldMkLst>
          <pc:docMk/>
          <pc:sldMk cId="4120496915" sldId="266"/>
        </pc:sldMkLst>
      </pc:sldChg>
      <pc:sldChg chg="ord">
        <pc:chgData name="Alexandra Cooper" userId="S::coopera@queensu.ca::16c791d4-4426-4083-b06b-ac2259d0d18e" providerId="AD" clId="Web-{B8F73D31-183C-9DA0-FDE7-5597CDB941E7}" dt="2019-11-25T23:25:12.562" v="1"/>
        <pc:sldMkLst>
          <pc:docMk/>
          <pc:sldMk cId="405291689" sldId="267"/>
        </pc:sldMkLst>
      </pc:sldChg>
      <pc:sldChg chg="del">
        <pc:chgData name="Alexandra Cooper" userId="S::coopera@queensu.ca::16c791d4-4426-4083-b06b-ac2259d0d18e" providerId="AD" clId="Web-{B8F73D31-183C-9DA0-FDE7-5597CDB941E7}" dt="2019-11-25T23:24:50.420" v="0"/>
        <pc:sldMkLst>
          <pc:docMk/>
          <pc:sldMk cId="2410384836" sldId="273"/>
        </pc:sldMkLst>
      </pc:sldChg>
      <pc:sldChg chg="modSp">
        <pc:chgData name="Alexandra Cooper" userId="S::coopera@queensu.ca::16c791d4-4426-4083-b06b-ac2259d0d18e" providerId="AD" clId="Web-{B8F73D31-183C-9DA0-FDE7-5597CDB941E7}" dt="2019-11-25T23:33:55.455" v="11" actId="20577"/>
        <pc:sldMkLst>
          <pc:docMk/>
          <pc:sldMk cId="405539283" sldId="285"/>
        </pc:sldMkLst>
        <pc:spChg chg="mod">
          <ac:chgData name="Alexandra Cooper" userId="S::coopera@queensu.ca::16c791d4-4426-4083-b06b-ac2259d0d18e" providerId="AD" clId="Web-{B8F73D31-183C-9DA0-FDE7-5597CDB941E7}" dt="2019-11-25T23:33:55.455" v="11" actId="20577"/>
          <ac:spMkLst>
            <pc:docMk/>
            <pc:sldMk cId="405539283" sldId="285"/>
            <ac:spMk id="2" creationId="{B6FEEAF6-5E33-4646-9E0A-35E28160CF37}"/>
          </ac:spMkLst>
        </pc:spChg>
      </pc:sldChg>
      <pc:sldChg chg="modSp">
        <pc:chgData name="Alexandra Cooper" userId="S::coopera@queensu.ca::16c791d4-4426-4083-b06b-ac2259d0d18e" providerId="AD" clId="Web-{B8F73D31-183C-9DA0-FDE7-5597CDB941E7}" dt="2019-11-25T23:34:21.910" v="29" actId="20577"/>
        <pc:sldMkLst>
          <pc:docMk/>
          <pc:sldMk cId="2468635065" sldId="286"/>
        </pc:sldMkLst>
        <pc:spChg chg="mod">
          <ac:chgData name="Alexandra Cooper" userId="S::coopera@queensu.ca::16c791d4-4426-4083-b06b-ac2259d0d18e" providerId="AD" clId="Web-{B8F73D31-183C-9DA0-FDE7-5597CDB941E7}" dt="2019-11-25T23:34:21.910" v="29" actId="20577"/>
          <ac:spMkLst>
            <pc:docMk/>
            <pc:sldMk cId="2468635065" sldId="286"/>
            <ac:spMk id="2" creationId="{B6FEEAF6-5E33-4646-9E0A-35E28160CF37}"/>
          </ac:spMkLst>
        </pc:spChg>
      </pc:sldChg>
      <pc:sldChg chg="modSp">
        <pc:chgData name="Alexandra Cooper" userId="S::coopera@queensu.ca::16c791d4-4426-4083-b06b-ac2259d0d18e" providerId="AD" clId="Web-{B8F73D31-183C-9DA0-FDE7-5597CDB941E7}" dt="2019-11-25T23:34:57.803" v="35" actId="20577"/>
        <pc:sldMkLst>
          <pc:docMk/>
          <pc:sldMk cId="4061993514" sldId="292"/>
        </pc:sldMkLst>
        <pc:spChg chg="mod">
          <ac:chgData name="Alexandra Cooper" userId="S::coopera@queensu.ca::16c791d4-4426-4083-b06b-ac2259d0d18e" providerId="AD" clId="Web-{B8F73D31-183C-9DA0-FDE7-5597CDB941E7}" dt="2019-11-25T23:34:57.803" v="35" actId="20577"/>
          <ac:spMkLst>
            <pc:docMk/>
            <pc:sldMk cId="4061993514" sldId="292"/>
            <ac:spMk id="2" creationId="{D3E214BF-282F-450B-99B8-CF045A50AA48}"/>
          </ac:spMkLst>
        </pc:spChg>
      </pc:sldChg>
      <pc:sldChg chg="modSp">
        <pc:chgData name="Alexandra Cooper" userId="S::coopera@queensu.ca::16c791d4-4426-4083-b06b-ac2259d0d18e" providerId="AD" clId="Web-{B8F73D31-183C-9DA0-FDE7-5597CDB941E7}" dt="2019-11-25T23:35:08.772" v="38" actId="20577"/>
        <pc:sldMkLst>
          <pc:docMk/>
          <pc:sldMk cId="1625196459" sldId="296"/>
        </pc:sldMkLst>
        <pc:spChg chg="mod">
          <ac:chgData name="Alexandra Cooper" userId="S::coopera@queensu.ca::16c791d4-4426-4083-b06b-ac2259d0d18e" providerId="AD" clId="Web-{B8F73D31-183C-9DA0-FDE7-5597CDB941E7}" dt="2019-11-25T23:35:08.772" v="38" actId="20577"/>
          <ac:spMkLst>
            <pc:docMk/>
            <pc:sldMk cId="1625196459" sldId="296"/>
            <ac:spMk id="2" creationId="{D3E214BF-282F-450B-99B8-CF045A50AA48}"/>
          </ac:spMkLst>
        </pc:spChg>
      </pc:sldChg>
      <pc:sldChg chg="addSp modSp addAnim modAnim">
        <pc:chgData name="Alexandra Cooper" userId="S::coopera@queensu.ca::16c791d4-4426-4083-b06b-ac2259d0d18e" providerId="AD" clId="Web-{B8F73D31-183C-9DA0-FDE7-5597CDB941E7}" dt="2019-11-25T23:43:49.947" v="61"/>
        <pc:sldMkLst>
          <pc:docMk/>
          <pc:sldMk cId="1233397733" sldId="297"/>
        </pc:sldMkLst>
        <pc:spChg chg="mod">
          <ac:chgData name="Alexandra Cooper" userId="S::coopera@queensu.ca::16c791d4-4426-4083-b06b-ac2259d0d18e" providerId="AD" clId="Web-{B8F73D31-183C-9DA0-FDE7-5597CDB941E7}" dt="2019-11-25T23:35:19.898" v="45" actId="20577"/>
          <ac:spMkLst>
            <pc:docMk/>
            <pc:sldMk cId="1233397733" sldId="297"/>
            <ac:spMk id="2" creationId="{D3E214BF-282F-450B-99B8-CF045A50AA48}"/>
          </ac:spMkLst>
        </pc:spChg>
        <pc:spChg chg="mod">
          <ac:chgData name="Alexandra Cooper" userId="S::coopera@queensu.ca::16c791d4-4426-4083-b06b-ac2259d0d18e" providerId="AD" clId="Web-{B8F73D31-183C-9DA0-FDE7-5597CDB941E7}" dt="2019-11-25T23:42:35.723" v="52" actId="1076"/>
          <ac:spMkLst>
            <pc:docMk/>
            <pc:sldMk cId="1233397733" sldId="297"/>
            <ac:spMk id="5" creationId="{AA18EABF-42C1-4A35-870C-AB086B79488C}"/>
          </ac:spMkLst>
        </pc:spChg>
        <pc:spChg chg="add mod">
          <ac:chgData name="Alexandra Cooper" userId="S::coopera@queensu.ca::16c791d4-4426-4083-b06b-ac2259d0d18e" providerId="AD" clId="Web-{B8F73D31-183C-9DA0-FDE7-5597CDB941E7}" dt="2019-11-25T23:42:42.943" v="53" actId="1076"/>
          <ac:spMkLst>
            <pc:docMk/>
            <pc:sldMk cId="1233397733" sldId="297"/>
            <ac:spMk id="8" creationId="{4CF81467-36D7-45AA-844B-467918BBEA8A}"/>
          </ac:spMkLst>
        </pc:spChg>
        <pc:spChg chg="add mod">
          <ac:chgData name="Alexandra Cooper" userId="S::coopera@queensu.ca::16c791d4-4426-4083-b06b-ac2259d0d18e" providerId="AD" clId="Web-{B8F73D31-183C-9DA0-FDE7-5597CDB941E7}" dt="2019-11-25T23:43:05.475" v="57" actId="1076"/>
          <ac:spMkLst>
            <pc:docMk/>
            <pc:sldMk cId="1233397733" sldId="297"/>
            <ac:spMk id="9" creationId="{8F2A3795-1B3B-462B-86EC-44B0F8CAEDF7}"/>
          </ac:spMkLst>
        </pc:spChg>
        <pc:spChg chg="mod">
          <ac:chgData name="Alexandra Cooper" userId="S::coopera@queensu.ca::16c791d4-4426-4083-b06b-ac2259d0d18e" providerId="AD" clId="Web-{B8F73D31-183C-9DA0-FDE7-5597CDB941E7}" dt="2019-11-25T23:42:55.709" v="56" actId="1076"/>
          <ac:spMkLst>
            <pc:docMk/>
            <pc:sldMk cId="1233397733" sldId="297"/>
            <ac:spMk id="12" creationId="{1F51BD9F-16C7-443D-A6F6-5C1020FE8B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453F2-4840-4EC5-9952-99CFA1258E4E}" type="datetimeFigureOut">
              <a:rPr lang="en-US" smtClean="0"/>
              <a:t>4/28/2020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502387-5AA9-4F8F-A040-708596BDEA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4072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PCCF guide – overview of PCCF; includes past presentations and guide to running the PCCF+; Has CC BY-NC licence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447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FSA, if number is 0 then rural; if 1-9 then urban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402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 a correspondence between postal codes and Statistics Canada’s standard geographic areas. Plain text file.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409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Susan Mowers at the University of Ottawa and her student have added documentation for the PCCF back to the 1996 census. This includes a syntax file to create an SPSS data file, and a getting started guide that provides an overview of how to link a user’s research data to demographic data. These files are open to all DLI members.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8506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PCCF+ is a SAS control program, derived from the PCCF, with a postal code population-weight file (from the Census of Population). It assigns geographic identifiers based on postal codes, can assign geographic coding using 3, 4, or 5 characters of the postal code as well as all 6; can provide output for potentially troublesome postal codes, and provides residential &amp; institutional coding separately.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297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72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you can match postal codes to Census geography to support linking data from different sources.</a:t>
            </a:r>
            <a:endParaRPr lang="en-CA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Example is PCCF+ use – immunization rates in Public Health Units. Researcher had data on immunization of children within a public health unit and the child’s home and school postal codes. With the PCCF+, the researcher was able to look at her data and Census data at the DA level.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05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Looking at licensing and access.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PCCF Licence is appendix of the DLI Licence and is signed separately.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Uses of the PCCF: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Academic, non-commercial use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Teaching and learning - Students can download PCCF on their laptop to do their assignments. This includes projects, maps, analytical papers, etc. Faculty can download and use the PCCF in teaching exercises.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 – to analysis data and publish articles, Masters or PHD thesis. Cannot share data but results can be published. (e.g. – DAs can be included in a report and shared as long as no postal codes are displayed in the report.)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Planning purposes – institutions can use the PCCF for student recruitment activities or finding where students are from; Alumni department is included under Planning purposes.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not sure, email the DLI list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0296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your institution has signed the PCCF Appendix, then the PCCF folder will be in the EFT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a new release with each census; between each census, new editions are released.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Organized by census year; PCCF – month, year (current version August 2019); PCCF+ - number, letter (current version 7B)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490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is the basic difference between the 2.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PCCF is single link indicator so each postal code is assigned to a single DA. It identifies the geographic area with the majority of dwellings and assigns it to the postal code.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PCCF+, however, uses a population-weighted random allocation, based on the census, for postal codes that links to more than one geographic area. The distribution will more accurately reflect where the population is.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200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 a postal code that covers 3 DAs with 60% of the population on DA1, 30% in DA2, and 10% in DA3.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PCCF, using the single link indicator, forces all the postal codes into DA1 since it has the highest population. The PCCF+, using the population-weighted random allocation for postal codes, assigns postal codes to each of the 3 DAs according to their size. So, in this example, 60% are assigned to DA1, 30% to DA2 and 10% to DA3.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936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Want to use variables present on the PCCF+ which are not present in regular PCCF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 is less than perfect with respect to postal codes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work with the first 5 characters of a postal code if necessary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will work with FSA; coding will be cruder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Vintage of the postal code spans more than one census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Assigns DAs and EAs from 1981 census to current census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Evaluate the quality of the postal code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PCCF+ problem file uses Canada Post’s building name database to identify postal codes for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residences - hospitals, nursing homes, prisons, and university residences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non-residences – coroner’s offices, children’s aid societies, public trustees, and government offices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Residence flag identifies “business buildings” as populated or un-populated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 better coding in rural areas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population weights derived from the census are used to probabilistically assign geographic codes in rural areas, across all DAs served by a given postal code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PCCF, however, assigns everyone with the same rural postal code to the same DA; not necessarily the best, just the one with the highest population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postal codes are used by residents of “incompletely enumerated Indian Reserves”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PCCF tends to assign postal codes tend to non-reserve areas, while the PCCF+ uses the census population weights to account for estimates of the population living on incompletely enumerated reserves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PCCF – less granular; if don’t need lower levels of geography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013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you need: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Latest PCCF+ from DLI EFT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 of postal codes as a text file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readPCCF1.sas file which is used to convert the text file with the postal codes to a SAS dataset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363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 unzip the files from the EFT, you get these folders and the SAS program for running the PCCF+. These contain the data files that SAS will use to run the program. Do not change any of the file paths.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PCCFplus_7B.sas - SAS program used to run the PCCF+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011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First, you create a SAS dataset of the researcher’s postal codes; then, the PCCF+SAS program reads this dataset to match the postal codes with Census geography and generate the output that matches the postal codes to the geography.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096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After running the PCCF+ what you end up with is a summary of the conversion, listing any errors or problems; an output file (in CSV and text) with the postal codes matched to census geography; and a problem file listing any errors or problems with the postal codes.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775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Start with a text file containing only the postal codes and their IDs. Postal codes in the first column, need to be 6 digit, upper case, no spaces; the ID# can be up to 15 characters and can be alphanumeric. There should be one space between the postal codes and the ID#.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818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program reads the text file and creates that SAS dataset that the PCCF+ program will use. This program was not created by Statistics Canada and is not included in the download. A copy of it is available in Appendix 1 of the PCCF+ guide.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7153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screen shot of the readPCCF1.sas program. You need to change the file paths to point to where the text file with the postal codes is.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– file path to the folder that text file is in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– if the name of the text file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– Data statement – this is where you name the SAS dataset being created and will be used in the next step; </a:t>
            </a:r>
          </a:p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tell the program what the length of the ID# number is (reminder – up to 15 characters).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Then Run the program. You will then find a SAS dataset in the folder you named. The file will have the extension - </a:t>
            </a:r>
            <a:r>
              <a:rPr lang="en-CA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.sas7bat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374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Screenshot of SAS results; this is the SAS dataset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91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you have the SAS dataset file, you can run the PCCF+ to read the dataset just created. Open the PCCFplus_7B.sas program and make changes.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9050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a screen shot of the PCCFplus_7B.sas program. Like the first SAS program file, you need to change file paths and names to run the program.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– this is the location where the PCCF+ data files sit; all the files and folders that you downloaded from the EFT and unzipped.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 – folder where the dataset you created in the previous step is sitting; the .sas7bat file.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 – the name of the SAS dataset (.sas7bat) with no extension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 – path to where the output files are going to go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 – provide the filename of the output files that will be created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 – file path and name of the summary file that will be created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02036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is one more change that needs to be made further down on the SAS screen.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will come this warning – Edits nor normally required below this point. But there is one edit to make to the ID length. So scroll pass this to **here, and **change the ID length to match the length of the ID#.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Once you have made all these changes, Run the program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3982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Screenshot of the summary of results, including any problem records.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information is also in the Summary PDF file created.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7443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Screenshot of the output file. **We have the postal codes **matched to census geography. Not all the columns are seen here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9217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list of all the columns in the output file. Each are explained in the PCCF+ User Guide.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There are a number of census geographies, Lat/Long, and at the end, vintage EAs and DAs.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4783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Created also with the output file is the Problem File.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PCCF originally created for health data with emphasize on residential postal codes. Error file will pick up non-residential postal codes so if the postal codes you have are from a lot of businesses or non-residential buildings like banks or schools, these are included here. Unless the postal code couldn’t be found (Error 0: No match to PCCF), then what’s listed may not necessarily be an ‘error’. This file can be useful when trying learn about a postal code.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409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file contains the following information: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with postal codes which could not be matched on all 6 characters (Link 0: error); these will have to be manually checked to determine why this error is there.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with postal codes for a delivery mode type (DMT) which is only linked to post office location on the PCCF (Link 1: error), and for which census location data were not available on the weighted conversion file;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for postal codes known to indicate a non-residential address (Link 2: warning);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where the DMT frequently indicates a non-residential address (Link 3 and 4: warning); 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which could have been assigned more than one census subdivision based on the unweighted PCCF (Link 6: note);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Records which could have been assigned to more than one census subdivision based on the weighted conversion file (Link 7: note).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93783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screenshot of a problem file.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problem output file contains a subset of output records for any cases that had warnings, errors, or notes (these are also included in the output file). **It includes a Message column indicating the error, warning, or note, **the Link column which has the code for the error and is included in  both files; and an **ADR column giving the building name and address for businesses or institution (from the Canada Post building name database). 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 other columns that may be of interest that are in both files are the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The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helps identify records likely to be for institutional residents and the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indicates postal codes for possible or improbable residence address, or postal codes for which the residential or non-residential nature is undetermined. 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2431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this example, we see that postal code for Lester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Lockyear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 an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‘N’ meaning “Nursing home or group home” and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‘+’ meaning ‘possible residence’. **The postal code above, ‘Medical Centre’ has a dash in </a:t>
            </a:r>
            <a:r>
              <a:rPr lang="en-CA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ResFlag</a:t>
            </a:r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meaning “improbable residence” since there probably isn’t anyone living in a medical centre.</a:t>
            </a:r>
          </a:p>
          <a:p>
            <a:pPr lvl="0"/>
            <a:r>
              <a:rPr lang="en-CA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columns can be helpful in determining why a record is listed in the problem file; it is also useful to evaluate the quality of the postal code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62280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502387-5AA9-4F8F-A040-708596BDEA7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58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funky tricolour ppt backgrounds 16-9-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1038" y="1597819"/>
            <a:ext cx="7777162" cy="1102519"/>
          </a:xfrm>
        </p:spPr>
        <p:txBody>
          <a:bodyPr lIns="0" tIns="0" rIns="0" bIns="0" anchor="t">
            <a:normAutofit/>
          </a:bodyPr>
          <a:lstStyle>
            <a:lvl1pPr algn="l">
              <a:defRPr sz="3600" b="0">
                <a:solidFill>
                  <a:schemeClr val="bg1"/>
                </a:solidFill>
                <a:latin typeface="Palatino Linotype"/>
                <a:cs typeface="Palatino Linotype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1314450"/>
          </a:xfrm>
        </p:spPr>
        <p:txBody>
          <a:bodyPr lIns="0" bIns="0">
            <a:normAutofit/>
          </a:bodyPr>
          <a:lstStyle>
            <a:lvl1pPr marL="0" indent="0" algn="l">
              <a:buNone/>
              <a:defRPr sz="1800" b="1" i="0">
                <a:solidFill>
                  <a:srgbClr val="FFFFFF"/>
                </a:solidFill>
                <a:latin typeface="Calibri"/>
                <a:cs typeface="Calibri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4871671"/>
            <a:ext cx="909770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F6AE53F-E227-A345-A672-286B2CEC4DE6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8788" y="4871671"/>
            <a:ext cx="3177013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1" y="4871671"/>
            <a:ext cx="2225674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10537617-F04D-2D48-8B5D-62F0364B9B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QueensLogo_white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7716" y="40478"/>
            <a:ext cx="1406347" cy="10698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lIns="0" tIns="0" rIns="0" bIns="0"/>
          <a:lstStyle>
            <a:lvl1pPr marL="228600" indent="-228600">
              <a:defRPr sz="2400">
                <a:latin typeface="Palatino Linotype"/>
                <a:cs typeface="Palatino Linotype"/>
              </a:defRPr>
            </a:lvl1pPr>
            <a:lvl2pPr marL="455613" indent="-227013">
              <a:defRPr sz="2400">
                <a:latin typeface="Palatino Linotype"/>
                <a:cs typeface="Palatino Linotype"/>
              </a:defRPr>
            </a:lvl2pPr>
            <a:lvl3pPr marL="684213" indent="-228600">
              <a:defRPr sz="2400">
                <a:latin typeface="Palatino Linotype"/>
                <a:cs typeface="Palatino Linotype"/>
              </a:defRPr>
            </a:lvl3pPr>
            <a:lvl4pPr marL="911225" indent="-227013">
              <a:defRPr>
                <a:latin typeface="Palatino Linotype"/>
                <a:cs typeface="Palatino Linotype"/>
              </a:defRPr>
            </a:lvl4pPr>
            <a:lvl5pPr marL="1139825" indent="-228600">
              <a:defRPr>
                <a:latin typeface="Palatino Linotype"/>
                <a:cs typeface="Palatino Linotyp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E53F-E227-A345-A672-286B2CEC4DE6}" type="datetimeFigureOut">
              <a:rPr lang="en-US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7617-F04D-2D48-8B5D-62F0364B9B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E53F-E227-A345-A672-286B2CEC4DE6}" type="datetimeFigureOut">
              <a:rPr lang="en-US"/>
              <a:pPr/>
              <a:t>4/28/2020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7617-F04D-2D48-8B5D-62F0364B9B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E53F-E227-A345-A672-286B2CEC4DE6}" type="datetimeFigureOut">
              <a:rPr lang="en-US"/>
              <a:pPr/>
              <a:t>4/28/2020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7617-F04D-2D48-8B5D-62F0364B9B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1" y="1138238"/>
            <a:ext cx="7772349" cy="309086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1038" y="4335626"/>
            <a:ext cx="5486400" cy="536045"/>
          </a:xfrm>
        </p:spPr>
        <p:txBody>
          <a:bodyPr/>
          <a:lstStyle>
            <a:lvl1pPr marL="0" indent="0">
              <a:buNone/>
              <a:defRPr sz="1400" b="1" i="0">
                <a:latin typeface="Calibri"/>
                <a:cs typeface="Calibri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AE53F-E227-A345-A672-286B2CEC4DE6}" type="datetimeFigureOut">
              <a:rPr lang="en-US"/>
              <a:pPr/>
              <a:t>4/28/2020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37617-F04D-2D48-8B5D-62F0364B9B5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funky tricolour ppt backgrounds 16-9-2.png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9" y="1"/>
            <a:ext cx="6122987" cy="1019196"/>
          </a:xfrm>
          <a:prstGeom prst="rect">
            <a:avLst/>
          </a:prstGeom>
        </p:spPr>
        <p:txBody>
          <a:bodyPr vert="horz" lIns="0" tIns="4572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138238"/>
            <a:ext cx="8005762" cy="3456385"/>
          </a:xfrm>
          <a:prstGeom prst="rect">
            <a:avLst/>
          </a:prstGeom>
        </p:spPr>
        <p:txBody>
          <a:bodyPr vert="horz" lIns="0" tIns="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4871671"/>
            <a:ext cx="909770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fld id="{2F6AE53F-E227-A345-A672-286B2CEC4DE6}" type="datetimeFigureOut">
              <a:rPr lang="en-US" smtClean="0"/>
              <a:pPr/>
              <a:t>4/28/2020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8788" y="4871671"/>
            <a:ext cx="3177013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accent6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2" y="4871671"/>
            <a:ext cx="2225674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0537617-F04D-2D48-8B5D-62F0364B9B5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QueensLogo_colour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9240" y="42308"/>
            <a:ext cx="1404518" cy="10680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700" r:id="rId3"/>
    <p:sldLayoutId id="2147483701" r:id="rId4"/>
    <p:sldLayoutId id="2147483703" r:id="rId5"/>
  </p:sldLayoutIdLst>
  <p:txStyles>
    <p:titleStyle>
      <a:lvl1pPr algn="l" defTabSz="457200" rtl="0" eaLnBrk="1" latinLnBrk="0" hangingPunct="1">
        <a:lnSpc>
          <a:spcPts val="2400"/>
        </a:lnSpc>
        <a:spcBef>
          <a:spcPct val="0"/>
        </a:spcBef>
        <a:buNone/>
        <a:defRPr sz="2400" b="1" kern="1200">
          <a:solidFill>
            <a:srgbClr val="91092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Palatino Linotype"/>
          <a:ea typeface="+mn-ea"/>
          <a:cs typeface="Palatino Linotype"/>
        </a:defRPr>
      </a:lvl1pPr>
      <a:lvl2pPr marL="455613" indent="-227013" algn="l" defTabSz="457200" rtl="0" eaLnBrk="1" latinLnBrk="0" hangingPunct="1">
        <a:spcBef>
          <a:spcPct val="20000"/>
        </a:spcBef>
        <a:buFont typeface="Arial"/>
        <a:buChar char="–"/>
        <a:defRPr sz="2400" b="0" i="0" kern="1200">
          <a:solidFill>
            <a:schemeClr val="tx1"/>
          </a:solidFill>
          <a:latin typeface="Palatino Linotype"/>
          <a:ea typeface="+mn-ea"/>
          <a:cs typeface="Palatino Linotype"/>
        </a:defRPr>
      </a:lvl2pPr>
      <a:lvl3pPr marL="684213" indent="-228600" algn="l" defTabSz="457200" rtl="0" eaLnBrk="1" latinLnBrk="0" hangingPunct="1">
        <a:spcBef>
          <a:spcPct val="20000"/>
        </a:spcBef>
        <a:buFont typeface="Arial"/>
        <a:buChar char="•"/>
        <a:defRPr sz="2400" b="0" i="0" kern="1200">
          <a:solidFill>
            <a:schemeClr val="tx1"/>
          </a:solidFill>
          <a:latin typeface="Palatino Linotype"/>
          <a:ea typeface="+mn-ea"/>
          <a:cs typeface="Palatino Linotype"/>
        </a:defRPr>
      </a:lvl3pPr>
      <a:lvl4pPr marL="911225" indent="-227013" algn="l" defTabSz="457200" rtl="0" eaLnBrk="1" latinLnBrk="0" hangingPunct="1">
        <a:spcBef>
          <a:spcPct val="20000"/>
        </a:spcBef>
        <a:buFont typeface="Arial"/>
        <a:buChar char="–"/>
        <a:defRPr sz="2000" b="0" i="0" kern="1200">
          <a:solidFill>
            <a:schemeClr val="tx1"/>
          </a:solidFill>
          <a:latin typeface="Palatino Linotype"/>
          <a:ea typeface="+mn-ea"/>
          <a:cs typeface="Palatino Linotype"/>
        </a:defRPr>
      </a:lvl4pPr>
      <a:lvl5pPr marL="1139825" indent="-228600" algn="l" defTabSz="457200" rtl="0" eaLnBrk="1" latinLnBrk="0" hangingPunct="1">
        <a:spcBef>
          <a:spcPct val="20000"/>
        </a:spcBef>
        <a:buFont typeface="Arial"/>
        <a:buChar char="»"/>
        <a:defRPr sz="2000" b="0" i="0" kern="1200">
          <a:solidFill>
            <a:schemeClr val="tx1"/>
          </a:solidFill>
          <a:latin typeface="Palatino Linotype"/>
          <a:ea typeface="+mn-ea"/>
          <a:cs typeface="Palatino Linotype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queensu.ca/PCC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odesi.ca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hyperlink" Target="http://odesi.scholarsportal.info/documentation/PCCF/census_years/2016/aug2018/Getting_started_en_aug2018.html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queensu.ca/PCCF/PCCFplu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uides.library.queensu.ca/PCCF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://odesi2.scholarsportal.info/documentation/PCCF/census_years/2016/aug2018/Getting_started_en_aug2018.html" TargetMode="External"/><Relationship Id="rId2" Type="http://schemas.openxmlformats.org/officeDocument/2006/relationships/hyperlink" Target="https://guides.library.queensu.ca/PCCF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udo.carleton.ca/dli-training/3861" TargetMode="External"/><Relationship Id="rId5" Type="http://schemas.openxmlformats.org/officeDocument/2006/relationships/hyperlink" Target="https://cudo.carleton.ca/dli-training/3767" TargetMode="External"/><Relationship Id="rId4" Type="http://schemas.openxmlformats.org/officeDocument/2006/relationships/hyperlink" Target="https://guides.library.queensu.ca/ld.php?content_id=34904226" TargetMode="Externa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udo.carleton.ca/dli-training/3861" TargetMode="External"/><Relationship Id="rId2" Type="http://schemas.openxmlformats.org/officeDocument/2006/relationships/hyperlink" Target="https://cudo.carleton.ca/dli-training/3767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/>
              <a:t>Postal Code Conversion File:</a:t>
            </a:r>
            <a:br>
              <a:rPr lang="en-US"/>
            </a:br>
            <a:r>
              <a:rPr lang="en-US"/>
              <a:t>Not as scary as you think</a:t>
            </a:r>
          </a:p>
        </p:txBody>
      </p:sp>
      <p:sp>
        <p:nvSpPr>
          <p:cNvPr id="6" name="Subtitle 4"/>
          <p:cNvSpPr txBox="1">
            <a:spLocks/>
          </p:cNvSpPr>
          <p:nvPr/>
        </p:nvSpPr>
        <p:spPr>
          <a:xfrm>
            <a:off x="320311" y="4353684"/>
            <a:ext cx="4033204" cy="595607"/>
          </a:xfrm>
          <a:prstGeom prst="rect">
            <a:avLst/>
          </a:prstGeom>
        </p:spPr>
        <p:txBody>
          <a:bodyPr vert="horz" lIns="0" tIns="0" rIns="91440" bIns="0" rtlCol="0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800" b="1" i="0" kern="1200">
                <a:solidFill>
                  <a:srgbClr val="FFFFFF"/>
                </a:solidFill>
                <a:latin typeface="Calibri"/>
                <a:ea typeface="+mn-ea"/>
                <a:cs typeface="Calibri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b="0" i="0" kern="1200">
                <a:solidFill>
                  <a:schemeClr val="tx1">
                    <a:tint val="75000"/>
                  </a:schemeClr>
                </a:solidFill>
                <a:latin typeface="Palatino Linotype"/>
                <a:ea typeface="+mn-ea"/>
                <a:cs typeface="Palatino Linotype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b="0" i="0" kern="1200">
                <a:solidFill>
                  <a:schemeClr val="tx1">
                    <a:tint val="75000"/>
                  </a:schemeClr>
                </a:solidFill>
                <a:latin typeface="Palatino Linotype"/>
                <a:ea typeface="+mn-ea"/>
                <a:cs typeface="Palatino Linotype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b="0" i="0" kern="1200">
                <a:solidFill>
                  <a:schemeClr val="tx1">
                    <a:tint val="75000"/>
                  </a:schemeClr>
                </a:solidFill>
                <a:latin typeface="Palatino Linotype"/>
                <a:ea typeface="+mn-ea"/>
                <a:cs typeface="Palatino Linotype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b="0" i="0" kern="1200">
                <a:solidFill>
                  <a:schemeClr val="tx1">
                    <a:tint val="75000"/>
                  </a:schemeClr>
                </a:solidFill>
                <a:latin typeface="Palatino Linotype"/>
                <a:ea typeface="+mn-ea"/>
                <a:cs typeface="Palatino Linotype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/>
              <a:t>Alexandra Cooper, Queen’s University Library</a:t>
            </a:r>
          </a:p>
          <a:p>
            <a:r>
              <a:rPr lang="en-US" sz="1600"/>
              <a:t>ACCOLEDS/Western DLI Training, November 2019</a:t>
            </a:r>
          </a:p>
        </p:txBody>
      </p:sp>
    </p:spTree>
    <p:extLst>
      <p:ext uri="{BB962C8B-B14F-4D97-AF65-F5344CB8AC3E}">
        <p14:creationId xmlns:p14="http://schemas.microsoft.com/office/powerpoint/2010/main" val="1248013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FC1F6-8B79-4433-825F-053051E1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3729C-CF50-4B2C-9B23-2EB8336F6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29" y="1295593"/>
            <a:ext cx="3676778" cy="2552314"/>
          </a:xfrm>
        </p:spPr>
        <p:txBody>
          <a:bodyPr>
            <a:normAutofit/>
          </a:bodyPr>
          <a:lstStyle/>
          <a:p>
            <a:r>
              <a:rPr lang="en-US" sz="2000"/>
              <a:t>Postal Code Conversion File (PCCF) Guide</a:t>
            </a:r>
          </a:p>
          <a:p>
            <a:pPr marL="227013" lvl="1" indent="0">
              <a:buNone/>
            </a:pPr>
            <a:r>
              <a:rPr lang="en-US" sz="2000">
                <a:hlinkClick r:id="rId3"/>
              </a:rPr>
              <a:t>https://guides.library.queensu.ca/PCCF</a:t>
            </a:r>
            <a:r>
              <a:rPr lang="en-US" sz="2000"/>
              <a:t> </a:t>
            </a:r>
          </a:p>
          <a:p>
            <a:endParaRPr lang="en-US" sz="2000"/>
          </a:p>
          <a:p>
            <a:r>
              <a:rPr lang="en-US" sz="2000"/>
              <a:t>Ask the DLI list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164B0E-89FD-4567-AD99-711E10B121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5585"/>
          <a:stretch/>
        </p:blipFill>
        <p:spPr>
          <a:xfrm>
            <a:off x="3955085" y="0"/>
            <a:ext cx="518891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69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are Postal Codes?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090" y="1306579"/>
            <a:ext cx="8440395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6125" indent="-457200">
              <a:buFont typeface="Arial" panose="020B0604020202020204" pitchFamily="34" charset="0"/>
              <a:buChar char="•"/>
            </a:pPr>
            <a:r>
              <a:rPr lang="en-US" sz="2400">
                <a:latin typeface="Palatino Linotype" panose="02040502050505030304" pitchFamily="18" charset="0"/>
              </a:rPr>
              <a:t>Geographic entity created by Canada Post</a:t>
            </a:r>
          </a:p>
          <a:p>
            <a:pPr marL="746125" indent="-457200">
              <a:buFont typeface="Arial" panose="020B0604020202020204" pitchFamily="34" charset="0"/>
              <a:buChar char="•"/>
            </a:pPr>
            <a:r>
              <a:rPr lang="en-US" sz="2400">
                <a:latin typeface="Palatino Linotype" panose="02040502050505030304" pitchFamily="18" charset="0"/>
              </a:rPr>
              <a:t>No direct ‘spatial existence’</a:t>
            </a:r>
          </a:p>
          <a:p>
            <a:pPr marL="746125" indent="-457200">
              <a:buFont typeface="Arial" panose="020B0604020202020204" pitchFamily="34" charset="0"/>
              <a:buChar char="•"/>
            </a:pPr>
            <a:r>
              <a:rPr lang="en-US" sz="2400">
                <a:latin typeface="Palatino Linotype" panose="02040502050505030304" pitchFamily="18" charset="0"/>
              </a:rPr>
              <a:t>Represent where residents receive mail, not where they live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901" y="3567428"/>
            <a:ext cx="1791478" cy="105697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5078" y="2840349"/>
            <a:ext cx="2288023" cy="20890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PCCF?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77157" y="1031069"/>
            <a:ext cx="8229600" cy="215891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Calibri" pitchFamily="34" charset="0"/>
                <a:cs typeface="Calibri"/>
              </a:defRPr>
            </a:lvl1pPr>
            <a:lvl2pPr marL="455613" indent="-22701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400" kern="1200">
                <a:solidFill>
                  <a:schemeClr val="tx1"/>
                </a:solidFill>
                <a:latin typeface="Calibri"/>
                <a:ea typeface="Calibri" pitchFamily="34" charset="0"/>
                <a:cs typeface="Calibri"/>
              </a:defRPr>
            </a:lvl2pPr>
            <a:lvl3pPr marL="684213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Calibri"/>
                <a:ea typeface="Calibri" pitchFamily="34" charset="0"/>
                <a:cs typeface="Calibri"/>
              </a:defRPr>
            </a:lvl3pPr>
            <a:lvl4pPr marL="911225" indent="-227013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Calibri"/>
                <a:ea typeface="Calibri" pitchFamily="34" charset="0"/>
                <a:cs typeface="Calibri"/>
              </a:defRPr>
            </a:lvl4pPr>
            <a:lvl5pPr marL="1139825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Calibri"/>
                <a:ea typeface="Calibri" pitchFamily="34" charset="0"/>
                <a:cs typeface="Calibri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Palatino Linotype" panose="02040502050505030304" pitchFamily="18" charset="0"/>
              </a:rPr>
              <a:t>a digital file which provides a </a:t>
            </a:r>
            <a:r>
              <a:rPr lang="en-US">
                <a:solidFill>
                  <a:srgbClr val="FF0000"/>
                </a:solidFill>
                <a:latin typeface="Palatino Linotype" panose="02040502050505030304" pitchFamily="18" charset="0"/>
              </a:rPr>
              <a:t>correspondence</a:t>
            </a:r>
            <a:r>
              <a:rPr lang="en-US">
                <a:latin typeface="Palatino Linotype" panose="02040502050505030304" pitchFamily="18" charset="0"/>
              </a:rPr>
              <a:t> between Canada Post’s </a:t>
            </a:r>
            <a:r>
              <a:rPr lang="en-US">
                <a:solidFill>
                  <a:srgbClr val="FF0000"/>
                </a:solidFill>
                <a:latin typeface="Palatino Linotype" panose="02040502050505030304" pitchFamily="18" charset="0"/>
              </a:rPr>
              <a:t>6-character postal code </a:t>
            </a:r>
            <a:r>
              <a:rPr lang="en-US">
                <a:latin typeface="Palatino Linotype" panose="02040502050505030304" pitchFamily="18" charset="0"/>
              </a:rPr>
              <a:t>and Statistics Canada’s </a:t>
            </a:r>
            <a:r>
              <a:rPr lang="en-US">
                <a:solidFill>
                  <a:srgbClr val="FF0000"/>
                </a:solidFill>
                <a:latin typeface="Palatino Linotype" panose="02040502050505030304" pitchFamily="18" charset="0"/>
              </a:rPr>
              <a:t>standard geographic areas </a:t>
            </a:r>
            <a:r>
              <a:rPr lang="en-US">
                <a:latin typeface="Palatino Linotype" panose="02040502050505030304" pitchFamily="18" charset="0"/>
              </a:rPr>
              <a:t>(e.g., census tracts, dissemination areas) for which Census data and other attribute data is produced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4047" y="3010542"/>
            <a:ext cx="2184526" cy="18089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ight Arrow 5"/>
          <p:cNvSpPr/>
          <p:nvPr/>
        </p:nvSpPr>
        <p:spPr>
          <a:xfrm>
            <a:off x="3915365" y="3735589"/>
            <a:ext cx="587226" cy="508633"/>
          </a:xfrm>
          <a:prstGeom prst="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60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669" y="3371621"/>
            <a:ext cx="1791478" cy="105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263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PCCF 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6195" y="1138238"/>
            <a:ext cx="5629146" cy="34584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>
                <a:latin typeface="Palatino Linotype" panose="02040502050505030304" pitchFamily="18" charset="0"/>
              </a:rPr>
              <a:t>&lt;</a:t>
            </a:r>
            <a:r>
              <a:rPr lang="en-US" err="1">
                <a:latin typeface="Palatino Linotype" panose="02040502050505030304" pitchFamily="18" charset="0"/>
              </a:rPr>
              <a:t>odesi</a:t>
            </a:r>
            <a:r>
              <a:rPr lang="en-US">
                <a:latin typeface="Palatino Linotype" panose="02040502050505030304" pitchFamily="18" charset="0"/>
              </a:rPr>
              <a:t>&gt; (</a:t>
            </a:r>
            <a:r>
              <a:rPr lang="en-US">
                <a:latin typeface="Palatino Linotype" panose="02040502050505030304" pitchFamily="18" charset="0"/>
                <a:hlinkClick r:id="rId3"/>
              </a:rPr>
              <a:t>http://odesi.ca</a:t>
            </a:r>
            <a:r>
              <a:rPr lang="en-US">
                <a:latin typeface="Palatino Linotype" panose="02040502050505030304" pitchFamily="18" charset="0"/>
              </a:rPr>
              <a:t>) </a:t>
            </a:r>
          </a:p>
          <a:p>
            <a:r>
              <a:rPr lang="en-US">
                <a:latin typeface="Palatino Linotype" panose="02040502050505030304" pitchFamily="18" charset="0"/>
              </a:rPr>
              <a:t>PCCF guides back to 1996 Census</a:t>
            </a:r>
          </a:p>
          <a:p>
            <a:r>
              <a:rPr lang="en-US">
                <a:latin typeface="Palatino Linotype" panose="02040502050505030304" pitchFamily="18" charset="0"/>
              </a:rPr>
              <a:t>Syntax file (not from </a:t>
            </a:r>
            <a:r>
              <a:rPr lang="en-US" err="1">
                <a:latin typeface="Palatino Linotype" panose="02040502050505030304" pitchFamily="18" charset="0"/>
              </a:rPr>
              <a:t>StatCan</a:t>
            </a:r>
            <a:r>
              <a:rPr lang="en-US">
                <a:latin typeface="Palatino Linotype" panose="02040502050505030304" pitchFamily="18" charset="0"/>
              </a:rPr>
              <a:t>)</a:t>
            </a:r>
          </a:p>
          <a:p>
            <a:endParaRPr lang="en-US">
              <a:latin typeface="Palatino Linotype" panose="02040502050505030304" pitchFamily="18" charset="0"/>
              <a:hlinkClick r:id="rId4"/>
            </a:endParaRPr>
          </a:p>
          <a:p>
            <a:r>
              <a:rPr lang="en-US">
                <a:latin typeface="Palatino Linotype" panose="02040502050505030304" pitchFamily="18" charset="0"/>
                <a:hlinkClick r:id="rId4"/>
              </a:rPr>
              <a:t>Getting Started Guide</a:t>
            </a:r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0EB69-1672-4563-81FE-2877CC6B4D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1168" y="2657855"/>
            <a:ext cx="5362832" cy="2485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58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the PCCF+?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18479" y="1019197"/>
            <a:ext cx="8277225" cy="3776799"/>
          </a:xfrm>
        </p:spPr>
        <p:txBody>
          <a:bodyPr>
            <a:normAutofit/>
          </a:bodyPr>
          <a:lstStyle/>
          <a:p>
            <a:r>
              <a:rPr lang="en-CA">
                <a:latin typeface="Palatino Linotype" panose="02040502050505030304" pitchFamily="18" charset="0"/>
              </a:rPr>
              <a:t>Consists of:</a:t>
            </a:r>
          </a:p>
          <a:p>
            <a:pPr marL="797850" lvl="1" indent="-342900"/>
            <a:r>
              <a:rPr lang="en-CA">
                <a:latin typeface="Palatino Linotype" panose="02040502050505030304" pitchFamily="18" charset="0"/>
              </a:rPr>
              <a:t>SAS control program </a:t>
            </a:r>
          </a:p>
          <a:p>
            <a:pPr marL="797850" lvl="1" indent="-342900"/>
            <a:r>
              <a:rPr lang="en-CA">
                <a:latin typeface="Palatino Linotype" panose="02040502050505030304" pitchFamily="18" charset="0"/>
              </a:rPr>
              <a:t>reference files primarily derived from the PCCF</a:t>
            </a:r>
          </a:p>
          <a:p>
            <a:pPr marL="797850" lvl="1" indent="-342900"/>
            <a:r>
              <a:rPr lang="en-CA">
                <a:latin typeface="Palatino Linotype" panose="02040502050505030304" pitchFamily="18" charset="0"/>
              </a:rPr>
              <a:t>postal code population-weight file derived from the Census of Population</a:t>
            </a:r>
          </a:p>
          <a:p>
            <a:r>
              <a:rPr lang="en-CA">
                <a:latin typeface="Palatino Linotype" panose="02040502050505030304" pitchFamily="18" charset="0"/>
              </a:rPr>
              <a:t>Assigns geographic identifiers based on postal codes (3, 4, 5, or 6 characters)</a:t>
            </a:r>
            <a:endParaRPr lang="en-US">
              <a:latin typeface="Palatino Linotype" panose="02040502050505030304" pitchFamily="18" charset="0"/>
            </a:endParaRPr>
          </a:p>
          <a:p>
            <a:r>
              <a:rPr lang="en-CA">
                <a:latin typeface="Palatino Linotype" panose="02040502050505030304" pitchFamily="18" charset="0"/>
              </a:rPr>
              <a:t>Provides residential &amp; institutional coding separately</a:t>
            </a:r>
          </a:p>
          <a:p>
            <a:r>
              <a:rPr lang="en-CA">
                <a:latin typeface="Palatino Linotype" panose="02040502050505030304" pitchFamily="18" charset="0"/>
              </a:rPr>
              <a:t>Additional variables not in PCCF</a:t>
            </a:r>
          </a:p>
        </p:txBody>
      </p:sp>
    </p:spTree>
    <p:extLst>
      <p:ext uri="{BB962C8B-B14F-4D97-AF65-F5344CB8AC3E}">
        <p14:creationId xmlns:p14="http://schemas.microsoft.com/office/powerpoint/2010/main" val="3240764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do they do?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029" y="930434"/>
            <a:ext cx="856169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latin typeface="Palatino Linotype" panose="02040502050505030304" pitchFamily="18" charset="0"/>
              </a:rPr>
              <a:t>Both </a:t>
            </a:r>
            <a:r>
              <a:rPr lang="en-US" sz="2400">
                <a:solidFill>
                  <a:srgbClr val="FF0000"/>
                </a:solidFill>
                <a:latin typeface="Palatino Linotype" panose="02040502050505030304" pitchFamily="18" charset="0"/>
              </a:rPr>
              <a:t>PCCF</a:t>
            </a:r>
            <a:r>
              <a:rPr lang="en-US" sz="2400">
                <a:latin typeface="Palatino Linotype" panose="02040502050505030304" pitchFamily="18" charset="0"/>
              </a:rPr>
              <a:t> &amp; </a:t>
            </a:r>
            <a:r>
              <a:rPr lang="en-US" sz="2400">
                <a:solidFill>
                  <a:srgbClr val="FF0000"/>
                </a:solidFill>
                <a:latin typeface="Palatino Linotype" panose="02040502050505030304" pitchFamily="18" charset="0"/>
              </a:rPr>
              <a:t>PCCF+</a:t>
            </a:r>
            <a:r>
              <a:rPr lang="en-US" sz="2400">
                <a:latin typeface="Palatino Linotype" panose="02040502050505030304" pitchFamily="18" charset="0"/>
              </a:rPr>
              <a:t> are used to assign </a:t>
            </a:r>
          </a:p>
          <a:p>
            <a:r>
              <a:rPr lang="en-US" sz="2400">
                <a:latin typeface="Palatino Linotype" panose="02040502050505030304" pitchFamily="18" charset="0"/>
              </a:rPr>
              <a:t>Statistics Canada’s </a:t>
            </a:r>
            <a:r>
              <a:rPr lang="en-US" sz="2400">
                <a:solidFill>
                  <a:srgbClr val="FF0000"/>
                </a:solidFill>
                <a:latin typeface="Palatino Linotype" panose="02040502050505030304" pitchFamily="18" charset="0"/>
              </a:rPr>
              <a:t>standard geographic areas </a:t>
            </a:r>
            <a:r>
              <a:rPr lang="en-US" sz="2400">
                <a:latin typeface="Palatino Linotype" panose="02040502050505030304" pitchFamily="18" charset="0"/>
              </a:rPr>
              <a:t>to </a:t>
            </a:r>
            <a:r>
              <a:rPr lang="en-US" sz="2400">
                <a:solidFill>
                  <a:srgbClr val="FF0000"/>
                </a:solidFill>
                <a:latin typeface="Palatino Linotype" panose="02040502050505030304" pitchFamily="18" charset="0"/>
              </a:rPr>
              <a:t>Postal Codes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93" y="2989760"/>
            <a:ext cx="1791478" cy="10569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6157" y="2574120"/>
            <a:ext cx="2373253" cy="196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ight Arrow 9"/>
          <p:cNvSpPr/>
          <p:nvPr/>
        </p:nvSpPr>
        <p:spPr>
          <a:xfrm>
            <a:off x="2498955" y="3314910"/>
            <a:ext cx="430894" cy="373224"/>
          </a:xfrm>
          <a:prstGeom prst="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600"/>
          </a:p>
        </p:txBody>
      </p:sp>
    </p:spTree>
    <p:extLst>
      <p:ext uri="{BB962C8B-B14F-4D97-AF65-F5344CB8AC3E}">
        <p14:creationId xmlns:p14="http://schemas.microsoft.com/office/powerpoint/2010/main" val="2935347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do this?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692" y="1585134"/>
            <a:ext cx="1355326" cy="14930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93" y="1844701"/>
            <a:ext cx="1791478" cy="10569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157" y="1429061"/>
            <a:ext cx="2373253" cy="196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ight Arrow 9"/>
          <p:cNvSpPr/>
          <p:nvPr/>
        </p:nvSpPr>
        <p:spPr>
          <a:xfrm>
            <a:off x="2498955" y="2169851"/>
            <a:ext cx="430894" cy="373224"/>
          </a:xfrm>
          <a:prstGeom prst="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600"/>
          </a:p>
        </p:txBody>
      </p:sp>
      <p:sp>
        <p:nvSpPr>
          <p:cNvPr id="11" name="Right Arrow 10"/>
          <p:cNvSpPr/>
          <p:nvPr/>
        </p:nvSpPr>
        <p:spPr>
          <a:xfrm>
            <a:off x="5755718" y="2186575"/>
            <a:ext cx="430894" cy="373224"/>
          </a:xfrm>
          <a:prstGeom prst="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600"/>
          </a:p>
        </p:txBody>
      </p:sp>
      <p:sp>
        <p:nvSpPr>
          <p:cNvPr id="13" name="Freeform 12"/>
          <p:cNvSpPr/>
          <p:nvPr/>
        </p:nvSpPr>
        <p:spPr>
          <a:xfrm rot="21239099">
            <a:off x="2356171" y="3381115"/>
            <a:ext cx="4364767" cy="846140"/>
          </a:xfrm>
          <a:custGeom>
            <a:avLst/>
            <a:gdLst>
              <a:gd name="connsiteX0" fmla="*/ 0 w 4554245"/>
              <a:gd name="connsiteY0" fmla="*/ 0 h 734397"/>
              <a:gd name="connsiteX1" fmla="*/ 1615736 w 4554245"/>
              <a:gd name="connsiteY1" fmla="*/ 630315 h 734397"/>
              <a:gd name="connsiteX2" fmla="*/ 3213716 w 4554245"/>
              <a:gd name="connsiteY2" fmla="*/ 701336 h 734397"/>
              <a:gd name="connsiteX3" fmla="*/ 4554245 w 4554245"/>
              <a:gd name="connsiteY3" fmla="*/ 292963 h 73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245" h="734397">
                <a:moveTo>
                  <a:pt x="0" y="0"/>
                </a:moveTo>
                <a:cubicBezTo>
                  <a:pt x="540058" y="256713"/>
                  <a:pt x="1080117" y="513426"/>
                  <a:pt x="1615736" y="630315"/>
                </a:cubicBezTo>
                <a:cubicBezTo>
                  <a:pt x="2151355" y="747204"/>
                  <a:pt x="2723964" y="757561"/>
                  <a:pt x="3213716" y="701336"/>
                </a:cubicBezTo>
                <a:cubicBezTo>
                  <a:pt x="3703468" y="645111"/>
                  <a:pt x="4128856" y="469037"/>
                  <a:pt x="4554245" y="29296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7637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Licence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Appendix of the DLI </a:t>
            </a:r>
            <a:r>
              <a:rPr lang="en-US" err="1"/>
              <a:t>Licence</a:t>
            </a:r>
            <a:endParaRPr lang="en-US"/>
          </a:p>
          <a:p>
            <a:endParaRPr lang="en-US"/>
          </a:p>
          <a:p>
            <a:r>
              <a:rPr lang="en-US"/>
              <a:t>Academic, non-commercial use</a:t>
            </a:r>
          </a:p>
          <a:p>
            <a:r>
              <a:rPr lang="en-US"/>
              <a:t>Teaching and learning purposes</a:t>
            </a:r>
          </a:p>
          <a:p>
            <a:r>
              <a:rPr lang="en-US"/>
              <a:t>Research purposes</a:t>
            </a:r>
          </a:p>
          <a:p>
            <a:r>
              <a:rPr lang="en-US"/>
              <a:t>Planning purposes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Ask the list</a:t>
            </a:r>
          </a:p>
        </p:txBody>
      </p:sp>
    </p:spTree>
    <p:extLst>
      <p:ext uri="{BB962C8B-B14F-4D97-AF65-F5344CB8AC3E}">
        <p14:creationId xmlns:p14="http://schemas.microsoft.com/office/powerpoint/2010/main" val="3885784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401" y="1247772"/>
            <a:ext cx="4802727" cy="3071944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/>
              <a:t>DLI EFT:</a:t>
            </a:r>
          </a:p>
          <a:p>
            <a:pPr marL="0" indent="0">
              <a:buNone/>
            </a:pPr>
            <a:r>
              <a:rPr lang="en-US" sz="2200"/>
              <a:t>/MAD_PCCF_FCCP_DAM/</a:t>
            </a:r>
          </a:p>
          <a:p>
            <a:pPr marL="0" indent="0">
              <a:buNone/>
            </a:pPr>
            <a:endParaRPr lang="en-US" sz="2200"/>
          </a:p>
          <a:p>
            <a:r>
              <a:rPr lang="en-US" sz="2200"/>
              <a:t>organized by census year</a:t>
            </a:r>
          </a:p>
          <a:p>
            <a:pPr lvl="1"/>
            <a:r>
              <a:rPr lang="en-US" sz="2200"/>
              <a:t>PCCF – month, year (e.g. August 2019)</a:t>
            </a:r>
          </a:p>
          <a:p>
            <a:pPr lvl="1"/>
            <a:r>
              <a:rPr lang="en-US" sz="2200"/>
              <a:t>PCCF+ - number, letter (e.g. 7B)</a:t>
            </a:r>
          </a:p>
          <a:p>
            <a:r>
              <a:rPr lang="en-US" sz="2200"/>
              <a:t>new release with each census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932649-FFB2-463B-B706-9F9D8F1D6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5654" y="1247772"/>
            <a:ext cx="4053974" cy="324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649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PCCF vs. PCCF+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248" y="936688"/>
            <a:ext cx="4325476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Palatino Linotype" panose="02040502050505030304" pitchFamily="18" charset="0"/>
              </a:rPr>
              <a:t>PCCF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Palatino Linotype" panose="02040502050505030304" pitchFamily="18" charset="0"/>
              </a:rPr>
              <a:t>single link indicator (SLI)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Palatino Linotype" panose="02040502050505030304" pitchFamily="18" charset="0"/>
              </a:rPr>
              <a:t>forces each postal code to be assigned to a single dissemination area (DA) and dissemination block (DB) regardless of size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Palatino Linotype" panose="02040502050505030304" pitchFamily="18" charset="0"/>
              </a:rPr>
              <a:t>identifies the geographic area with the majority of dwellings assigned to a particular postal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62616" y="936687"/>
            <a:ext cx="421058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>
                <a:latin typeface="Palatino Linotype" panose="02040502050505030304" pitchFamily="18" charset="0"/>
              </a:rPr>
              <a:t>PCCF+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Palatino Linotype" panose="02040502050505030304" pitchFamily="18" charset="0"/>
              </a:rPr>
              <a:t>population-weighted random allocation for postal codes to link to more than one geographic area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Palatino Linotype" panose="02040502050505030304" pitchFamily="18" charset="0"/>
              </a:rPr>
              <a:t>multiple matches are possible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>
                <a:latin typeface="Palatino Linotype" panose="02040502050505030304" pitchFamily="18" charset="0"/>
              </a:rPr>
              <a:t>distribution of responses more accurately reflects the underlying population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latin typeface="Palatino Linotype" panose="0204050205050503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>
              <a:latin typeface="Palatino Linotype" panose="0204050205050503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4454472" y="952872"/>
            <a:ext cx="8092" cy="380024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039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ectangle 53"/>
          <p:cNvSpPr/>
          <p:nvPr/>
        </p:nvSpPr>
        <p:spPr>
          <a:xfrm>
            <a:off x="6264442" y="4105096"/>
            <a:ext cx="2888673" cy="1042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974040" y="206077"/>
            <a:ext cx="3319272" cy="2029968"/>
            <a:chOff x="2627784" y="836712"/>
            <a:chExt cx="3244150" cy="2304257"/>
          </a:xfrm>
        </p:grpSpPr>
        <p:grpSp>
          <p:nvGrpSpPr>
            <p:cNvPr id="14" name="Group 13"/>
            <p:cNvGrpSpPr/>
            <p:nvPr/>
          </p:nvGrpSpPr>
          <p:grpSpPr>
            <a:xfrm>
              <a:off x="2627784" y="836712"/>
              <a:ext cx="3244150" cy="2304257"/>
              <a:chOff x="323529" y="1809291"/>
              <a:chExt cx="3462851" cy="2786921"/>
            </a:xfrm>
          </p:grpSpPr>
          <p:sp>
            <p:nvSpPr>
              <p:cNvPr id="16" name="Rounded Rectangle 15"/>
              <p:cNvSpPr/>
              <p:nvPr/>
            </p:nvSpPr>
            <p:spPr>
              <a:xfrm>
                <a:off x="323529" y="3331178"/>
                <a:ext cx="1080120" cy="864096"/>
              </a:xfrm>
              <a:prstGeom prst="roundRect">
                <a:avLst/>
              </a:prstGeom>
              <a:solidFill>
                <a:srgbClr val="002A56">
                  <a:lumMod val="75000"/>
                  <a:lumOff val="25000"/>
                </a:srgbClr>
              </a:solidFill>
              <a:ln w="254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DA 1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60%</a:t>
                </a:r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1799692" y="3861048"/>
                <a:ext cx="906570" cy="735164"/>
              </a:xfrm>
              <a:prstGeom prst="roundRect">
                <a:avLst/>
              </a:prstGeom>
              <a:solidFill>
                <a:srgbClr val="002A56">
                  <a:lumMod val="75000"/>
                  <a:lumOff val="25000"/>
                </a:srgbClr>
              </a:solidFill>
              <a:ln w="254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DA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2985392" y="3501950"/>
                <a:ext cx="800988" cy="658806"/>
              </a:xfrm>
              <a:prstGeom prst="roundRect">
                <a:avLst/>
              </a:prstGeom>
              <a:solidFill>
                <a:srgbClr val="002A56">
                  <a:lumMod val="75000"/>
                  <a:lumOff val="25000"/>
                </a:srgbClr>
              </a:solidFill>
              <a:ln w="254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DA 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10%</a:t>
                </a:r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1115616" y="1809291"/>
                <a:ext cx="2160240" cy="1368152"/>
              </a:xfrm>
              <a:prstGeom prst="roundRect">
                <a:avLst/>
              </a:prstGeom>
              <a:solidFill>
                <a:srgbClr val="002A56">
                  <a:lumMod val="75000"/>
                  <a:lumOff val="25000"/>
                </a:srgbClr>
              </a:solidFill>
              <a:ln w="254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A1A 1A1</a:t>
                </a:r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 flipV="1">
                <a:off x="901038" y="3029134"/>
                <a:ext cx="322998" cy="291855"/>
              </a:xfrm>
              <a:prstGeom prst="line">
                <a:avLst/>
              </a:prstGeom>
              <a:noFill/>
              <a:ln w="12700" cap="flat" cmpd="sng" algn="ctr">
                <a:solidFill>
                  <a:srgbClr val="002A56">
                    <a:lumMod val="75000"/>
                    <a:lumOff val="25000"/>
                  </a:srgbClr>
                </a:solidFill>
                <a:prstDash val="solid"/>
              </a:ln>
              <a:effectLst/>
            </p:spPr>
          </p:cxnSp>
          <p:cxnSp>
            <p:nvCxnSpPr>
              <p:cNvPr id="21" name="Straight Connector 20"/>
              <p:cNvCxnSpPr/>
              <p:nvPr/>
            </p:nvCxnSpPr>
            <p:spPr>
              <a:xfrm flipH="1" flipV="1">
                <a:off x="3167436" y="3074778"/>
                <a:ext cx="198430" cy="427171"/>
              </a:xfrm>
              <a:prstGeom prst="line">
                <a:avLst/>
              </a:prstGeom>
              <a:noFill/>
              <a:ln w="9525" cap="flat" cmpd="sng" algn="ctr">
                <a:solidFill>
                  <a:srgbClr val="002A56">
                    <a:lumMod val="75000"/>
                    <a:lumOff val="25000"/>
                  </a:srgbClr>
                </a:solidFill>
                <a:prstDash val="solid"/>
              </a:ln>
              <a:effectLst/>
            </p:spPr>
          </p:cxnSp>
        </p:grpSp>
        <p:cxnSp>
          <p:nvCxnSpPr>
            <p:cNvPr id="15" name="Straight Connector 14"/>
            <p:cNvCxnSpPr/>
            <p:nvPr/>
          </p:nvCxnSpPr>
          <p:spPr>
            <a:xfrm flipH="1">
              <a:off x="4381749" y="1967915"/>
              <a:ext cx="1" cy="565212"/>
            </a:xfrm>
            <a:prstGeom prst="line">
              <a:avLst/>
            </a:prstGeom>
            <a:noFill/>
            <a:ln w="9525" cap="flat" cmpd="sng" algn="ctr">
              <a:solidFill>
                <a:srgbClr val="002A56">
                  <a:lumMod val="75000"/>
                  <a:lumOff val="25000"/>
                </a:srgbClr>
              </a:solidFill>
              <a:prstDash val="solid"/>
            </a:ln>
            <a:effectLst/>
          </p:spPr>
        </p:cxnSp>
      </p:grpSp>
      <p:grpSp>
        <p:nvGrpSpPr>
          <p:cNvPr id="22" name="Group 21"/>
          <p:cNvGrpSpPr/>
          <p:nvPr/>
        </p:nvGrpSpPr>
        <p:grpSpPr>
          <a:xfrm>
            <a:off x="437442" y="2994972"/>
            <a:ext cx="3319272" cy="2029968"/>
            <a:chOff x="323529" y="1809291"/>
            <a:chExt cx="3381943" cy="2809459"/>
          </a:xfrm>
        </p:grpSpPr>
        <p:sp>
          <p:nvSpPr>
            <p:cNvPr id="23" name="Rounded Rectangle 22"/>
            <p:cNvSpPr/>
            <p:nvPr/>
          </p:nvSpPr>
          <p:spPr>
            <a:xfrm>
              <a:off x="323529" y="3331178"/>
              <a:ext cx="1080120" cy="864096"/>
            </a:xfrm>
            <a:prstGeom prst="roundRect">
              <a:avLst/>
            </a:prstGeom>
            <a:solidFill>
              <a:srgbClr val="FFFF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 1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6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100%</a:t>
              </a:r>
            </a:p>
          </p:txBody>
        </p:sp>
        <p:sp>
          <p:nvSpPr>
            <p:cNvPr id="24" name="Rounded Rectangle 23"/>
            <p:cNvSpPr/>
            <p:nvPr/>
          </p:nvSpPr>
          <p:spPr>
            <a:xfrm>
              <a:off x="1799692" y="3861048"/>
              <a:ext cx="792088" cy="757702"/>
            </a:xfrm>
            <a:prstGeom prst="roundRect">
              <a:avLst/>
            </a:prstGeom>
            <a:solidFill>
              <a:srgbClr val="FFFFFF">
                <a:lumMod val="50000"/>
              </a:srgbClr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 2 0%</a:t>
              </a:r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2908280" y="3501951"/>
              <a:ext cx="797192" cy="642710"/>
            </a:xfrm>
            <a:prstGeom prst="roundRect">
              <a:avLst/>
            </a:prstGeom>
            <a:solidFill>
              <a:srgbClr val="FFFFFF">
                <a:lumMod val="50000"/>
              </a:srgbClr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DA3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6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0%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1115616" y="1809291"/>
              <a:ext cx="2160240" cy="1368152"/>
            </a:xfrm>
            <a:prstGeom prst="roundRect">
              <a:avLst/>
            </a:prstGeom>
            <a:solidFill>
              <a:srgbClr val="002A56">
                <a:lumMod val="75000"/>
                <a:lumOff val="25000"/>
              </a:srgbClr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rPr>
                <a:t>A1A 1A1</a:t>
              </a:r>
            </a:p>
          </p:txBody>
        </p:sp>
        <p:cxnSp>
          <p:nvCxnSpPr>
            <p:cNvPr id="27" name="Straight Connector 26"/>
            <p:cNvCxnSpPr/>
            <p:nvPr/>
          </p:nvCxnSpPr>
          <p:spPr>
            <a:xfrm flipV="1">
              <a:off x="901038" y="3097387"/>
              <a:ext cx="280239" cy="223604"/>
            </a:xfrm>
            <a:prstGeom prst="line">
              <a:avLst/>
            </a:prstGeom>
            <a:solidFill>
              <a:srgbClr val="002A56">
                <a:lumMod val="75000"/>
                <a:lumOff val="25000"/>
              </a:srgbClr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</p:cxnSp>
        <p:cxnSp>
          <p:nvCxnSpPr>
            <p:cNvPr id="28" name="Straight Connector 27"/>
            <p:cNvCxnSpPr>
              <a:stCxn id="26" idx="2"/>
              <a:endCxn id="24" idx="0"/>
            </p:cNvCxnSpPr>
            <p:nvPr/>
          </p:nvCxnSpPr>
          <p:spPr>
            <a:xfrm>
              <a:off x="2195736" y="3177443"/>
              <a:ext cx="0" cy="683604"/>
            </a:xfrm>
            <a:prstGeom prst="line">
              <a:avLst/>
            </a:prstGeom>
            <a:solidFill>
              <a:srgbClr val="002A56">
                <a:lumMod val="75000"/>
                <a:lumOff val="25000"/>
              </a:srgbClr>
            </a:solidFill>
            <a:ln w="25400" cap="flat" cmpd="sng" algn="ctr">
              <a:solidFill>
                <a:srgbClr val="FFFFFF">
                  <a:lumMod val="50000"/>
                </a:srgbClr>
              </a:solidFill>
              <a:prstDash val="sysDash"/>
            </a:ln>
            <a:effectLst/>
          </p:spPr>
        </p:cxnSp>
        <p:cxnSp>
          <p:nvCxnSpPr>
            <p:cNvPr id="29" name="Straight Connector 28"/>
            <p:cNvCxnSpPr/>
            <p:nvPr/>
          </p:nvCxnSpPr>
          <p:spPr>
            <a:xfrm flipH="1" flipV="1">
              <a:off x="3197339" y="3123321"/>
              <a:ext cx="168527" cy="378629"/>
            </a:xfrm>
            <a:prstGeom prst="line">
              <a:avLst/>
            </a:prstGeom>
            <a:solidFill>
              <a:srgbClr val="002A56">
                <a:lumMod val="75000"/>
                <a:lumOff val="25000"/>
              </a:srgbClr>
            </a:solidFill>
            <a:ln w="25400" cap="flat" cmpd="sng" algn="ctr">
              <a:solidFill>
                <a:srgbClr val="FFFFFF">
                  <a:lumMod val="50000"/>
                </a:srgbClr>
              </a:solidFill>
              <a:prstDash val="sysDash"/>
            </a:ln>
            <a:effectLst/>
          </p:spPr>
        </p:cxnSp>
      </p:grpSp>
      <p:sp>
        <p:nvSpPr>
          <p:cNvPr id="30" name="TextBox 29"/>
          <p:cNvSpPr txBox="1"/>
          <p:nvPr/>
        </p:nvSpPr>
        <p:spPr>
          <a:xfrm>
            <a:off x="1301787" y="2634932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CA" sz="2000" b="1">
                <a:solidFill>
                  <a:srgbClr val="003366"/>
                </a:solidFill>
                <a:latin typeface="Arial" pitchFamily="34" charset="0"/>
              </a:rPr>
              <a:t>PCCF (SLI)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85075" y="2606609"/>
            <a:ext cx="16561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en-CA" sz="2000" b="1">
                <a:solidFill>
                  <a:srgbClr val="003366"/>
                </a:solidFill>
                <a:latin typeface="Arial" pitchFamily="34" charset="0"/>
              </a:rPr>
              <a:t>PCCF+</a:t>
            </a:r>
          </a:p>
        </p:txBody>
      </p:sp>
      <p:grpSp>
        <p:nvGrpSpPr>
          <p:cNvPr id="42" name="Group 41"/>
          <p:cNvGrpSpPr/>
          <p:nvPr/>
        </p:nvGrpSpPr>
        <p:grpSpPr>
          <a:xfrm>
            <a:off x="5248971" y="2966648"/>
            <a:ext cx="3315474" cy="2033757"/>
            <a:chOff x="5364088" y="3645024"/>
            <a:chExt cx="3109231" cy="2195586"/>
          </a:xfrm>
        </p:grpSpPr>
        <p:grpSp>
          <p:nvGrpSpPr>
            <p:cNvPr id="43" name="Group 42"/>
            <p:cNvGrpSpPr/>
            <p:nvPr/>
          </p:nvGrpSpPr>
          <p:grpSpPr>
            <a:xfrm>
              <a:off x="5364088" y="3645024"/>
              <a:ext cx="3109231" cy="2195586"/>
              <a:chOff x="323529" y="1809291"/>
              <a:chExt cx="3381943" cy="2798839"/>
            </a:xfrm>
          </p:grpSpPr>
          <p:sp>
            <p:nvSpPr>
              <p:cNvPr id="45" name="Rounded Rectangle 44"/>
              <p:cNvSpPr/>
              <p:nvPr/>
            </p:nvSpPr>
            <p:spPr>
              <a:xfrm>
                <a:off x="323529" y="3331178"/>
                <a:ext cx="1080120" cy="864096"/>
              </a:xfrm>
              <a:prstGeom prst="roundRect">
                <a:avLst/>
              </a:prstGeom>
              <a:solidFill>
                <a:srgbClr val="FFFF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DA 1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60%</a:t>
                </a:r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1799692" y="3861047"/>
                <a:ext cx="792088" cy="747083"/>
              </a:xfrm>
              <a:prstGeom prst="roundRect">
                <a:avLst/>
              </a:prstGeom>
              <a:solidFill>
                <a:srgbClr val="FFFF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DA 2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30%</a:t>
                </a:r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2908540" y="3501950"/>
                <a:ext cx="796932" cy="633883"/>
              </a:xfrm>
              <a:prstGeom prst="roundRect">
                <a:avLst/>
              </a:prstGeom>
              <a:solidFill>
                <a:srgbClr val="FFFF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DA 3</a:t>
                </a:r>
              </a:p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16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10%</a:t>
                </a:r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1115616" y="1809291"/>
                <a:ext cx="2160240" cy="1368152"/>
              </a:xfrm>
              <a:prstGeom prst="roundRect">
                <a:avLst/>
              </a:prstGeom>
              <a:solidFill>
                <a:srgbClr val="002A56">
                  <a:lumMod val="75000"/>
                  <a:lumOff val="25000"/>
                </a:srgbClr>
              </a:solidFill>
              <a:ln w="254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CA" sz="2800" b="1" i="0" u="none" strike="noStrike" kern="0" cap="none" spc="0" normalizeH="0" baseline="0" noProof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A1A 1A1</a:t>
                </a:r>
              </a:p>
            </p:txBody>
          </p:sp>
          <p:cxnSp>
            <p:nvCxnSpPr>
              <p:cNvPr id="49" name="Straight Connector 48"/>
              <p:cNvCxnSpPr>
                <a:stCxn id="48" idx="2"/>
                <a:endCxn id="46" idx="0"/>
              </p:cNvCxnSpPr>
              <p:nvPr/>
            </p:nvCxnSpPr>
            <p:spPr>
              <a:xfrm>
                <a:off x="2195736" y="3177443"/>
                <a:ext cx="0" cy="683604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50" name="Straight Connector 49"/>
              <p:cNvCxnSpPr/>
              <p:nvPr/>
            </p:nvCxnSpPr>
            <p:spPr>
              <a:xfrm flipH="1" flipV="1">
                <a:off x="3222457" y="3069196"/>
                <a:ext cx="234026" cy="432755"/>
              </a:xfrm>
              <a:prstGeom prst="line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</p:grpSp>
        <p:cxnSp>
          <p:nvCxnSpPr>
            <p:cNvPr id="44" name="Straight Connector 43"/>
            <p:cNvCxnSpPr/>
            <p:nvPr/>
          </p:nvCxnSpPr>
          <p:spPr>
            <a:xfrm flipV="1">
              <a:off x="5898514" y="4653136"/>
              <a:ext cx="257662" cy="174746"/>
            </a:xfrm>
            <a:prstGeom prst="line">
              <a:avLst/>
            </a:prstGeom>
            <a:solidFill>
              <a:srgbClr val="002A56">
                <a:lumMod val="75000"/>
                <a:lumOff val="25000"/>
              </a:srgbClr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</p:cxnSp>
      </p:grpSp>
      <p:sp>
        <p:nvSpPr>
          <p:cNvPr id="52" name="Rectangle 51"/>
          <p:cNvSpPr/>
          <p:nvPr/>
        </p:nvSpPr>
        <p:spPr>
          <a:xfrm>
            <a:off x="0" y="0"/>
            <a:ext cx="1740568" cy="6577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7424947" y="0"/>
            <a:ext cx="1740568" cy="10828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48666" y="2421901"/>
            <a:ext cx="8449884" cy="16042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0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PCCF+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681039" y="1021369"/>
            <a:ext cx="820808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PCCF+ provides: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additional variables not in the PCCF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better handling of imperfect postal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feedback quality of postal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view to the past using earlier censuses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improved treatment of rural postal codes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proper coding of postal codes on Reserves</a:t>
            </a:r>
          </a:p>
        </p:txBody>
      </p:sp>
    </p:spTree>
    <p:extLst>
      <p:ext uri="{BB962C8B-B14F-4D97-AF65-F5344CB8AC3E}">
        <p14:creationId xmlns:p14="http://schemas.microsoft.com/office/powerpoint/2010/main" val="3696874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3608" y="794792"/>
            <a:ext cx="8882727" cy="3359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What you need: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Latest PCCF+ from DLI EFT (includes SAS program file)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Researcher’s list of postal codes as a text file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readPCCF1.sas (convert text file to SAS)</a:t>
            </a:r>
          </a:p>
          <a:p>
            <a:pPr>
              <a:lnSpc>
                <a:spcPct val="150000"/>
              </a:lnSpc>
            </a:pPr>
            <a:endParaRPr lang="en-US" sz="2400">
              <a:solidFill>
                <a:srgbClr val="000000"/>
              </a:solidFill>
              <a:latin typeface="Palatino Linotype" panose="02040502050505030304" pitchFamily="18" charset="0"/>
              <a:hlinkClick r:id="rId3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  <a:hlinkClick r:id="rId3"/>
              </a:rPr>
              <a:t>https://guides.library.queensu.ca/PCCF/PCCFplus</a:t>
            </a:r>
            <a:r>
              <a:rPr lang="en-US" sz="2400">
                <a:solidFill>
                  <a:srgbClr val="000000"/>
                </a:solidFill>
                <a:latin typeface="Palatino Linotype" panose="0204050205050503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602568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0D8DA-5143-42A4-ADDA-F8B0EA719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9" y="1"/>
            <a:ext cx="6906010" cy="1019196"/>
          </a:xfrm>
        </p:spPr>
        <p:txBody>
          <a:bodyPr/>
          <a:lstStyle/>
          <a:p>
            <a:r>
              <a:rPr lang="en-US"/>
              <a:t>Running the PCCF+: data files downloaded from EFT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0C68A-56D0-4139-86DA-B652BD4DB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515" y="858152"/>
            <a:ext cx="8657966" cy="363147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i="1"/>
              <a:t>DATA</a:t>
            </a:r>
            <a:r>
              <a:rPr lang="en-US"/>
              <a:t> – contains data used by PCCF+ </a:t>
            </a:r>
          </a:p>
          <a:p>
            <a:pPr>
              <a:lnSpc>
                <a:spcPct val="170000"/>
              </a:lnSpc>
            </a:pPr>
            <a:r>
              <a:rPr lang="en-US" i="1"/>
              <a:t>Documentation </a:t>
            </a:r>
            <a:r>
              <a:rPr lang="en-US"/>
              <a:t>– user guides in English and French </a:t>
            </a:r>
          </a:p>
          <a:p>
            <a:pPr>
              <a:lnSpc>
                <a:spcPct val="170000"/>
              </a:lnSpc>
            </a:pPr>
            <a:r>
              <a:rPr lang="en-US" i="1"/>
              <a:t>Sample </a:t>
            </a:r>
            <a:r>
              <a:rPr lang="en-US"/>
              <a:t>– sample SAS datasets </a:t>
            </a:r>
          </a:p>
          <a:p>
            <a:pPr>
              <a:lnSpc>
                <a:spcPct val="170000"/>
              </a:lnSpc>
            </a:pPr>
            <a:r>
              <a:rPr lang="en-US" i="1" err="1"/>
              <a:t>SAS_InputFiles</a:t>
            </a:r>
            <a:r>
              <a:rPr lang="en-US" i="1"/>
              <a:t> </a:t>
            </a:r>
            <a:r>
              <a:rPr lang="en-US"/>
              <a:t>– PCCF and Geocoding files used by PCCF+ </a:t>
            </a:r>
          </a:p>
          <a:p>
            <a:pPr>
              <a:lnSpc>
                <a:spcPct val="170000"/>
              </a:lnSpc>
            </a:pPr>
            <a:r>
              <a:rPr lang="en-US" i="1"/>
              <a:t>Supplementary </a:t>
            </a:r>
            <a:r>
              <a:rPr lang="en-US"/>
              <a:t>– other files used by PCCF+ </a:t>
            </a:r>
          </a:p>
          <a:p>
            <a:pPr>
              <a:lnSpc>
                <a:spcPct val="170000"/>
              </a:lnSpc>
            </a:pPr>
            <a:r>
              <a:rPr lang="en-US"/>
              <a:t>FCCPplus_7B.sas – French version of SAS program used to run PCCF+ </a:t>
            </a:r>
          </a:p>
          <a:p>
            <a:pPr>
              <a:lnSpc>
                <a:spcPct val="170000"/>
              </a:lnSpc>
            </a:pPr>
            <a:r>
              <a:rPr lang="en-US"/>
              <a:t>PCCFplus_7B.sas – English version of SAS program used to run PCCF+ </a:t>
            </a:r>
          </a:p>
        </p:txBody>
      </p:sp>
    </p:spTree>
    <p:extLst>
      <p:ext uri="{BB962C8B-B14F-4D97-AF65-F5344CB8AC3E}">
        <p14:creationId xmlns:p14="http://schemas.microsoft.com/office/powerpoint/2010/main" val="3107291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54EA-0267-45C5-AEBA-9FC1FB01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2 step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CC61-8A2C-4014-9AAB-C4FE847B0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/>
              <a:t>Create a SAS dataset from text file with postal codes</a:t>
            </a:r>
          </a:p>
          <a:p>
            <a:pPr marL="457200" indent="-457200">
              <a:buFont typeface="+mj-lt"/>
              <a:buAutoNum type="arabicPeriod"/>
            </a:pPr>
            <a:r>
              <a:rPr lang="en-US"/>
              <a:t>Use the PCCF+ SAS program to read this dataset</a:t>
            </a:r>
          </a:p>
        </p:txBody>
      </p:sp>
    </p:spTree>
    <p:extLst>
      <p:ext uri="{BB962C8B-B14F-4D97-AF65-F5344CB8AC3E}">
        <p14:creationId xmlns:p14="http://schemas.microsoft.com/office/powerpoint/2010/main" val="2188652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BB9D8-0016-4072-ABA9-8946556DA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What you end up with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EE6D2A-04E3-42A1-93A6-C6034813A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PDF summary file</a:t>
            </a:r>
          </a:p>
          <a:p>
            <a:r>
              <a:rPr lang="en-US"/>
              <a:t>CSV and text file with postal codes matched to census geography</a:t>
            </a:r>
          </a:p>
          <a:p>
            <a:r>
              <a:rPr lang="en-US"/>
              <a:t>Problem file – CSV and text</a:t>
            </a:r>
          </a:p>
        </p:txBody>
      </p:sp>
    </p:spTree>
    <p:extLst>
      <p:ext uri="{BB962C8B-B14F-4D97-AF65-F5344CB8AC3E}">
        <p14:creationId xmlns:p14="http://schemas.microsoft.com/office/powerpoint/2010/main" val="3998067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54EA-0267-45C5-AEBA-9FC1FB01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Step 1a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CC61-8A2C-4014-9AAB-C4FE847B0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19" y="1113870"/>
            <a:ext cx="6518184" cy="34563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Palatino Linotype" panose="02040502050505030304" pitchFamily="18" charset="0"/>
              </a:rPr>
              <a:t>Text file:</a:t>
            </a:r>
          </a:p>
          <a:p>
            <a:pPr lvl="1"/>
            <a:r>
              <a:rPr lang="en-US"/>
              <a:t>postal codes – 6 digit, upper case, no spaces</a:t>
            </a:r>
          </a:p>
          <a:p>
            <a:pPr lvl="1"/>
            <a:r>
              <a:rPr lang="en-US"/>
              <a:t>ID# - up to 15 characters; alphanumeric</a:t>
            </a:r>
          </a:p>
          <a:p>
            <a:pPr lvl="1"/>
            <a:r>
              <a:rPr lang="en-US"/>
              <a:t>1 space between postal code and ID</a:t>
            </a:r>
          </a:p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7CE75-36A1-48B8-8A0F-A04EF4996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902" y="1113870"/>
            <a:ext cx="2406098" cy="4029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421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E54EA-0267-45C5-AEBA-9FC1FB015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Step 1b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8CC61-8A2C-4014-9AAB-C4FE847B0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123" y="1113870"/>
            <a:ext cx="8287265" cy="345638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Palatino Linotype" panose="02040502050505030304" pitchFamily="18" charset="0"/>
              </a:rPr>
              <a:t>readPCCF1.sas </a:t>
            </a:r>
          </a:p>
          <a:p>
            <a:pPr lvl="1"/>
            <a:r>
              <a:rPr lang="en-US"/>
              <a:t>reads the text file and creates SAS dataset</a:t>
            </a:r>
          </a:p>
          <a:p>
            <a:pPr lvl="1"/>
            <a:r>
              <a:rPr lang="en-US"/>
              <a:t>not created by Statistics Canada; not included in download from EFT</a:t>
            </a:r>
          </a:p>
          <a:p>
            <a:pPr lvl="1"/>
            <a:r>
              <a:rPr lang="en-US"/>
              <a:t>copy of file available in how-to guide </a:t>
            </a:r>
            <a:r>
              <a:rPr lang="en-US" sz="2200"/>
              <a:t>(</a:t>
            </a:r>
            <a:r>
              <a:rPr lang="en-US" sz="2200">
                <a:hlinkClick r:id="rId3"/>
              </a:rPr>
              <a:t>https://guides.library.queensu.ca/PCCF</a:t>
            </a:r>
            <a:r>
              <a:rPr lang="en-US" sz="2200"/>
              <a:t>)</a:t>
            </a:r>
            <a:r>
              <a:rPr lang="en-US"/>
              <a:t> 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53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5D5ED9-A0DA-4963-9E6F-B12B52671201}"/>
              </a:ext>
            </a:extLst>
          </p:cNvPr>
          <p:cNvSpPr/>
          <p:nvPr/>
        </p:nvSpPr>
        <p:spPr>
          <a:xfrm>
            <a:off x="7587049" y="1"/>
            <a:ext cx="1556951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EEAF6-5E33-4646-9E0A-35E28160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Step 1b</a:t>
            </a:r>
            <a:r>
              <a:rPr lang="en-US" dirty="0"/>
              <a:t> - program</a:t>
            </a:r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3D202C-3DC2-45A1-9340-ECCFED4886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3038" y="850293"/>
            <a:ext cx="8830962" cy="429320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F8DC2F-9333-40EF-ACAB-052EB250C23B}"/>
              </a:ext>
            </a:extLst>
          </p:cNvPr>
          <p:cNvSpPr/>
          <p:nvPr/>
        </p:nvSpPr>
        <p:spPr>
          <a:xfrm>
            <a:off x="527222" y="1408670"/>
            <a:ext cx="5189837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C5D4C8A-4186-4FBB-A65C-702D02BB8042}"/>
              </a:ext>
            </a:extLst>
          </p:cNvPr>
          <p:cNvSpPr/>
          <p:nvPr/>
        </p:nvSpPr>
        <p:spPr>
          <a:xfrm>
            <a:off x="527221" y="1750040"/>
            <a:ext cx="5288693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FDA4E4-5516-480C-B198-D9200C9019D9}"/>
              </a:ext>
            </a:extLst>
          </p:cNvPr>
          <p:cNvSpPr/>
          <p:nvPr/>
        </p:nvSpPr>
        <p:spPr>
          <a:xfrm>
            <a:off x="407774" y="3752336"/>
            <a:ext cx="2294238" cy="1828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C74188-32B5-40FC-AB45-7059C70FCE4B}"/>
              </a:ext>
            </a:extLst>
          </p:cNvPr>
          <p:cNvSpPr/>
          <p:nvPr/>
        </p:nvSpPr>
        <p:spPr>
          <a:xfrm>
            <a:off x="832022" y="3935216"/>
            <a:ext cx="1869990" cy="18288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39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A5D5ED9-A0DA-4963-9E6F-B12B52671201}"/>
              </a:ext>
            </a:extLst>
          </p:cNvPr>
          <p:cNvSpPr/>
          <p:nvPr/>
        </p:nvSpPr>
        <p:spPr>
          <a:xfrm>
            <a:off x="7587049" y="1"/>
            <a:ext cx="1556951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EEAF6-5E33-4646-9E0A-35E28160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Step 1b</a:t>
            </a:r>
            <a:r>
              <a:rPr lang="en-US" dirty="0"/>
              <a:t> - output</a:t>
            </a:r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3A7DA18-7F5A-47FB-AD7D-014F75AB43E8}"/>
              </a:ext>
            </a:extLst>
          </p:cNvPr>
          <p:cNvGrpSpPr/>
          <p:nvPr/>
        </p:nvGrpSpPr>
        <p:grpSpPr>
          <a:xfrm>
            <a:off x="1726780" y="1250202"/>
            <a:ext cx="7417220" cy="3893298"/>
            <a:chOff x="1269580" y="1272873"/>
            <a:chExt cx="7417220" cy="389329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F5E22D0-87B6-4155-AB4E-DBF8E3D5A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9580" y="1272873"/>
              <a:ext cx="7417220" cy="389329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CE6847-65BC-4BAA-B9D0-EFD896AC983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5255" t="11156" r="32633" b="45554"/>
            <a:stretch/>
          </p:blipFill>
          <p:spPr>
            <a:xfrm>
              <a:off x="4890008" y="1704859"/>
              <a:ext cx="1639261" cy="3075305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F022AFD-A4D7-4365-98EA-4DB2F1B65254}"/>
              </a:ext>
            </a:extLst>
          </p:cNvPr>
          <p:cNvSpPr txBox="1"/>
          <p:nvPr/>
        </p:nvSpPr>
        <p:spPr>
          <a:xfrm flipH="1">
            <a:off x="586659" y="765368"/>
            <a:ext cx="3264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>
                <a:latin typeface="Palatino Linotype" panose="02040502050505030304" pitchFamily="18" charset="0"/>
              </a:rPr>
              <a:t>Filename: pcodesdata.sas7bat</a:t>
            </a:r>
          </a:p>
        </p:txBody>
      </p:sp>
    </p:spTree>
    <p:extLst>
      <p:ext uri="{BB962C8B-B14F-4D97-AF65-F5344CB8AC3E}">
        <p14:creationId xmlns:p14="http://schemas.microsoft.com/office/powerpoint/2010/main" val="2468635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4359-16F6-4222-9F0B-6D46D0B00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Running the PCCF+: Step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06A21-3A02-4A49-B828-F728C3E2EA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PCCFplus_7B.sas</a:t>
            </a:r>
          </a:p>
          <a:p>
            <a:pPr lvl="1"/>
            <a:r>
              <a:rPr lang="en-US"/>
              <a:t>SAS program that matches postal codes to census geography</a:t>
            </a:r>
          </a:p>
        </p:txBody>
      </p:sp>
    </p:spTree>
    <p:extLst>
      <p:ext uri="{BB962C8B-B14F-4D97-AF65-F5344CB8AC3E}">
        <p14:creationId xmlns:p14="http://schemas.microsoft.com/office/powerpoint/2010/main" val="9615634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B6DAFF-321A-4831-9903-ED2FBB3E9962}"/>
              </a:ext>
            </a:extLst>
          </p:cNvPr>
          <p:cNvSpPr/>
          <p:nvPr/>
        </p:nvSpPr>
        <p:spPr>
          <a:xfrm>
            <a:off x="0" y="0"/>
            <a:ext cx="1804086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06005-A9C3-4F65-BD9D-35977300BF30}"/>
              </a:ext>
            </a:extLst>
          </p:cNvPr>
          <p:cNvSpPr/>
          <p:nvPr/>
        </p:nvSpPr>
        <p:spPr>
          <a:xfrm>
            <a:off x="6227805" y="3907822"/>
            <a:ext cx="2916195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F8076-112D-44FF-AF8E-1B4D1D892EE8}"/>
              </a:ext>
            </a:extLst>
          </p:cNvPr>
          <p:cNvSpPr/>
          <p:nvPr/>
        </p:nvSpPr>
        <p:spPr>
          <a:xfrm>
            <a:off x="7328243" y="3"/>
            <a:ext cx="1556951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FBE557-9E36-4D66-89F1-8EBAF6079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243" y="3"/>
            <a:ext cx="5842000" cy="5143500"/>
          </a:xfrm>
          <a:prstGeom prst="rect">
            <a:avLst/>
          </a:prstGeom>
          <a:noFill/>
          <a:ln w="952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2B71AC8-918B-4805-ABBF-AFAA1411686C}"/>
              </a:ext>
            </a:extLst>
          </p:cNvPr>
          <p:cNvSpPr/>
          <p:nvPr/>
        </p:nvSpPr>
        <p:spPr>
          <a:xfrm>
            <a:off x="1486243" y="378939"/>
            <a:ext cx="2772719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52BD0B-BD62-4927-BCA9-61C604859BE7}"/>
              </a:ext>
            </a:extLst>
          </p:cNvPr>
          <p:cNvSpPr/>
          <p:nvPr/>
        </p:nvSpPr>
        <p:spPr>
          <a:xfrm>
            <a:off x="1486242" y="1581659"/>
            <a:ext cx="3085758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48631C-F387-41F0-B599-96D424846694}"/>
              </a:ext>
            </a:extLst>
          </p:cNvPr>
          <p:cNvSpPr/>
          <p:nvPr/>
        </p:nvSpPr>
        <p:spPr>
          <a:xfrm>
            <a:off x="1486244" y="1923523"/>
            <a:ext cx="1504092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F34B233-EE9C-4C01-B651-9A03BABAB522}"/>
              </a:ext>
            </a:extLst>
          </p:cNvPr>
          <p:cNvSpPr/>
          <p:nvPr/>
        </p:nvSpPr>
        <p:spPr>
          <a:xfrm>
            <a:off x="1514868" y="3856340"/>
            <a:ext cx="3017520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D715B94-6CCD-40B3-B00A-92C7D243D758}"/>
              </a:ext>
            </a:extLst>
          </p:cNvPr>
          <p:cNvSpPr/>
          <p:nvPr/>
        </p:nvSpPr>
        <p:spPr>
          <a:xfrm>
            <a:off x="1525029" y="4206453"/>
            <a:ext cx="1554480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3B31AA-2DD8-4277-B3DF-87AE68EA4B63}"/>
              </a:ext>
            </a:extLst>
          </p:cNvPr>
          <p:cNvSpPr/>
          <p:nvPr/>
        </p:nvSpPr>
        <p:spPr>
          <a:xfrm>
            <a:off x="1525029" y="4861356"/>
            <a:ext cx="4126128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02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B6DAFF-321A-4831-9903-ED2FBB3E9962}"/>
              </a:ext>
            </a:extLst>
          </p:cNvPr>
          <p:cNvSpPr/>
          <p:nvPr/>
        </p:nvSpPr>
        <p:spPr>
          <a:xfrm>
            <a:off x="0" y="0"/>
            <a:ext cx="1804086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06005-A9C3-4F65-BD9D-35977300BF30}"/>
              </a:ext>
            </a:extLst>
          </p:cNvPr>
          <p:cNvSpPr/>
          <p:nvPr/>
        </p:nvSpPr>
        <p:spPr>
          <a:xfrm>
            <a:off x="6227805" y="3907822"/>
            <a:ext cx="2916195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F8076-112D-44FF-AF8E-1B4D1D892EE8}"/>
              </a:ext>
            </a:extLst>
          </p:cNvPr>
          <p:cNvSpPr/>
          <p:nvPr/>
        </p:nvSpPr>
        <p:spPr>
          <a:xfrm>
            <a:off x="7328243" y="3"/>
            <a:ext cx="1556951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7A770C-3E5D-472B-8B72-F03353FF2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69" y="606074"/>
            <a:ext cx="8295238" cy="17142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EF0DA2-4571-4FDC-9CD3-A1389FA3BA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74" y="2734090"/>
            <a:ext cx="8333333" cy="1514286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F34B233-EE9C-4C01-B651-9A03BABAB522}"/>
              </a:ext>
            </a:extLst>
          </p:cNvPr>
          <p:cNvSpPr/>
          <p:nvPr/>
        </p:nvSpPr>
        <p:spPr>
          <a:xfrm>
            <a:off x="774462" y="3164919"/>
            <a:ext cx="3234794" cy="23889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580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5B6DAFF-321A-4831-9903-ED2FBB3E9962}"/>
              </a:ext>
            </a:extLst>
          </p:cNvPr>
          <p:cNvSpPr/>
          <p:nvPr/>
        </p:nvSpPr>
        <p:spPr>
          <a:xfrm>
            <a:off x="0" y="0"/>
            <a:ext cx="1804086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806005-A9C3-4F65-BD9D-35977300BF30}"/>
              </a:ext>
            </a:extLst>
          </p:cNvPr>
          <p:cNvSpPr/>
          <p:nvPr/>
        </p:nvSpPr>
        <p:spPr>
          <a:xfrm>
            <a:off x="6227805" y="3907822"/>
            <a:ext cx="2916195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7F8076-112D-44FF-AF8E-1B4D1D892EE8}"/>
              </a:ext>
            </a:extLst>
          </p:cNvPr>
          <p:cNvSpPr/>
          <p:nvPr/>
        </p:nvSpPr>
        <p:spPr>
          <a:xfrm>
            <a:off x="7328243" y="3"/>
            <a:ext cx="1556951" cy="1235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355B45-4C44-438B-884D-04E51F65D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3497"/>
            <a:ext cx="9144000" cy="495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5890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9227-4B0F-4954-B94A-D329E5E8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PCCF+: Results – output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897694-0B1F-4276-AEE9-F2CC894C4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5786"/>
            <a:ext cx="9144000" cy="40277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087E2484-C65A-4FF4-824B-105D3F2879CD}"/>
              </a:ext>
            </a:extLst>
          </p:cNvPr>
          <p:cNvSpPr/>
          <p:nvPr/>
        </p:nvSpPr>
        <p:spPr>
          <a:xfrm>
            <a:off x="749643" y="2734962"/>
            <a:ext cx="477795" cy="172995"/>
          </a:xfrm>
          <a:prstGeom prst="rect">
            <a:avLst/>
          </a:prstGeom>
          <a:noFill/>
          <a:ln w="28575">
            <a:solidFill>
              <a:srgbClr val="910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88A3D1-D123-4999-807D-234F00B0498A}"/>
              </a:ext>
            </a:extLst>
          </p:cNvPr>
          <p:cNvSpPr/>
          <p:nvPr/>
        </p:nvSpPr>
        <p:spPr>
          <a:xfrm>
            <a:off x="1227438" y="2734962"/>
            <a:ext cx="7916562" cy="172995"/>
          </a:xfrm>
          <a:prstGeom prst="rect">
            <a:avLst/>
          </a:prstGeom>
          <a:noFill/>
          <a:ln w="28575">
            <a:solidFill>
              <a:srgbClr val="9109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493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29227-4B0F-4954-B94A-D329E5E8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PCCF+: Results – census geography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9A1DDF8-8C25-473B-A5D5-5374E8DEB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492" y="1124852"/>
            <a:ext cx="8257016" cy="3903319"/>
          </a:xfrm>
        </p:spPr>
        <p:txBody>
          <a:bodyPr vert="horz" lIns="0" tIns="0" rIns="0" bIns="0" numCol="5" rtlCol="0" anchor="t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PR</a:t>
            </a:r>
          </a:p>
          <a:p>
            <a:pPr marL="0" indent="0">
              <a:buNone/>
            </a:pPr>
            <a:r>
              <a:rPr lang="en-US" dirty="0" err="1"/>
              <a:t>DAuid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DB</a:t>
            </a:r>
          </a:p>
          <a:p>
            <a:pPr marL="0" indent="0">
              <a:buNone/>
            </a:pPr>
            <a:r>
              <a:rPr lang="en-US" dirty="0"/>
              <a:t>DB_ir2016</a:t>
            </a:r>
          </a:p>
          <a:p>
            <a:pPr marL="0" indent="0">
              <a:buNone/>
            </a:pPr>
            <a:r>
              <a:rPr lang="en-US" dirty="0" err="1"/>
              <a:t>CSDuid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CSDname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CSDtyp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CMA</a:t>
            </a:r>
          </a:p>
          <a:p>
            <a:pPr marL="0" indent="0">
              <a:buNone/>
            </a:pPr>
            <a:r>
              <a:rPr lang="en-US" dirty="0" err="1"/>
              <a:t>CMAtype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CMAname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CTname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Tracted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SACcode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SACtype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CCSuid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FEDuid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FEDname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DPLuid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DPLtyp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DPLname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ERuid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ERname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CARuid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CARname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PopCtrRAPuid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PopCtrRAname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PopCtrRAtype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PopCtrRAclass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CSize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CSizeMIZ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HRuid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HRename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HRfname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AHRuid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AHRename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AHRfname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SLI</a:t>
            </a:r>
          </a:p>
          <a:p>
            <a:pPr marL="0" indent="0">
              <a:buNone/>
            </a:pPr>
            <a:r>
              <a:rPr lang="en-US" dirty="0" err="1"/>
              <a:t>Rep_Pt_type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RPF</a:t>
            </a:r>
          </a:p>
          <a:p>
            <a:pPr marL="0" indent="0">
              <a:buNone/>
            </a:pPr>
            <a:r>
              <a:rPr lang="en-US" dirty="0" err="1"/>
              <a:t>PCtype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DMT</a:t>
            </a:r>
          </a:p>
          <a:p>
            <a:pPr marL="0" indent="0">
              <a:buNone/>
            </a:pPr>
            <a:r>
              <a:rPr lang="en-US" dirty="0"/>
              <a:t>H_DMT</a:t>
            </a:r>
          </a:p>
          <a:p>
            <a:pPr marL="0" indent="0">
              <a:buNone/>
            </a:pPr>
            <a:r>
              <a:rPr lang="en-US" dirty="0"/>
              <a:t>DMTDIFF</a:t>
            </a:r>
          </a:p>
          <a:p>
            <a:pPr marL="0" indent="0">
              <a:buNone/>
            </a:pPr>
            <a:r>
              <a:rPr lang="en-US" dirty="0"/>
              <a:t>PO</a:t>
            </a:r>
          </a:p>
          <a:p>
            <a:pPr marL="0" indent="0">
              <a:buNone/>
            </a:pPr>
            <a:r>
              <a:rPr lang="en-US" dirty="0"/>
              <a:t>QI</a:t>
            </a:r>
          </a:p>
          <a:p>
            <a:pPr marL="0" indent="0">
              <a:buNone/>
            </a:pPr>
            <a:r>
              <a:rPr lang="en-US" dirty="0"/>
              <a:t>Source</a:t>
            </a:r>
          </a:p>
          <a:p>
            <a:pPr marL="0" indent="0">
              <a:buNone/>
            </a:pPr>
            <a:r>
              <a:rPr lang="en-US" dirty="0"/>
              <a:t>Lat</a:t>
            </a:r>
          </a:p>
          <a:p>
            <a:pPr marL="0" indent="0">
              <a:buNone/>
            </a:pPr>
            <a:r>
              <a:rPr lang="en-US" dirty="0"/>
              <a:t>Long</a:t>
            </a:r>
          </a:p>
          <a:p>
            <a:pPr marL="0" indent="0">
              <a:buNone/>
            </a:pPr>
            <a:r>
              <a:rPr lang="en-US" dirty="0" err="1"/>
              <a:t>Link_Source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Link</a:t>
            </a:r>
          </a:p>
          <a:p>
            <a:pPr marL="0" indent="0">
              <a:buNone/>
            </a:pPr>
            <a:r>
              <a:rPr lang="en-US" dirty="0" err="1"/>
              <a:t>Prec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nCD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nCSD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Comm_Name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AirLift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InstFlag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ResFlag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InuitLands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BTIPPE</a:t>
            </a:r>
          </a:p>
          <a:p>
            <a:pPr marL="0" indent="0">
              <a:buNone/>
            </a:pPr>
            <a:r>
              <a:rPr lang="en-US" dirty="0"/>
              <a:t>ATIPPE</a:t>
            </a:r>
          </a:p>
          <a:p>
            <a:pPr marL="0" indent="0">
              <a:buNone/>
            </a:pPr>
            <a:r>
              <a:rPr lang="en-US" dirty="0"/>
              <a:t>QABTIPPE</a:t>
            </a:r>
          </a:p>
          <a:p>
            <a:pPr marL="0" indent="0">
              <a:buNone/>
            </a:pPr>
            <a:r>
              <a:rPr lang="en-US" dirty="0"/>
              <a:t>QNBTIPPE</a:t>
            </a:r>
          </a:p>
          <a:p>
            <a:pPr marL="0" indent="0">
              <a:buNone/>
            </a:pPr>
            <a:r>
              <a:rPr lang="en-US" dirty="0"/>
              <a:t>DABTIPPE</a:t>
            </a:r>
          </a:p>
          <a:p>
            <a:pPr marL="0" indent="0">
              <a:buNone/>
            </a:pPr>
            <a:r>
              <a:rPr lang="en-US" dirty="0"/>
              <a:t>DNBTIPPE</a:t>
            </a:r>
          </a:p>
          <a:p>
            <a:pPr marL="0" indent="0">
              <a:buNone/>
            </a:pPr>
            <a:r>
              <a:rPr lang="en-US" dirty="0"/>
              <a:t>QAATIPPE</a:t>
            </a:r>
          </a:p>
          <a:p>
            <a:pPr marL="0" indent="0">
              <a:buNone/>
            </a:pPr>
            <a:r>
              <a:rPr lang="en-US" dirty="0"/>
              <a:t>QNATIPPE</a:t>
            </a:r>
          </a:p>
          <a:p>
            <a:pPr marL="0" indent="0">
              <a:buNone/>
            </a:pPr>
            <a:r>
              <a:rPr lang="en-US" dirty="0"/>
              <a:t>DAATIPPE</a:t>
            </a:r>
          </a:p>
          <a:p>
            <a:pPr marL="0" indent="0">
              <a:buNone/>
            </a:pPr>
            <a:r>
              <a:rPr lang="en-US" dirty="0"/>
              <a:t>DNATIPPE</a:t>
            </a:r>
          </a:p>
          <a:p>
            <a:pPr marL="0" indent="0">
              <a:buNone/>
            </a:pPr>
            <a:r>
              <a:rPr lang="en-US" dirty="0"/>
              <a:t>IMPFLG</a:t>
            </a:r>
          </a:p>
          <a:p>
            <a:pPr marL="0" indent="0">
              <a:buNone/>
            </a:pPr>
            <a:r>
              <a:rPr lang="en-US" dirty="0"/>
              <a:t>DA11uid</a:t>
            </a:r>
          </a:p>
          <a:p>
            <a:pPr marL="0" indent="0">
              <a:buNone/>
            </a:pPr>
            <a:r>
              <a:rPr lang="en-US" dirty="0"/>
              <a:t>DB11uid</a:t>
            </a:r>
          </a:p>
          <a:p>
            <a:pPr marL="0" indent="0">
              <a:buNone/>
            </a:pPr>
            <a:r>
              <a:rPr lang="en-US" dirty="0"/>
              <a:t>DA06uid</a:t>
            </a:r>
          </a:p>
          <a:p>
            <a:pPr marL="0" indent="0">
              <a:buNone/>
            </a:pPr>
            <a:r>
              <a:rPr lang="en-US" dirty="0"/>
              <a:t>DA01uid</a:t>
            </a:r>
          </a:p>
          <a:p>
            <a:pPr marL="0" indent="0">
              <a:buNone/>
            </a:pPr>
            <a:r>
              <a:rPr lang="en-US" dirty="0"/>
              <a:t>EA96uid</a:t>
            </a:r>
          </a:p>
          <a:p>
            <a:pPr marL="0" indent="0">
              <a:buNone/>
            </a:pPr>
            <a:r>
              <a:rPr lang="en-US" dirty="0"/>
              <a:t>EA91uid</a:t>
            </a:r>
          </a:p>
          <a:p>
            <a:pPr marL="0" indent="0">
              <a:buNone/>
            </a:pPr>
            <a:r>
              <a:rPr lang="en-US" dirty="0"/>
              <a:t>EA86uid</a:t>
            </a:r>
          </a:p>
          <a:p>
            <a:pPr marL="0" indent="0">
              <a:buNone/>
            </a:pPr>
            <a:r>
              <a:rPr lang="en-US" dirty="0"/>
              <a:t>EA81uid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5599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14BF-282F-450B-99B8-CF045A50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PCCF+: Results - p</a:t>
            </a:r>
            <a:r>
              <a:rPr lang="en-US" dirty="0">
                <a:cs typeface="Calibri"/>
              </a:rPr>
              <a:t>roblem</a:t>
            </a:r>
            <a:r>
              <a:rPr lang="en-US">
                <a:cs typeface="Calibri"/>
              </a:rPr>
              <a:t> file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172CE-637A-482F-865C-C9D2F2BCC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CA"/>
              <a:t>PCCF originally created for health data with emphasize on residential postal codes. Error file will pick up non-residential postal codes</a:t>
            </a:r>
          </a:p>
          <a:p>
            <a:r>
              <a:rPr lang="en-CA"/>
              <a:t>Subset of output records for any cases that had warnings, errors, or notes</a:t>
            </a:r>
            <a:endParaRPr lang="en-US"/>
          </a:p>
          <a:p>
            <a:r>
              <a:rPr lang="en-CA"/>
              <a:t>Building name and address for businesses or institution from the Canada Post building name database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9935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5FEFD-AA75-4E93-AB17-2138E6A74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Problem file: errors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DAC45-C4A2-4D75-AAC6-A29DCC021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9" y="1019197"/>
            <a:ext cx="8005762" cy="3562851"/>
          </a:xfrm>
        </p:spPr>
        <p:txBody>
          <a:bodyPr vert="horz" lIns="0" tIns="0" rIns="0" bIns="0" rtlCol="0" anchor="t">
            <a:noAutofit/>
          </a:bodyPr>
          <a:lstStyle/>
          <a:p>
            <a:pPr fontAlgn="base"/>
            <a:r>
              <a:rPr lang="en-US" sz="2200" dirty="0"/>
              <a:t>Postal codes could not be matched on all 6 characters</a:t>
            </a:r>
          </a:p>
          <a:p>
            <a:pPr fontAlgn="base"/>
            <a:r>
              <a:rPr lang="en-US" sz="2200" dirty="0"/>
              <a:t>Postal codes linked to post office and census location data not available</a:t>
            </a:r>
          </a:p>
          <a:p>
            <a:pPr fontAlgn="base"/>
            <a:r>
              <a:rPr lang="en-US" sz="2200" dirty="0"/>
              <a:t>Delivery mode type indicates a non-residential address </a:t>
            </a:r>
          </a:p>
          <a:p>
            <a:pPr fontAlgn="base"/>
            <a:r>
              <a:rPr lang="en-US" sz="2200" dirty="0"/>
              <a:t>Postal codes known to indicate non-residential address</a:t>
            </a:r>
          </a:p>
          <a:p>
            <a:pPr fontAlgn="base"/>
            <a:r>
              <a:rPr lang="en-US" sz="2200" dirty="0"/>
              <a:t>Postal codes could have been assigned to more than one census subdivision </a:t>
            </a:r>
          </a:p>
          <a:p>
            <a:pPr fontAlgn="base"/>
            <a:r>
              <a:rPr lang="en-US" sz="2200" dirty="0"/>
              <a:t>Records which could have been assigned to more than one census subdivision</a:t>
            </a:r>
          </a:p>
        </p:txBody>
      </p:sp>
    </p:spTree>
    <p:extLst>
      <p:ext uri="{BB962C8B-B14F-4D97-AF65-F5344CB8AC3E}">
        <p14:creationId xmlns:p14="http://schemas.microsoft.com/office/powerpoint/2010/main" val="80584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14BF-282F-450B-99B8-CF045A50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PCCF+: Results - </a:t>
            </a:r>
            <a:r>
              <a:rPr lang="en-US" dirty="0">
                <a:cs typeface="Calibri"/>
              </a:rPr>
              <a:t>Problem file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645A88-6E33-4D2D-BE06-683DC5432C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375673" y="1278281"/>
            <a:ext cx="8392654" cy="1433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E2A48-F514-48B9-91F6-C8E222252B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/>
          <a:stretch/>
        </p:blipFill>
        <p:spPr>
          <a:xfrm>
            <a:off x="374135" y="2950343"/>
            <a:ext cx="8394192" cy="143377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938F711-5AEB-44DE-9136-DF9E69D33D4A}"/>
              </a:ext>
            </a:extLst>
          </p:cNvPr>
          <p:cNvSpPr/>
          <p:nvPr/>
        </p:nvSpPr>
        <p:spPr>
          <a:xfrm>
            <a:off x="2067697" y="1491049"/>
            <a:ext cx="3443417" cy="122074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E49715-2ED5-4BBD-93FE-FC8B831A2984}"/>
              </a:ext>
            </a:extLst>
          </p:cNvPr>
          <p:cNvSpPr/>
          <p:nvPr/>
        </p:nvSpPr>
        <p:spPr>
          <a:xfrm>
            <a:off x="5511114" y="3171567"/>
            <a:ext cx="3257213" cy="119448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8B4E66-5798-4123-BD46-52CC1AF698F7}"/>
              </a:ext>
            </a:extLst>
          </p:cNvPr>
          <p:cNvSpPr/>
          <p:nvPr/>
        </p:nvSpPr>
        <p:spPr>
          <a:xfrm>
            <a:off x="7422292" y="1491049"/>
            <a:ext cx="675504" cy="1220744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09DE8D-1EB2-4384-B61B-70DE70A7E92C}"/>
              </a:ext>
            </a:extLst>
          </p:cNvPr>
          <p:cNvSpPr/>
          <p:nvPr/>
        </p:nvSpPr>
        <p:spPr>
          <a:xfrm>
            <a:off x="4226011" y="3189631"/>
            <a:ext cx="1285103" cy="119448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96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14BF-282F-450B-99B8-CF045A50A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PCCF+: Results - </a:t>
            </a:r>
            <a:r>
              <a:rPr lang="en-US" dirty="0">
                <a:cs typeface="Calibri"/>
              </a:rPr>
              <a:t>Problem file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645A88-6E33-4D2D-BE06-683DC5432CB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375673" y="1278281"/>
            <a:ext cx="8392654" cy="1433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4E2A48-F514-48B9-91F6-C8E222252B3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000"/>
          <a:stretch/>
        </p:blipFill>
        <p:spPr>
          <a:xfrm>
            <a:off x="374135" y="2950343"/>
            <a:ext cx="8394192" cy="14337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A18EABF-42C1-4A35-870C-AB086B79488C}"/>
              </a:ext>
            </a:extLst>
          </p:cNvPr>
          <p:cNvSpPr/>
          <p:nvPr/>
        </p:nvSpPr>
        <p:spPr>
          <a:xfrm>
            <a:off x="615135" y="2297884"/>
            <a:ext cx="8153191" cy="22969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51BD9F-16C7-443D-A6F6-5C1020FE8B41}"/>
              </a:ext>
            </a:extLst>
          </p:cNvPr>
          <p:cNvSpPr/>
          <p:nvPr/>
        </p:nvSpPr>
        <p:spPr>
          <a:xfrm>
            <a:off x="374135" y="3997562"/>
            <a:ext cx="8394191" cy="1996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F81467-36D7-45AA-844B-467918BBEA8A}"/>
              </a:ext>
            </a:extLst>
          </p:cNvPr>
          <p:cNvSpPr/>
          <p:nvPr/>
        </p:nvSpPr>
        <p:spPr>
          <a:xfrm>
            <a:off x="615134" y="2077305"/>
            <a:ext cx="8153191" cy="229696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2A3795-1B3B-462B-86EC-44B0F8CAEDF7}"/>
              </a:ext>
            </a:extLst>
          </p:cNvPr>
          <p:cNvSpPr/>
          <p:nvPr/>
        </p:nvSpPr>
        <p:spPr>
          <a:xfrm>
            <a:off x="374134" y="3776982"/>
            <a:ext cx="8394191" cy="199617"/>
          </a:xfrm>
          <a:prstGeom prst="rect">
            <a:avLst/>
          </a:prstGeom>
          <a:noFill/>
          <a:ln w="28575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9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8" grpId="0" animBg="1"/>
      <p:bldP spid="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0692" y="1585134"/>
            <a:ext cx="1355326" cy="149306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693" y="1844701"/>
            <a:ext cx="1791478" cy="105697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6157" y="1429061"/>
            <a:ext cx="2373253" cy="19652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Right Arrow 9"/>
          <p:cNvSpPr/>
          <p:nvPr/>
        </p:nvSpPr>
        <p:spPr>
          <a:xfrm>
            <a:off x="2498955" y="2169851"/>
            <a:ext cx="430894" cy="373224"/>
          </a:xfrm>
          <a:prstGeom prst="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600"/>
          </a:p>
        </p:txBody>
      </p:sp>
      <p:sp>
        <p:nvSpPr>
          <p:cNvPr id="11" name="Right Arrow 10"/>
          <p:cNvSpPr/>
          <p:nvPr/>
        </p:nvSpPr>
        <p:spPr>
          <a:xfrm>
            <a:off x="5755718" y="2186575"/>
            <a:ext cx="430894" cy="373224"/>
          </a:xfrm>
          <a:prstGeom prst="rightArrow">
            <a:avLst/>
          </a:prstGeom>
          <a:solidFill>
            <a:srgbClr val="0070C0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600"/>
          </a:p>
        </p:txBody>
      </p:sp>
      <p:sp>
        <p:nvSpPr>
          <p:cNvPr id="13" name="Freeform 12"/>
          <p:cNvSpPr/>
          <p:nvPr/>
        </p:nvSpPr>
        <p:spPr>
          <a:xfrm rot="21239099">
            <a:off x="2356171" y="3381115"/>
            <a:ext cx="4364767" cy="846140"/>
          </a:xfrm>
          <a:custGeom>
            <a:avLst/>
            <a:gdLst>
              <a:gd name="connsiteX0" fmla="*/ 0 w 4554245"/>
              <a:gd name="connsiteY0" fmla="*/ 0 h 734397"/>
              <a:gd name="connsiteX1" fmla="*/ 1615736 w 4554245"/>
              <a:gd name="connsiteY1" fmla="*/ 630315 h 734397"/>
              <a:gd name="connsiteX2" fmla="*/ 3213716 w 4554245"/>
              <a:gd name="connsiteY2" fmla="*/ 701336 h 734397"/>
              <a:gd name="connsiteX3" fmla="*/ 4554245 w 4554245"/>
              <a:gd name="connsiteY3" fmla="*/ 292963 h 734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54245" h="734397">
                <a:moveTo>
                  <a:pt x="0" y="0"/>
                </a:moveTo>
                <a:cubicBezTo>
                  <a:pt x="540058" y="256713"/>
                  <a:pt x="1080117" y="513426"/>
                  <a:pt x="1615736" y="630315"/>
                </a:cubicBezTo>
                <a:cubicBezTo>
                  <a:pt x="2151355" y="747204"/>
                  <a:pt x="2723964" y="757561"/>
                  <a:pt x="3213716" y="701336"/>
                </a:cubicBezTo>
                <a:cubicBezTo>
                  <a:pt x="3703468" y="645111"/>
                  <a:pt x="4128856" y="469037"/>
                  <a:pt x="4554245" y="292963"/>
                </a:cubicBezTo>
              </a:path>
            </a:pathLst>
          </a:custGeom>
          <a:noFill/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00619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686" y="930331"/>
            <a:ext cx="8305275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latin typeface="Palatino Linotype" panose="02040502050505030304" pitchFamily="18" charset="0"/>
                <a:hlinkClick r:id="rId2"/>
              </a:rPr>
              <a:t>Postal Code Conversion File (PCCF) Guide</a:t>
            </a:r>
            <a:endParaRPr lang="en-US" sz="1600">
              <a:latin typeface="Palatino Linotype" panose="02040502050505030304" pitchFamily="18" charset="0"/>
            </a:endParaRPr>
          </a:p>
          <a:p>
            <a:endParaRPr lang="en-US" sz="1600">
              <a:latin typeface="Palatino Linotype" panose="02040502050505030304" pitchFamily="18" charset="0"/>
            </a:endParaRPr>
          </a:p>
          <a:p>
            <a:r>
              <a:rPr lang="en-US" sz="1600">
                <a:latin typeface="Palatino Linotype" panose="02040502050505030304" pitchFamily="18" charset="0"/>
                <a:hlinkClick r:id="rId3"/>
              </a:rPr>
              <a:t>Getting Started: Linking your data to demographic data</a:t>
            </a:r>
            <a:endParaRPr lang="en-US" sz="1600">
              <a:latin typeface="Palatino Linotype" panose="02040502050505030304" pitchFamily="18" charset="0"/>
            </a:endParaRPr>
          </a:p>
          <a:p>
            <a:endParaRPr lang="en-US" sz="1600">
              <a:latin typeface="Palatino Linotype" panose="02040502050505030304" pitchFamily="18" charset="0"/>
            </a:endParaRPr>
          </a:p>
          <a:p>
            <a:r>
              <a:rPr lang="en-US" sz="1600">
                <a:latin typeface="Palatino Linotype" panose="02040502050505030304" pitchFamily="18" charset="0"/>
                <a:hlinkClick r:id="rId4"/>
              </a:rPr>
              <a:t>How to run PCCF+ SAS Program Guide</a:t>
            </a:r>
            <a:endParaRPr lang="en-US" sz="1600">
              <a:latin typeface="Palatino Linotype" panose="02040502050505030304" pitchFamily="18" charset="0"/>
            </a:endParaRPr>
          </a:p>
          <a:p>
            <a:endParaRPr lang="en-US" sz="1600">
              <a:latin typeface="Palatino Linotype" panose="02040502050505030304" pitchFamily="18" charset="0"/>
            </a:endParaRPr>
          </a:p>
          <a:p>
            <a:r>
              <a:rPr lang="en-US" sz="1600">
                <a:latin typeface="Palatino Linotype" panose="02040502050505030304" pitchFamily="18" charset="0"/>
              </a:rPr>
              <a:t>Postal Code Conversion for Data Analysis: An overview of the PCCF and PCCF+</a:t>
            </a:r>
          </a:p>
          <a:p>
            <a:r>
              <a:rPr lang="en-US" sz="1600">
                <a:latin typeface="Palatino Linotype" panose="02040502050505030304" pitchFamily="18" charset="0"/>
              </a:rPr>
              <a:t>Seed Khan and Michael </a:t>
            </a:r>
            <a:r>
              <a:rPr lang="en-US" sz="1600" err="1">
                <a:latin typeface="Palatino Linotype" panose="02040502050505030304" pitchFamily="18" charset="0"/>
              </a:rPr>
              <a:t>Tjepkema</a:t>
            </a:r>
            <a:r>
              <a:rPr lang="en-US" sz="1600">
                <a:latin typeface="Palatino Linotype" panose="02040502050505030304" pitchFamily="18" charset="0"/>
              </a:rPr>
              <a:t>, Health Analysis Division, Statistics Canada</a:t>
            </a:r>
          </a:p>
          <a:p>
            <a:r>
              <a:rPr lang="en-US" sz="1600">
                <a:latin typeface="Palatino Linotype" panose="02040502050505030304" pitchFamily="18" charset="0"/>
              </a:rPr>
              <a:t>DLI Ontario Regional Training, December 1, 2015</a:t>
            </a:r>
          </a:p>
          <a:p>
            <a:r>
              <a:rPr lang="en-US" sz="1600">
                <a:latin typeface="Palatino Linotype" panose="02040502050505030304" pitchFamily="18" charset="0"/>
                <a:hlinkClick r:id="rId5"/>
              </a:rPr>
              <a:t>https://cudo.carleton.ca/dli-training/3767</a:t>
            </a:r>
            <a:r>
              <a:rPr lang="en-US" sz="1600">
                <a:latin typeface="Palatino Linotype" panose="02040502050505030304" pitchFamily="18" charset="0"/>
              </a:rPr>
              <a:t> </a:t>
            </a:r>
          </a:p>
          <a:p>
            <a:endParaRPr lang="en-US" sz="1600">
              <a:latin typeface="Palatino Linotype" panose="02040502050505030304" pitchFamily="18" charset="0"/>
            </a:endParaRPr>
          </a:p>
          <a:p>
            <a:r>
              <a:rPr lang="en-US" sz="1600">
                <a:latin typeface="Palatino Linotype" panose="02040502050505030304" pitchFamily="18" charset="0"/>
              </a:rPr>
              <a:t>PCCF+ Postal Code Conversion File Plus – An Introduction</a:t>
            </a:r>
          </a:p>
          <a:p>
            <a:r>
              <a:rPr lang="en-US" sz="1600">
                <a:latin typeface="Palatino Linotype" panose="02040502050505030304" pitchFamily="18" charset="0"/>
              </a:rPr>
              <a:t>Jeff Moon, Data Librarian &amp; Academic Director, Queen’s Research Data Centre, Queen’s University Library</a:t>
            </a:r>
          </a:p>
          <a:p>
            <a:r>
              <a:rPr lang="en-US" sz="1600">
                <a:latin typeface="Palatino Linotype" panose="02040502050505030304" pitchFamily="18" charset="0"/>
              </a:rPr>
              <a:t>DLI Ontario Regional Training, December, 2016</a:t>
            </a:r>
          </a:p>
          <a:p>
            <a:r>
              <a:rPr lang="en-US" sz="1600">
                <a:latin typeface="Palatino Linotype" panose="02040502050505030304" pitchFamily="18" charset="0"/>
                <a:hlinkClick r:id="rId6"/>
              </a:rPr>
              <a:t>https://cudo.carleton.ca/dli-training/3861</a:t>
            </a:r>
            <a:endParaRPr lang="en-US" sz="1600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4301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Acknowledgements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3374" y="1038057"/>
            <a:ext cx="76440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Palatino Linotype" panose="02040502050505030304" pitchFamily="18" charset="0"/>
              </a:rPr>
              <a:t>Postal Code Conversion for Data Analysis: An overview of the PCCF and PCCF+</a:t>
            </a:r>
          </a:p>
          <a:p>
            <a:r>
              <a:rPr lang="en-US">
                <a:latin typeface="Palatino Linotype" panose="02040502050505030304" pitchFamily="18" charset="0"/>
              </a:rPr>
              <a:t>Seed Khan and Michael </a:t>
            </a:r>
            <a:r>
              <a:rPr lang="en-US" err="1">
                <a:latin typeface="Palatino Linotype" panose="02040502050505030304" pitchFamily="18" charset="0"/>
              </a:rPr>
              <a:t>Tjepkema</a:t>
            </a:r>
            <a:endParaRPr lang="en-US">
              <a:latin typeface="Palatino Linotype" panose="02040502050505030304" pitchFamily="18" charset="0"/>
            </a:endParaRPr>
          </a:p>
          <a:p>
            <a:r>
              <a:rPr lang="en-US">
                <a:latin typeface="Palatino Linotype" panose="02040502050505030304" pitchFamily="18" charset="0"/>
              </a:rPr>
              <a:t>Health Analysis Division, Statistics Canada</a:t>
            </a:r>
          </a:p>
          <a:p>
            <a:r>
              <a:rPr lang="en-US">
                <a:latin typeface="Palatino Linotype" panose="02040502050505030304" pitchFamily="18" charset="0"/>
              </a:rPr>
              <a:t>DLI Ontario Regional Training, December 1, 2015</a:t>
            </a:r>
          </a:p>
          <a:p>
            <a:r>
              <a:rPr lang="en-US">
                <a:latin typeface="Palatino Linotype" panose="02040502050505030304" pitchFamily="18" charset="0"/>
                <a:hlinkClick r:id="rId2"/>
              </a:rPr>
              <a:t>https://cudo.carleton.ca/dli-training/3767</a:t>
            </a:r>
            <a:r>
              <a:rPr lang="en-US">
                <a:latin typeface="Palatino Linotype" panose="02040502050505030304" pitchFamily="18" charset="0"/>
              </a:rPr>
              <a:t> </a:t>
            </a:r>
          </a:p>
          <a:p>
            <a:endParaRPr lang="en-US">
              <a:latin typeface="Palatino Linotype" panose="02040502050505030304" pitchFamily="18" charset="0"/>
            </a:endParaRPr>
          </a:p>
          <a:p>
            <a:r>
              <a:rPr lang="en-US">
                <a:latin typeface="Palatino Linotype" panose="02040502050505030304" pitchFamily="18" charset="0"/>
              </a:rPr>
              <a:t>PCCF+ Postal Code Conversion File Plus – An Introduction</a:t>
            </a:r>
          </a:p>
          <a:p>
            <a:r>
              <a:rPr lang="en-US">
                <a:latin typeface="Palatino Linotype" panose="02040502050505030304" pitchFamily="18" charset="0"/>
              </a:rPr>
              <a:t>Jeff Moon, Data Librarian &amp; Academic Director, Queen’s Research Data Centre</a:t>
            </a:r>
          </a:p>
          <a:p>
            <a:r>
              <a:rPr lang="en-US">
                <a:latin typeface="Palatino Linotype" panose="02040502050505030304" pitchFamily="18" charset="0"/>
              </a:rPr>
              <a:t>Queen’s University Library</a:t>
            </a:r>
          </a:p>
          <a:p>
            <a:r>
              <a:rPr lang="en-US">
                <a:latin typeface="Palatino Linotype" panose="02040502050505030304" pitchFamily="18" charset="0"/>
              </a:rPr>
              <a:t>DLI Ontario Regional Training, December, 2016</a:t>
            </a:r>
          </a:p>
          <a:p>
            <a:r>
              <a:rPr lang="en-US">
                <a:latin typeface="Palatino Linotype" panose="02040502050505030304" pitchFamily="18" charset="0"/>
                <a:hlinkClick r:id="rId3"/>
              </a:rPr>
              <a:t>https://cudo.carleton.ca/dli-training/3861</a:t>
            </a:r>
            <a:endParaRPr lang="en-US"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336193"/>
      </p:ext>
    </p:extLst>
  </p:cSld>
  <p:clrMapOvr>
    <a:masterClrMapping/>
  </p:clrMapOvr>
</p:sld>
</file>

<file path=ppt/theme/theme1.xml><?xml version="1.0" encoding="utf-8"?>
<a:theme xmlns:a="http://schemas.openxmlformats.org/drawingml/2006/main" name="Queen's PPT template 2011">
  <a:themeElements>
    <a:clrScheme name="Queen's triclour">
      <a:dk1>
        <a:sysClr val="windowText" lastClr="000000"/>
      </a:dk1>
      <a:lt1>
        <a:sysClr val="window" lastClr="FFFFFF"/>
      </a:lt1>
      <a:dk2>
        <a:srgbClr val="061D38"/>
      </a:dk2>
      <a:lt2>
        <a:srgbClr val="FFFFFF"/>
      </a:lt2>
      <a:accent1>
        <a:srgbClr val="910A29"/>
      </a:accent1>
      <a:accent2>
        <a:srgbClr val="F1AB1F"/>
      </a:accent2>
      <a:accent3>
        <a:srgbClr val="061D38"/>
      </a:accent3>
      <a:accent4>
        <a:srgbClr val="CDCDCD"/>
      </a:accent4>
      <a:accent5>
        <a:srgbClr val="7E7E7E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Queen's PPT template 2011.thmx</Template>
  <TotalTime>34</TotalTime>
  <Words>3476</Words>
  <Application>Microsoft Office PowerPoint</Application>
  <PresentationFormat>On-screen Show (16:9)</PresentationFormat>
  <Paragraphs>364</Paragraphs>
  <Slides>34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Palatino Linotype</vt:lpstr>
      <vt:lpstr>Queen's PPT template 2011</vt:lpstr>
      <vt:lpstr>Postal Code Conversion File: Not as scary as you think</vt:lpstr>
      <vt:lpstr>Resources</vt:lpstr>
      <vt:lpstr>What are Postal Codes?</vt:lpstr>
      <vt:lpstr>What is the PCCF?</vt:lpstr>
      <vt:lpstr>PCCF resources</vt:lpstr>
      <vt:lpstr>What is the PCCF+?</vt:lpstr>
      <vt:lpstr>What do they do?</vt:lpstr>
      <vt:lpstr>Why do this?</vt:lpstr>
      <vt:lpstr>Licence</vt:lpstr>
      <vt:lpstr>Access</vt:lpstr>
      <vt:lpstr>PCCF vs. PCCF+</vt:lpstr>
      <vt:lpstr>PowerPoint Presentation</vt:lpstr>
      <vt:lpstr>Advantages of PCCF+</vt:lpstr>
      <vt:lpstr>Running the PCCF+</vt:lpstr>
      <vt:lpstr>Running the PCCF+: data files downloaded from EFT</vt:lpstr>
      <vt:lpstr>Running the PCCF+: 2 step process</vt:lpstr>
      <vt:lpstr>Running the PCCF+: What you end up with</vt:lpstr>
      <vt:lpstr>Running the PCCF+: Step 1a</vt:lpstr>
      <vt:lpstr>Running the PCCF+: Step 1b</vt:lpstr>
      <vt:lpstr>Running the PCCF+: Step 1b - program</vt:lpstr>
      <vt:lpstr>Running the PCCF+: Step 1b - output</vt:lpstr>
      <vt:lpstr>Running the PCCF+: Step 2</vt:lpstr>
      <vt:lpstr>PowerPoint Presentation</vt:lpstr>
      <vt:lpstr>PowerPoint Presentation</vt:lpstr>
      <vt:lpstr>PowerPoint Presentation</vt:lpstr>
      <vt:lpstr>Running the PCCF+: Results – output file</vt:lpstr>
      <vt:lpstr>Running the PCCF+: Results – census geography</vt:lpstr>
      <vt:lpstr>Running the PCCF+: Results - problem file</vt:lpstr>
      <vt:lpstr>Problem file: errors</vt:lpstr>
      <vt:lpstr>Running the PCCF+: Results - Problem file</vt:lpstr>
      <vt:lpstr>Running the PCCF+: Results - Problem file</vt:lpstr>
      <vt:lpstr>PowerPoint Presentation</vt:lpstr>
      <vt:lpstr>Resources</vt:lpstr>
      <vt:lpstr>Acknowledgements</vt:lpstr>
    </vt:vector>
  </TitlesOfParts>
  <Company>Queen's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Larry Harris</dc:creator>
  <cp:lastModifiedBy>Alexandra Cooper</cp:lastModifiedBy>
  <cp:revision>2</cp:revision>
  <dcterms:created xsi:type="dcterms:W3CDTF">2011-07-05T18:52:53Z</dcterms:created>
  <dcterms:modified xsi:type="dcterms:W3CDTF">2020-04-28T23:42:36Z</dcterms:modified>
</cp:coreProperties>
</file>